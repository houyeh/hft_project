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09" r:id="rId3"/>
    <p:sldId id="320" r:id="rId4"/>
    <p:sldId id="324" r:id="rId5"/>
    <p:sldId id="325" r:id="rId6"/>
    <p:sldId id="315" r:id="rId7"/>
    <p:sldId id="322" r:id="rId8"/>
    <p:sldId id="323" r:id="rId9"/>
    <p:sldId id="316" r:id="rId10"/>
    <p:sldId id="317" r:id="rId11"/>
    <p:sldId id="318" r:id="rId12"/>
    <p:sldId id="319" r:id="rId13"/>
    <p:sldId id="32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747" autoAdjust="0"/>
  </p:normalViewPr>
  <p:slideViewPr>
    <p:cSldViewPr snapToGrid="0">
      <p:cViewPr>
        <p:scale>
          <a:sx n="66" d="100"/>
          <a:sy n="66" d="100"/>
        </p:scale>
        <p:origin x="1068" y="-213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041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700" dirty="0"/>
              <a:t>/delta = 10</a:t>
            </a:r>
            <a:br>
              <a:rPr lang="en-US" sz="700" dirty="0"/>
            </a:br>
            <a:br>
              <a:rPr lang="en-US" sz="700" dirty="0"/>
            </a:br>
            <a:r>
              <a:rPr lang="" sz="700" dirty="0"/>
              <a:t>訓練前標籤會先除以一個 target_scale，這個值不是固定常數，是用 train split 算出來的標準差（common_05a.py:280：target_scale = nanstd(target)），存在 phc_lite_feature_scaler.json 的 target_scale_train_std_no_mean_shift 欄位裡，沒有做 mean shift——這代表「no_quote」這個動作的 0 分基準在標準化前後都還是 0，不會因為標準化而偏移，這點如果教授問「你的 loss 尺度跟原始 PnL 單位的關係是什麼」可以直接答。</a:t>
            </a:r>
          </a:p>
          <a:p>
            <a:endParaRPr lang="" sz="700" dirty="0"/>
          </a:p>
          <a:p>
            <a:endParaRPr lang="" sz="700" dirty="0"/>
          </a:p>
          <a:p>
            <a:r>
              <a:rPr lang="" sz="800" dirty="0"/>
              <a:t>是業界處理金融 PnL 類標籤的常見做法,因為它對離群值比 MSE 穩健、又比純 MAE 在小誤差時有更好的梯度行為</a:t>
            </a:r>
            <a:endParaRPr lang="LID4096" sz="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0665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9175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72663-63D2-0893-281A-6BE7AD13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2D022-1D03-FA06-4FEC-049D56A30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C33D5-FE8E-098D-EC16-025E2315E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6F86FC-0F22-95F4-0EB8-82A5A4720E19}"/>
              </a:ext>
            </a:extLst>
          </p:cNvPr>
          <p:cNvSpPr/>
          <p:nvPr userDrawn="1"/>
        </p:nvSpPr>
        <p:spPr>
          <a:xfrm>
            <a:off x="11633200" y="0"/>
            <a:ext cx="558800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590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06/23/2026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2" r:id="rId8"/>
    <p:sldLayoutId id="2147483668" r:id="rId9"/>
    <p:sldLayoutId id="2147483669" r:id="rId10"/>
    <p:sldLayoutId id="2147483670" r:id="rId11"/>
    <p:sldLayoutId id="2147483671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7" Type="http://schemas.openxmlformats.org/officeDocument/2006/relationships/image" Target="../media/image14.png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Meeting 0624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7D7198A4-A858-F951-6B9B-DD6D11D67E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3"/>
    </mc:Choice>
    <mc:Fallback xmlns="">
      <p:transition spd="slow" advTm="4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EBE7-07F2-2687-4B24-01AD6AD2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要講的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89A5-9253-1855-C6E4-DE4A98830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計劃書</a:t>
            </a:r>
            <a:endParaRPr lang="en-US" altLang="zh-TW" dirty="0"/>
          </a:p>
          <a:p>
            <a:r>
              <a:rPr lang="zh-TW" altLang="en-US" dirty="0"/>
              <a:t>資料來源的檢查</a:t>
            </a:r>
            <a:endParaRPr lang="en-US" dirty="0"/>
          </a:p>
          <a:p>
            <a:r>
              <a:rPr lang="en-US" dirty="0"/>
              <a:t>03b</a:t>
            </a:r>
            <a:endParaRPr lang="en-US" altLang="zh-TW" dirty="0"/>
          </a:p>
          <a:p>
            <a:pPr lvl="1"/>
            <a:r>
              <a:rPr lang="zh-TW" altLang="en-US" dirty="0"/>
              <a:t>這些</a:t>
            </a:r>
            <a:r>
              <a:rPr lang="en-US" altLang="zh-TW" dirty="0"/>
              <a:t>ML</a:t>
            </a:r>
            <a:r>
              <a:rPr lang="zh-TW" altLang="en-US" dirty="0"/>
              <a:t>的</a:t>
            </a:r>
            <a:r>
              <a:rPr lang="en-US" altLang="zh-TW" dirty="0"/>
              <a:t>training </a:t>
            </a:r>
            <a:r>
              <a:rPr lang="zh-TW" altLang="en-US" dirty="0"/>
              <a:t>資料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D3096-F150-051E-0777-87C44D67D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F9953E37-23E7-B5E3-C526-5C781FC272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6801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67"/>
    </mc:Choice>
    <mc:Fallback xmlns="">
      <p:transition spd="slow" advTm="135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ED752-BCB1-6EDE-2B43-C2F19116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架構</a:t>
            </a:r>
            <a:endParaRPr lang="LID4096" dirty="0"/>
          </a:p>
        </p:txBody>
      </p:sp>
      <p:pic>
        <p:nvPicPr>
          <p:cNvPr id="4" name="Content Placeholder 3" descr="The image illustrates a complex system architecture for the PHC-lite, including a diagram of various components such as historical data processing, PyTorch model training, quantization processing, and testing vectors. It shows multiple stages including a verification chain with C simulation, Cosimulation, Vivado P&amp;R, and hardware testing on Zynq-7020 platform. The diagram also includes latency measures, resource usage statistics, and various data flow paths, with some components in the planning phase and others ready for post-route validation.&#10;&#10;AI-generated content may be incorrect.">
            <a:extLst>
              <a:ext uri="{FF2B5EF4-FFF2-40B4-BE49-F238E27FC236}">
                <a16:creationId xmlns:a16="http://schemas.microsoft.com/office/drawing/2014/main" id="{926AA234-B00C-812B-345B-7F6E56BE2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5"/>
          <a:stretch>
            <a:fillRect/>
          </a:stretch>
        </p:blipFill>
        <p:spPr bwMode="auto">
          <a:xfrm>
            <a:off x="1360820" y="282538"/>
            <a:ext cx="9470360" cy="62929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3653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text appears to be a technical explanation of a data table or script, detailing the calculation of price differences (best_ask - best_bid), tick sizes, and quantities for buying and selling, as well as the total depth for a specific trade (top_depth).&#10;&#10;AI-generated content may be incorrect.">
            <a:extLst>
              <a:ext uri="{FF2B5EF4-FFF2-40B4-BE49-F238E27FC236}">
                <a16:creationId xmlns:a16="http://schemas.microsoft.com/office/drawing/2014/main" id="{72967FD5-94C7-3EA4-6D85-003DFAA43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78" y="838181"/>
            <a:ext cx="5343564" cy="5181638"/>
          </a:xfrm>
          <a:prstGeom prst="rect">
            <a:avLst/>
          </a:prstGeom>
        </p:spPr>
      </p:pic>
      <p:pic>
        <p:nvPicPr>
          <p:cNvPr id="11" name="Picture 10" descr="timestamp_us&#10;&#10;AI-generated content may be incorrect.">
            <a:extLst>
              <a:ext uri="{FF2B5EF4-FFF2-40B4-BE49-F238E27FC236}">
                <a16:creationId xmlns:a16="http://schemas.microsoft.com/office/drawing/2014/main" id="{6BD56B76-7C0F-EC0C-58B2-4EB270619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283" y="438128"/>
            <a:ext cx="5372139" cy="598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9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The text describes a series of mathematical expressions and variables, possibly related to a data processing or algorithm, with variables for logarithmic transformations, clipping, and standardization of volatility features in a data set.&#10;&#10;AI-generated content may be incorrect.">
            <a:extLst>
              <a:ext uri="{FF2B5EF4-FFF2-40B4-BE49-F238E27FC236}">
                <a16:creationId xmlns:a16="http://schemas.microsoft.com/office/drawing/2014/main" id="{D2AEF68E-C386-ED9A-BDE7-33F39B29A3F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157403" y="864076"/>
            <a:ext cx="4097337" cy="5065712"/>
          </a:xfrm>
          <a:prstGeom prst="rect">
            <a:avLst/>
          </a:prstGeom>
        </p:spPr>
      </p:pic>
      <p:pic>
        <p:nvPicPr>
          <p:cNvPr id="7" name="Picture 6" descr="The text appears to be a snippet of code or a technical description of a data processing or data analysis procedure involving timestamps, intervals, and various metrics like queue imbalance and price spreads.&#10;&#10;AI-generated content may be incorrect.">
            <a:extLst>
              <a:ext uri="{FF2B5EF4-FFF2-40B4-BE49-F238E27FC236}">
                <a16:creationId xmlns:a16="http://schemas.microsoft.com/office/drawing/2014/main" id="{B64811A5-8D56-B313-0C2B-595B48580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1" y="864076"/>
            <a:ext cx="5227514" cy="50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2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0D37-0699-ADAB-1C0E-7CBA8B8A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loss</a:t>
            </a:r>
            <a:endParaRPr lang="LID4096" dirty="0"/>
          </a:p>
        </p:txBody>
      </p:sp>
      <p:pic>
        <p:nvPicPr>
          <p:cNvPr id="6" name="Content Placeholder 5" descr="The image depicts two mathematical equations: one showing a loss function of 0.5 times the sum of squared errors when a variable 'le' is less than or equal to 8, and another showing a linear loss function of 8 times the difference between 'le' and 0.5 times 6 when 'le' is greater than 8.&#10;&#10;AI-generated content may be incorrect.">
            <a:extLst>
              <a:ext uri="{FF2B5EF4-FFF2-40B4-BE49-F238E27FC236}">
                <a16:creationId xmlns:a16="http://schemas.microsoft.com/office/drawing/2014/main" id="{5D66609C-6F70-0867-A247-DB5411141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397" y="2940621"/>
            <a:ext cx="3166043" cy="4883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F6AE0A-161C-4298-A6EF-289C33994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366" y="1704960"/>
            <a:ext cx="6227064" cy="34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1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872A-DEE8-E49C-76F7-9B88C9D8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769C-9A51-7E26-7431-5DC29548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61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83D6-4213-88F9-AAF5-D982160F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輸入特徵清單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834EF-C523-5C68-8E2A-D40899F07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291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7F7F-7B2A-DADF-6B1D-DA32497D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FB5068-D7D0-DF7F-3285-6D22E0957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79" y="1704960"/>
            <a:ext cx="6227064" cy="345602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9781A4-F385-7DD4-7AFB-89074B76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89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616A-B3E9-95A9-A6EE-381819333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endParaRPr lang="LID4096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EB188A-134C-D751-6920-B221FA3F8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79" y="1704960"/>
            <a:ext cx="6227064" cy="345602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86E6E98-6E73-388B-A65F-17A1F61F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49" y="2638044"/>
            <a:ext cx="3063765" cy="3263206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47AAE-D8C2-FE52-E87D-F2CE5C58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F6E89-977C-A5A2-2B9F-07FD17E23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223" y="2638425"/>
            <a:ext cx="5583555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43EE-AD6C-D81F-09EE-9C1D86BC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CC0A9B-F66E-B9D5-12CF-19C465B93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2432685"/>
            <a:ext cx="7729728" cy="421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C170-A300-E664-59B0-97187A07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5D02C1-7B12-1D15-0CE0-AD9D2D6B6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3630" y="2638425"/>
            <a:ext cx="7444740" cy="310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6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553"/>
    </mc:Choice>
    <mc:Fallback xmlns="">
      <p:transition spd="slow" advTm="6255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DA8BA8-2407-6A20-1865-FF9D5795A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PHC</a:t>
            </a:r>
            <a:r>
              <a:rPr lang="zh-TW" altLang="en-US" dirty="0"/>
              <a:t>論文對照表</a:t>
            </a:r>
            <a:endParaRPr lang="LID4096" dirty="0"/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A7477DDC-250F-7EB2-2419-43FF3FCACB3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EF1B10-9A0A-DEA0-D101-305495FC4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" name="Picture 1" descr="The image illustrates a simplified schematic of a parallelized hierarchical connectome, depicting a neural network architecture with various layers including input masking, linear encoders, neuron and synapse layers, adaptive firing mechanisms, and signal processing, which includes multiple iterations for refinement and integration.&#10;&#10;AI-generated content may be incorrect.">
            <a:extLst>
              <a:ext uri="{FF2B5EF4-FFF2-40B4-BE49-F238E27FC236}">
                <a16:creationId xmlns:a16="http://schemas.microsoft.com/office/drawing/2014/main" id="{EB2335EF-C011-7853-3B72-4C49881DA7A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6"/>
          <a:stretch>
            <a:fillRect/>
          </a:stretch>
        </p:blipFill>
        <p:spPr bwMode="auto">
          <a:xfrm>
            <a:off x="2840194" y="2335784"/>
            <a:ext cx="6305550" cy="4439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2894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15"/>
    </mc:Choice>
    <mc:Fallback>
      <p:transition spd="slow" advTm="17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884" objId="2"/>
        <p14:stopEvt time="16014" objId="2"/>
      </p14:showEvt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2.2"/>
</p:tagLst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15375</TotalTime>
  <Words>139</Words>
  <Application>Microsoft Office PowerPoint</Application>
  <PresentationFormat>Widescreen</PresentationFormat>
  <Paragraphs>17</Paragraphs>
  <Slides>14</Slides>
  <Notes>3</Notes>
  <HiddenSlides>1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Parcel</vt:lpstr>
      <vt:lpstr>Meeting 0624</vt:lpstr>
      <vt:lpstr>要講的</vt:lpstr>
      <vt:lpstr>架構</vt:lpstr>
      <vt:lpstr>PowerPoint Presentation</vt:lpstr>
      <vt:lpstr>PowerPoint Presentation</vt:lpstr>
      <vt:lpstr>loss</vt:lpstr>
      <vt:lpstr>PowerPoint Presentation</vt:lpstr>
      <vt:lpstr>輸入特徵清單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PHC論文對照表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250</cp:revision>
  <dcterms:created xsi:type="dcterms:W3CDTF">2026-03-25T16:51:19Z</dcterms:created>
  <dcterms:modified xsi:type="dcterms:W3CDTF">2026-06-24T10:58:33Z</dcterms:modified>
</cp:coreProperties>
</file>