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-90" y="-5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576000"/>
            <a:ext cx="28835999" cy="2640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3565" b="1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入門級</a:t>
            </a:r>
            <a:r>
              <a:rPr sz="3565" b="1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FPGA </a:t>
            </a:r>
            <a:r>
              <a:rPr sz="3565" b="1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上金融資料跨時間步遞迴推論核心的</a:t>
            </a:r>
            <a:endParaRPr lang="en-US" sz="3565" b="1" dirty="0">
              <a:solidFill>
                <a:srgbClr val="15202B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3565" b="1" dirty="0" err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可達邊界量測與驗證</a:t>
            </a:r>
            <a:endParaRPr sz="3565" b="1" dirty="0">
              <a:solidFill>
                <a:srgbClr val="0B5C9E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本專題以具跨時間步狀態依賴的</a:t>
            </a:r>
            <a:r>
              <a:rPr sz="2170" b="1" dirty="0" err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遞迴神經網路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為研究對象，將一顆處理</a:t>
            </a:r>
            <a:r>
              <a:rPr sz="2170" b="1" dirty="0" err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金融委託簿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資料的推論核心自</a:t>
            </a:r>
            <a:r>
              <a:rPr sz="2170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PyTorch</a:t>
            </a:r>
            <a:r>
              <a:rPr sz="2170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模型一路實作到</a:t>
            </a:r>
            <a:r>
              <a:rPr sz="2170" b="1" dirty="0" err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實體</a:t>
            </a:r>
            <a:r>
              <a:rPr sz="2170" b="1" dirty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2170" b="1" dirty="0" err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FPGA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，中間不使用任何自動轉換工具。量測的對象不是「它有多快</a:t>
            </a:r>
            <a:r>
              <a:rPr sz="2170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2170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而是</a:t>
            </a:r>
            <a:r>
              <a:rPr sz="2170" b="1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「再快一倍要付出什麼，以及什麼時候就再也快不了</a:t>
            </a:r>
            <a:r>
              <a:rPr sz="2170" b="1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」</a:t>
            </a:r>
            <a:r>
              <a:rPr sz="2170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5" b="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平台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1705" b="1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PYNQ-Z2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（Xilinx Zynq-7020：53,200 LUT／220 DSP／280 </a:t>
            </a:r>
            <a:r>
              <a:rPr sz="1705" b="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BRAM，該系列中資源最少的等級之一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）　｜　</a:t>
            </a:r>
            <a:r>
              <a:rPr sz="1705" b="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姓名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1705" b="1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＿＿＿＿＿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　｜　</a:t>
            </a:r>
            <a:r>
              <a:rPr sz="1705" b="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指導教授</a:t>
            </a:r>
            <a:r>
              <a:rPr sz="1705" b="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1705" b="1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＿＿＿＿＿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20000" y="3671999"/>
            <a:ext cx="28835999" cy="0"/>
          </a:xfrm>
          <a:prstGeom prst="line">
            <a:avLst/>
          </a:prstGeom>
          <a:ln w="546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20000" y="3960000"/>
            <a:ext cx="28835999" cy="71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8800" y="4078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4096800"/>
            <a:ext cx="27900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系統全貌：桌上這塊板子在做什麼</a:t>
            </a:r>
            <a:r>
              <a:rPr sz="159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</a:t>
            </a:r>
            <a:r>
              <a:rPr sz="159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離線重播真實市場事件，逐筆比對</a:t>
            </a:r>
            <a:r>
              <a:rPr sz="1590" dirty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FPGA </a:t>
            </a:r>
            <a:r>
              <a:rPr sz="1590" dirty="0" err="1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輸出與軟體答案</a:t>
            </a:r>
            <a:endParaRPr sz="1590" dirty="0">
              <a:solidFill>
                <a:srgbClr val="5D6B78"/>
              </a:solidFill>
              <a:latin typeface="微軟正黑體"/>
              <a:ea typeface="微軟正黑體"/>
              <a:cs typeface="微軟正黑體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72000" y="4626000"/>
            <a:ext cx="28331999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4000" y="4770000"/>
            <a:ext cx="28188000" cy="6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7999" y="5004000"/>
            <a:ext cx="5903999" cy="4680000"/>
          </a:xfrm>
          <a:prstGeom prst="roundRect">
            <a:avLst>
              <a:gd name="adj" fmla="val 3000"/>
            </a:avLst>
          </a:prstGeom>
          <a:solidFill>
            <a:srgbClr val="F3F6F8"/>
          </a:solidFill>
          <a:ln w="12700">
            <a:solidFill>
              <a:srgbClr val="9FADB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7999" y="4662000"/>
            <a:ext cx="5903999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5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離線準備（PC）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6000" y="5328000"/>
            <a:ext cx="5328000" cy="1007999"/>
          </a:xfrm>
          <a:prstGeom prst="rect">
            <a:avLst/>
          </a:prstGeom>
          <a:solidFill>
            <a:srgbClr val="FFFFFF"/>
          </a:solidFill>
          <a:ln w="13970">
            <a:solidFill>
              <a:srgbClr val="15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台指期逐筆</a:t>
            </a:r>
            <a:r>
              <a:rPr sz="1627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L2 </a:t>
            </a:r>
            <a:r>
              <a:rPr sz="1627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委託簿</a:t>
            </a:r>
            <a:endParaRPr sz="1627" b="0" dirty="0">
              <a:solidFill>
                <a:srgbClr val="15202B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0" dirty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約 1,300 </a:t>
            </a:r>
            <a:r>
              <a:rPr sz="1627" b="0" dirty="0" err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萬筆可報價事件</a:t>
            </a:r>
            <a:endParaRPr sz="1627" b="0" dirty="0">
              <a:solidFill>
                <a:srgbClr val="1520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6000" y="6588000"/>
            <a:ext cx="5328000" cy="1007999"/>
          </a:xfrm>
          <a:prstGeom prst="rect">
            <a:avLst/>
          </a:prstGeom>
          <a:solidFill>
            <a:srgbClr val="FFFFFF"/>
          </a:solidFill>
          <a:ln w="13970">
            <a:solidFill>
              <a:srgbClr val="15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16 維因果特徵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僅用決策時點前的資訊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6000" y="7848000"/>
            <a:ext cx="5328000" cy="86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5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PyTorch 訓練 → 定點量化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6000" y="8892000"/>
            <a:ext cx="5328000" cy="720000"/>
          </a:xfrm>
          <a:prstGeom prst="rect">
            <a:avLst/>
          </a:prstGeom>
          <a:solidFill>
            <a:srgbClr val="FFFFFF"/>
          </a:solidFill>
          <a:ln w="13970">
            <a:solidFill>
              <a:srgbClr val="A01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軟體參考答案（定點 C 模型）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12000" y="5832000"/>
            <a:ext cx="1151999" cy="0"/>
          </a:xfrm>
          <a:prstGeom prst="line">
            <a:avLst/>
          </a:prstGeom>
          <a:ln w="20320">
            <a:solidFill>
              <a:srgbClr val="15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40000" y="5472000"/>
            <a:ext cx="1296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17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4,096 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12000" y="8280000"/>
            <a:ext cx="1151999" cy="0"/>
          </a:xfrm>
          <a:prstGeom prst="line">
            <a:avLst/>
          </a:prstGeom>
          <a:ln w="20320">
            <a:solidFill>
              <a:srgbClr val="15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40000" y="7920000"/>
            <a:ext cx="1296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17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權重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6000" y="4860000"/>
            <a:ext cx="12780000" cy="5112000"/>
          </a:xfrm>
          <a:prstGeom prst="roundRect">
            <a:avLst>
              <a:gd name="adj" fmla="val 3000"/>
            </a:avLst>
          </a:prstGeom>
          <a:solidFill>
            <a:srgbClr val="EAF2FA"/>
          </a:solidFill>
          <a:ln w="22860">
            <a:solidFill>
              <a:srgbClr val="0B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6000" y="4482000"/>
            <a:ext cx="1278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860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FPGA（Zynq-7020）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96000" y="5148000"/>
            <a:ext cx="3816000" cy="1080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5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BRAM 重播記憶體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4,096 筆事件 + 預期答案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96000" y="6516000"/>
            <a:ext cx="3816000" cy="93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15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控制狀態機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逐筆餵入核心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32000" y="5364000"/>
            <a:ext cx="5256000" cy="2304000"/>
          </a:xfrm>
          <a:prstGeom prst="roundRect">
            <a:avLst>
              <a:gd name="adj" fmla="val 3000"/>
            </a:avLst>
          </a:prstGeom>
          <a:solidFill>
            <a:srgbClr val="0B5C9E"/>
          </a:solidFill>
          <a:ln w="17780">
            <a:solidFill>
              <a:srgbClr val="0B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782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PHC-lite 推論核心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782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1,731 參數・16 維隱藏狀態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782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純定點 ap_fixed&lt;24,12&gt;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782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手刻 HLS，無自動轉換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782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530 週期 / 5.300 µs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12000" y="5580000"/>
            <a:ext cx="720000" cy="360000"/>
          </a:xfrm>
          <a:prstGeom prst="line">
            <a:avLst/>
          </a:prstGeom>
          <a:ln w="20320">
            <a:solidFill>
              <a:srgbClr val="15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312000" y="6588000"/>
            <a:ext cx="720000" cy="288000"/>
          </a:xfrm>
          <a:prstGeom prst="line">
            <a:avLst/>
          </a:prstGeom>
          <a:ln w="20320">
            <a:solidFill>
              <a:srgbClr val="15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3032000" y="7883999"/>
            <a:ext cx="5256000" cy="540000"/>
          </a:xfrm>
          <a:prstGeom prst="roundRect">
            <a:avLst>
              <a:gd name="adj" fmla="val 3000"/>
            </a:avLst>
          </a:prstGeom>
          <a:noFill/>
          <a:ln w="20320">
            <a:solidFill>
              <a:srgbClr val="A01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550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狀態回授 O(1)：16 個數值放暫存器，不用 BRAM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660000" y="7668000"/>
            <a:ext cx="0" cy="215999"/>
          </a:xfrm>
          <a:prstGeom prst="line">
            <a:avLst/>
          </a:prstGeom>
          <a:ln w="20320">
            <a:solidFill>
              <a:srgbClr val="A01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816000" y="8460000"/>
            <a:ext cx="576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95" b="0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↑ 模型有效性的來源，也是無法跨事件管線化的原因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96000" y="8964000"/>
            <a:ext cx="9792000" cy="86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01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逐筆比對電路（零容差）　FPGA 輸出 vs 軟體參考答案　→　任一筆不符即 fail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660000" y="8676000"/>
            <a:ext cx="0" cy="288000"/>
          </a:xfrm>
          <a:prstGeom prst="line">
            <a:avLst/>
          </a:prstGeom>
          <a:ln w="17780">
            <a:solidFill>
              <a:srgbClr val="15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404000" y="6228000"/>
            <a:ext cx="0" cy="2736000"/>
          </a:xfrm>
          <a:prstGeom prst="line">
            <a:avLst/>
          </a:prstGeom>
          <a:ln w="15240">
            <a:solidFill>
              <a:srgbClr val="9FADB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00" y="6516000"/>
            <a:ext cx="3060000" cy="0"/>
          </a:xfrm>
          <a:prstGeom prst="line">
            <a:avLst/>
          </a:prstGeom>
          <a:ln w="22860">
            <a:solidFill>
              <a:srgbClr val="0B5C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1348000" y="5940000"/>
            <a:ext cx="7919999" cy="115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B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報價決策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掛買單／掛賣單／不報價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每筆市場事件輸出一個決策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288000" y="9396000"/>
            <a:ext cx="3060000" cy="0"/>
          </a:xfrm>
          <a:prstGeom prst="line">
            <a:avLst/>
          </a:prstGeom>
          <a:ln w="22860">
            <a:solidFill>
              <a:srgbClr val="A01B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1348000" y="8964000"/>
            <a:ext cx="7919999" cy="86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01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LED：done / pass / fail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627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板子上亮的就是這個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11448000"/>
            <a:ext cx="28835999" cy="2015999"/>
          </a:xfrm>
          <a:prstGeom prst="roundRect">
            <a:avLst>
              <a:gd name="adj" fmla="val 3000"/>
            </a:avLst>
          </a:prstGeom>
          <a:solidFill>
            <a:srgbClr val="0B5C9E"/>
          </a:solidFill>
          <a:ln>
            <a:solidFill>
              <a:srgbClr val="0B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80000" y="11807999"/>
            <a:ext cx="3960000" cy="1296000"/>
          </a:xfrm>
          <a:prstGeom prst="roundRect">
            <a:avLst>
              <a:gd name="adj" fmla="val 3000"/>
            </a:avLst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2635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現場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2000" y="11772000"/>
            <a:ext cx="23580000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217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桌上的板子正在重播</a:t>
            </a:r>
            <a:r>
              <a:rPr sz="2170" b="1">
                <a:solidFill>
                  <a:srgbClr val="FFD166"/>
                </a:solidFill>
                <a:latin typeface="微軟正黑體"/>
                <a:ea typeface="微軟正黑體"/>
                <a:cs typeface="微軟正黑體"/>
              </a:rPr>
              <a:t>真實市場中事件最密集的 4,096 筆</a:t>
            </a:r>
            <a:r>
              <a:rPr sz="217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（峰值 1,469 事件／秒），每一筆都把 FPGA 算出來的分數跟電腦算的答案</a:t>
            </a:r>
            <a:r>
              <a:rPr sz="2170" b="1">
                <a:solidFill>
                  <a:srgbClr val="FFD166"/>
                </a:solidFill>
                <a:latin typeface="微軟正黑體"/>
                <a:ea typeface="微軟正黑體"/>
                <a:cs typeface="微軟正黑體"/>
              </a:rPr>
              <a:t>逐位元比對</a:t>
            </a:r>
            <a:r>
              <a:rPr sz="217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。整輪跑完約 </a:t>
            </a:r>
            <a:r>
              <a:rPr sz="2170" b="1">
                <a:solidFill>
                  <a:srgbClr val="FFD166"/>
                </a:solidFill>
                <a:latin typeface="微軟正黑體"/>
                <a:ea typeface="微軟正黑體"/>
                <a:cs typeface="微軟正黑體"/>
              </a:rPr>
              <a:t>22 毫秒</a:t>
            </a:r>
            <a:r>
              <a:rPr sz="217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，所以 LED 一直是亮的。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217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想確認它不是「一律放行」？我們在第 17 筆刻意注入一個已知錯誤——</a:t>
            </a:r>
            <a:r>
              <a:rPr sz="2170" b="1">
                <a:solidFill>
                  <a:srgbClr val="FFD166"/>
                </a:solidFill>
                <a:latin typeface="微軟正黑體"/>
                <a:ea typeface="微軟正黑體"/>
                <a:cs typeface="微軟正黑體"/>
              </a:rPr>
              <a:t>板子抓得到，fail 會亮。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000" y="13824000"/>
            <a:ext cx="8640000" cy="135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8800" y="13942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0000" y="13960800"/>
            <a:ext cx="7703999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研究對象：遞迴模型</a:t>
            </a:r>
            <a:r>
              <a:rPr sz="159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PHC-lite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2000" y="14490000"/>
            <a:ext cx="8136000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44000" y="14634000"/>
            <a:ext cx="7992000" cy="12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本專題自始即以</a:t>
            </a: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具跨時間步狀態依賴的遞迴模型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為研究對象——這類負載同時有非線性運算與狀態回授，與既有 FPGA 金融加速工作處理的前饋、無狀態邏輯是不同的東西。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模型簡化自生物啟發的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脈衝狀態空間模型 PHC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。原模型的脈衝動態、多區域拓樸、時間步內多輪收斂與推論期線上更新，在資源受限的 FPGA 上不是資源爆炸就是引入不確定的執行時間，全部移除。保留三個可被定點電路直接實現的機制：</a:t>
            </a:r>
          </a:p>
          <a:p>
            <a:pPr algn="l">
              <a:lnSpc>
                <a:spcPct val="140000"/>
              </a:lnSpc>
              <a:spcAft>
                <a:spcPts val="250"/>
              </a:spcAft>
            </a:pPr>
            <a:r>
              <a:rPr sz="201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閘控　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一個 Sigmoid 決定當前輸入有多少進入狀態</a:t>
            </a:r>
          </a:p>
          <a:p>
            <a:pPr algn="l">
              <a:lnSpc>
                <a:spcPct val="140000"/>
              </a:lnSpc>
              <a:spcAft>
                <a:spcPts val="250"/>
              </a:spcAft>
            </a:pPr>
            <a:r>
              <a:rPr sz="201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衰減　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舊狀態乘上 0–1 係數後與新資訊合併</a:t>
            </a:r>
          </a:p>
          <a:p>
            <a:pPr algn="l">
              <a:lnSpc>
                <a:spcPct val="140000"/>
              </a:lnSpc>
              <a:spcAft>
                <a:spcPts val="250"/>
              </a:spcAft>
            </a:pPr>
            <a:r>
              <a:rPr sz="201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狀態相依增益　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由當前狀態調節交互項強度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單步推論展開為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九個固定順序的運算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，第四步的輸出就是下一時間步的狀態輸入。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44000" y="25380000"/>
            <a:ext cx="7992000" cy="0"/>
          </a:xfrm>
          <a:prstGeom prst="line">
            <a:avLst/>
          </a:prstGeom>
          <a:ln w="11430">
            <a:solidFill>
              <a:srgbClr val="B9C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44000" y="25480800"/>
            <a:ext cx="79920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這條回授是整個專題的核心張力。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 切斷它，訊號在三個樣本外切分上分別崩潰 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−80／−190／−78 萬元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；但留著它，起始間隔就趨近延遲本身，推論無法跨事件管線化。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模型有效性的來源，正是硬體最昂貴的部分。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8000" y="13824000"/>
            <a:ext cx="9000000" cy="135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946800" y="13942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8000" y="13960800"/>
            <a:ext cx="8063999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怎麼做到的</a:t>
            </a:r>
            <a:r>
              <a:rPr sz="159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量化與高階合成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080000" y="14490000"/>
            <a:ext cx="8495999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152000" y="14634000"/>
            <a:ext cx="8352000" cy="12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201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自動化工具鏈不能用。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hls4ml 對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五個模型變體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的轉換全部止於 Python 端模型解析，沒有一個產生出 C++ 專案。阻擋點是二維 LayerNorm、非標準 padding、含控制流的 forward——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三者都跟遞迴無關，前饋模型同樣被擋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所以全程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手刻 Vitis HLS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。第一版的 DSP 用量是 </a:t>
            </a:r>
            <a:r>
              <a:rPr sz="201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2,636%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，經八輪優化收斂到布局繞線後 </a:t>
            </a: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21.36%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影響最大的一個決定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：tanh 若交給工具預設處理，會被合成為雙精度浮點核心、</a:t>
            </a:r>
            <a:r>
              <a:rPr sz="201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單次呼叫約耗 2,048 顆 DSP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——而整塊 FPGA 只有 220 顆。改成 </a:t>
            </a: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65 點分段線性查表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後，合成結果中再也沒有浮點硬體。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為什麼是 65 點？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誤差分解顯示 65 點的查表誤差已與 Q24.12 的量化誤差同一量級（45.8% vs 54.2%）。再加點數只會把查表誤差壓到量化地板以下，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買不到東西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152000" y="25668000"/>
            <a:ext cx="8352000" cy="0"/>
          </a:xfrm>
          <a:prstGeom prst="line">
            <a:avLst/>
          </a:prstGeom>
          <a:ln w="11430">
            <a:solidFill>
              <a:srgbClr val="B9C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152000" y="25768800"/>
            <a:ext cx="83520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重尾分布的委託簿特徵在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訓練階段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就以對數與截尾壓縮動態範圍——</a:t>
            </a:r>
            <a:r>
              <a:rPr sz="170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讓量化成為訓練時的約束，而不是事後補救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。這是定點化能收斂的前提。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295999" y="13824000"/>
            <a:ext cx="10259999" cy="135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9414800" y="13942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15999" y="13960800"/>
            <a:ext cx="9323999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多快？代價是什麼</a:t>
            </a:r>
            <a:r>
              <a:rPr sz="159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五點全數通過布局繞線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9548000" y="14490000"/>
            <a:ext cx="9755999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619999" y="14634000"/>
            <a:ext cx="9611999" cy="12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20592000" y="21600000"/>
            <a:ext cx="8243999" cy="0"/>
          </a:xfrm>
          <a:prstGeom prst="line">
            <a:avLst/>
          </a:prstGeom>
          <a:ln w="1778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0592000" y="15407999"/>
            <a:ext cx="0" cy="6192001"/>
          </a:xfrm>
          <a:prstGeom prst="line">
            <a:avLst/>
          </a:prstGeom>
          <a:ln w="1778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655999" y="21726000"/>
            <a:ext cx="9539999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9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單筆推論延遲（µs，對數刻度）　←　更快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24466679" y="16027199"/>
            <a:ext cx="3874680" cy="0"/>
          </a:xfrm>
          <a:prstGeom prst="line">
            <a:avLst/>
          </a:prstGeom>
          <a:ln w="635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3889599" y="15127199"/>
            <a:ext cx="5111279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627" b="1">
                <a:solidFill>
                  <a:srgbClr val="1D7268"/>
                </a:solidFill>
                <a:latin typeface="微軟正黑體"/>
                <a:ea typeface="微軟正黑體"/>
                <a:cs typeface="微軟正黑體"/>
              </a:rPr>
              <a:t>前 3.72× 免費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17" b="0">
                <a:solidFill>
                  <a:srgbClr val="1D7268"/>
                </a:solidFill>
                <a:latin typeface="微軟正黑體"/>
                <a:ea typeface="微軟正黑體"/>
                <a:cs typeface="微軟正黑體"/>
              </a:rPr>
              <a:t>同一組權重，任務品質不變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22817880" y="16027199"/>
            <a:ext cx="1648799" cy="1733761"/>
          </a:xfrm>
          <a:prstGeom prst="line">
            <a:avLst/>
          </a:prstGeom>
          <a:ln w="27940">
            <a:solidFill>
              <a:srgbClr val="A01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1498839" y="17760960"/>
            <a:ext cx="1319041" cy="1795680"/>
          </a:xfrm>
          <a:prstGeom prst="line">
            <a:avLst/>
          </a:prstGeom>
          <a:ln w="27940">
            <a:solidFill>
              <a:srgbClr val="A01B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3065199" y="16646400"/>
            <a:ext cx="122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72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−3.92%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663719" y="18380160"/>
            <a:ext cx="122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72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−6.06%</a:t>
            </a:r>
          </a:p>
        </p:txBody>
      </p:sp>
      <p:sp>
        <p:nvSpPr>
          <p:cNvPr id="67" name="Oval 66"/>
          <p:cNvSpPr/>
          <p:nvPr/>
        </p:nvSpPr>
        <p:spPr>
          <a:xfrm>
            <a:off x="28118159" y="158040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549359" y="16293599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72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83.160</a:t>
            </a:r>
          </a:p>
        </p:txBody>
      </p:sp>
      <p:sp>
        <p:nvSpPr>
          <p:cNvPr id="69" name="Oval 68"/>
          <p:cNvSpPr/>
          <p:nvPr/>
        </p:nvSpPr>
        <p:spPr>
          <a:xfrm>
            <a:off x="25984799" y="15649200"/>
            <a:ext cx="756000" cy="7560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5570799" y="16448399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72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25.733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570799" y="16747199"/>
            <a:ext cx="158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1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已上板</a:t>
            </a:r>
          </a:p>
        </p:txBody>
      </p:sp>
      <p:sp>
        <p:nvSpPr>
          <p:cNvPr id="72" name="Oval 71"/>
          <p:cNvSpPr/>
          <p:nvPr/>
        </p:nvSpPr>
        <p:spPr>
          <a:xfrm>
            <a:off x="24034679" y="15595199"/>
            <a:ext cx="864000" cy="8640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3674679" y="16502399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72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22.360</a:t>
            </a:r>
          </a:p>
        </p:txBody>
      </p:sp>
      <p:sp>
        <p:nvSpPr>
          <p:cNvPr id="74" name="Oval 73"/>
          <p:cNvSpPr/>
          <p:nvPr/>
        </p:nvSpPr>
        <p:spPr>
          <a:xfrm>
            <a:off x="22421879" y="17364960"/>
            <a:ext cx="792000" cy="7920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025879" y="1820016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72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12.020</a:t>
            </a:r>
          </a:p>
        </p:txBody>
      </p:sp>
      <p:sp>
        <p:nvSpPr>
          <p:cNvPr id="76" name="Oval 75"/>
          <p:cNvSpPr/>
          <p:nvPr/>
        </p:nvSpPr>
        <p:spPr>
          <a:xfrm>
            <a:off x="20958839" y="19016640"/>
            <a:ext cx="1080000" cy="1080000"/>
          </a:xfrm>
          <a:prstGeom prst="ellipse">
            <a:avLst/>
          </a:prstGeom>
          <a:solidFill>
            <a:srgbClr val="0B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706839" y="2013984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72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5.300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06839" y="20438640"/>
            <a:ext cx="158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1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已上板</a:t>
            </a:r>
          </a:p>
        </p:txBody>
      </p:sp>
      <p:sp>
        <p:nvSpPr>
          <p:cNvPr id="79" name="Oval 78"/>
          <p:cNvSpPr/>
          <p:nvPr/>
        </p:nvSpPr>
        <p:spPr>
          <a:xfrm>
            <a:off x="20558880" y="19358640"/>
            <a:ext cx="396000" cy="396000"/>
          </a:xfrm>
          <a:prstGeom prst="ellipse">
            <a:avLst/>
          </a:prstGeom>
          <a:noFill/>
          <a:ln w="20320">
            <a:solidFill>
              <a:srgbClr val="9FADB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9728000" y="15335999"/>
            <a:ext cx="3096000" cy="936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 w="15240">
            <a:solidFill>
              <a:srgbClr val="E09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395" b="1">
                <a:solidFill>
                  <a:srgbClr val="8A5D10"/>
                </a:solidFill>
                <a:latin typeface="微軟正黑體"/>
                <a:ea typeface="微軟正黑體"/>
                <a:cs typeface="微軟正黑體"/>
              </a:rPr>
              <a:t>下一點 3.830 µs 需 452 顆 DSP</a:t>
            </a:r>
          </a:p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395" b="1">
                <a:solidFill>
                  <a:srgbClr val="8A5D10"/>
                </a:solidFill>
                <a:latin typeface="微軟正黑體"/>
                <a:ea typeface="微軟正黑體"/>
                <a:cs typeface="微軟正黑體"/>
              </a:rPr>
              <a:t>本平台只有 220 顆　→　受阻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20756879" y="16271999"/>
            <a:ext cx="519120" cy="3068641"/>
          </a:xfrm>
          <a:prstGeom prst="line">
            <a:avLst/>
          </a:prstGeom>
          <a:ln w="12700">
            <a:solidFill>
              <a:srgbClr val="E09F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9512000" y="15865199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395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512000" y="1759896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395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中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512000" y="1939464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395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低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152000" y="17760960"/>
            <a:ext cx="7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9655999" y="21132000"/>
            <a:ext cx="9539999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40" b="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圓面積 ∝ DSP 使用率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655999" y="22104000"/>
            <a:ext cx="9539999" cy="1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能耗同步改善 12.5×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（29.69 → 2.38 µJ）。而且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最快的那個點並不是最耗電的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——對角化把矩陣乘法退化為逐元素運算，實際切換活動反而下降。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9619999" y="25380000"/>
            <a:ext cx="9612000" cy="0"/>
          </a:xfrm>
          <a:prstGeom prst="line">
            <a:avLst/>
          </a:prstGeom>
          <a:ln w="11430">
            <a:solidFill>
              <a:srgbClr val="B9C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9619999" y="25480800"/>
            <a:ext cx="9611999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本專題交付的不是一個速度數字，是一條有標價的曲線。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 再往下的 3.830 µs 已通過 25,600 向量協同模擬、功能完全正確，擋住它的只有 DSP 數量——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這是元件的邊界，不是設計的邊界；換一塊 DSP 多的 FPGA 就能繼續走。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0000" y="27792000"/>
            <a:ext cx="13967999" cy="102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38800" y="27910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40000" y="27928800"/>
            <a:ext cx="13031999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對照組：前饋 TCN</a:t>
            </a:r>
            <a:r>
              <a:rPr sz="159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檢驗遞迴這個選擇在硬體上站不站得住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72000" y="28458000"/>
            <a:ext cx="13463999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44000" y="28602000"/>
            <a:ext cx="13320000" cy="9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遞迴是本專題的研究對象，不是比較之後才選的。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 為了檢驗「選遞迴」這個前提在硬體上是否成立，本專題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以相同流程完整實作一組前饋 TCN 對照組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，並推進到同等驗證層級——同元件、同時脈 100 MHz、同定點格式、同一個訊號來源模型，兩邊都通過布局繞線與協同模擬。</a:t>
            </a: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1080000" y="30888000"/>
          <a:ext cx="13247997" cy="22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82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遞迴 PHC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前饋 TCN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單筆延遲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22.360 µs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74.38 µs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BRAM 用量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0.00%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A01B36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23.57%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DSP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68.64%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49.09%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公開基準預測能力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67.58%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82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67.58%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1080000" y="33048000"/>
            <a:ext cx="13247999" cy="2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兩種架構的預測能力完全相同。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差別全在硬體：遞迴狀態只有 16 個數值（384 bits），</a:t>
            </a: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可以整個放進暫存器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；前饋必須保留整個時間窗，只能放 BRAM——而</a:t>
            </a: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每塊 BRAM 只有兩個存取埠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，讀取因此被排隊。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證據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：前饋側把運算展開因子從 1 提高到 4，每事件週期數只降 </a:t>
            </a:r>
            <a:r>
              <a:rPr sz="201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2.22 倍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而不是理想的 4 倍。次線性正是「卡在記憶體埠」的特徵。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44000" y="35892000"/>
            <a:ext cx="13320000" cy="0"/>
          </a:xfrm>
          <a:prstGeom prst="line">
            <a:avLst/>
          </a:prstGeom>
          <a:ln w="11430">
            <a:solidFill>
              <a:srgbClr val="B9C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44000" y="35992800"/>
            <a:ext cx="133200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所以遞迴這個選擇在硬體上站得住，理由是資源而非準確率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——而正是省下來的這份餘裕，讓它能被一路優化到 5.300 µs。
⚠️ 前饋側另有一個更快的 50.36 µs 設計點，其完整協同模擬因模擬器記憶體耗盡（17–19 GB，對照遞迴的 34 MB）未能完成。若補完，差距會縮到 2.25×——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此比值不是架構上限。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5155999" y="27792000"/>
            <a:ext cx="14400000" cy="102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B9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5274800" y="27910800"/>
            <a:ext cx="446400" cy="446400"/>
          </a:xfrm>
          <a:prstGeom prst="ellipse">
            <a:avLst/>
          </a:prstGeom>
          <a:solidFill>
            <a:srgbClr val="15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tIns="18000" rIns="54000" bIns="18000" rtlCol="0" anchor="ctr"/>
          <a:lstStyle/>
          <a:p>
            <a:pPr algn="ctr">
              <a:lnSpc>
                <a:spcPct val="115000"/>
              </a:lnSpc>
              <a:spcAft>
                <a:spcPts val="140"/>
              </a:spcAft>
            </a:pPr>
            <a:r>
              <a:rPr sz="186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875999" y="27928800"/>
            <a:ext cx="134640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3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怎麼知道是對的</a:t>
            </a:r>
            <a:r>
              <a:rPr sz="1590">
                <a:solidFill>
                  <a:srgbClr val="5D6B78"/>
                </a:solidFill>
                <a:latin typeface="微軟正黑體"/>
                <a:ea typeface="微軟正黑體"/>
                <a:cs typeface="微軟正黑體"/>
              </a:rPr>
              <a:t>   四級驗證 ＋ 被丟掉的設計點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5407999" y="28458000"/>
            <a:ext cx="13896000" cy="0"/>
          </a:xfrm>
          <a:prstGeom prst="line">
            <a:avLst/>
          </a:prstGeom>
          <a:ln w="1651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5479999" y="28602000"/>
            <a:ext cx="13752000" cy="9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每一個數字都標明來自哪一級：</a:t>
            </a:r>
            <a:r>
              <a:rPr sz="2015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C 合成估計 → RTL 協同模擬 → 布局繞線時序 → 實體 FPGA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。混用等級視為嚴重錯誤。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15515999" y="30096000"/>
          <a:ext cx="13679999" cy="167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9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上板版本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延遲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FPGA vs 軟體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決策改變</a:t>
                      </a:r>
                    </a:p>
                  </a:txBody>
                  <a:tcPr marL="64800" marR="64800" marT="21600" marB="21600" anchor="ctr">
                    <a:solidFill>
                      <a:srgbClr val="15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/>
                      <a:r>
                        <a:rPr sz="1705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訊號品質最佳版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25.733 µs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5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4,096 筆中 27 筆差 1 個量化單位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 筆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/>
                      <a:r>
                        <a:rPr sz="1705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延遲最低版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5.300 µs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5" b="0">
                          <a:solidFill>
                            <a:srgbClr val="1520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4,096 筆完全相同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5" b="1">
                          <a:solidFill>
                            <a:srgbClr val="0B5C9E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 筆</a:t>
                      </a:r>
                    </a:p>
                  </a:txBody>
                  <a:tcPr marL="64800" marR="64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" name="TextBox 104"/>
          <p:cNvSpPr txBox="1"/>
          <p:nvPr/>
        </p:nvSpPr>
        <p:spPr>
          <a:xfrm>
            <a:off x="15515999" y="31896000"/>
            <a:ext cx="13680000" cy="28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1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最後一欄才是關鍵。</a:t>
            </a:r>
            <a:r>
              <a:rPr sz="2015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數值差一點點不要緊——只要三選一的報價決策沒變，FPGA 與軟體的行為就是等價的。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5479999" y="35100000"/>
            <a:ext cx="13752000" cy="0"/>
          </a:xfrm>
          <a:prstGeom prst="line">
            <a:avLst/>
          </a:prstGeom>
          <a:ln w="11430">
            <a:solidFill>
              <a:srgbClr val="B9C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5479999" y="35200800"/>
            <a:ext cx="13752000" cy="115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705" b="1">
                <a:solidFill>
                  <a:srgbClr val="A01B36"/>
                </a:solidFill>
                <a:latin typeface="微軟正黑體"/>
                <a:ea typeface="微軟正黑體"/>
                <a:cs typeface="微軟正黑體"/>
              </a:rPr>
              <a:t>最能說明紀律的是被丟掉的四個設計點。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 兩個無 local partition 的版本 C 模擬 25,600 向量全過，協同模擬卻有 268／657 筆不符；另兩個在 111／125 MHz 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時序明明是收斂的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，各有 429 筆不符。四個看起來更快的點全部捨棄——</a:t>
            </a:r>
            <a:r>
              <a:rPr sz="170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只看 C 合成或只看時序報告，會把它們全部誤認為成功。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20000" y="38484000"/>
            <a:ext cx="28835999" cy="0"/>
          </a:xfrm>
          <a:prstGeom prst="line">
            <a:avLst/>
          </a:prstGeom>
          <a:ln w="36830">
            <a:solidFill>
              <a:srgbClr val="15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20000" y="38700000"/>
            <a:ext cx="16920000" cy="3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232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結論</a:t>
            </a:r>
          </a:p>
          <a:p>
            <a:pPr algn="l">
              <a:lnSpc>
                <a:spcPct val="140000"/>
              </a:lnSpc>
              <a:spcAft>
                <a:spcPts val="250"/>
              </a:spcAft>
            </a:pPr>
            <a:r>
              <a:rPr sz="1860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一、</a:t>
            </a:r>
            <a:r>
              <a:rPr sz="186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在最入門等級的 FPGA 上，從模型到實體 FPGA 的完整驗證鏈走得完，而且邊界可以被量成一個</a:t>
            </a:r>
            <a:r>
              <a:rPr sz="1860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可外推的數字</a:t>
            </a:r>
            <a:r>
              <a:rPr sz="186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——不是「這個設計做不到更快」，而是「這塊 FPGA 只能到這裡」。</a:t>
            </a:r>
          </a:p>
          <a:p>
            <a:pPr algn="l">
              <a:lnSpc>
                <a:spcPct val="140000"/>
              </a:lnSpc>
              <a:spcAft>
                <a:spcPts val="250"/>
              </a:spcAft>
            </a:pPr>
            <a:r>
              <a:rPr sz="1860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二、</a:t>
            </a:r>
            <a:r>
              <a:rPr sz="186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在固定大小的元件上，架構選擇的決定因素是</a:t>
            </a:r>
            <a:r>
              <a:rPr sz="1860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狀態能不能放進暫存器</a:t>
            </a:r>
            <a:r>
              <a:rPr sz="1860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，而不是預測準確率；對照組驗證了這一點。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27" b="1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三、</a:t>
            </a:r>
            <a:r>
              <a:rPr sz="1627" b="0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自動化高階合成工具鏈在這個規模不可用，手動實作是必要條件而非偏好——這解釋了本專題全部硬體工作量的來源。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60000" y="38700000"/>
            <a:ext cx="11195999" cy="3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2325" b="1">
                <a:solidFill>
                  <a:srgbClr val="15202B"/>
                </a:solidFill>
                <a:latin typeface="微軟正黑體"/>
                <a:ea typeface="微軟正黑體"/>
                <a:cs typeface="微軟正黑體"/>
              </a:rPr>
              <a:t>誠實揭露</a:t>
            </a:r>
          </a:p>
          <a:p>
            <a:pPr algn="l">
              <a:lnSpc>
                <a:spcPct val="138000"/>
              </a:lnSpc>
              <a:spcAft>
                <a:spcPts val="200"/>
              </a:spcAft>
            </a:pPr>
            <a:r>
              <a:rPr sz="170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產出為推論核心（IP），不含網路介面、行情解碼與訂單管理，不與端到端交易系統比較。</a:t>
            </a:r>
          </a:p>
          <a:p>
            <a:pPr algn="l">
              <a:lnSpc>
                <a:spcPct val="138000"/>
              </a:lnSpc>
              <a:spcAft>
                <a:spcPts val="200"/>
              </a:spcAft>
            </a:pPr>
            <a:r>
              <a:rPr sz="170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延遲由布局繞線靜態時序與協同模擬週期數推導而得，未實作晶片內週期計數器；功耗為工具估計值。</a:t>
            </a:r>
          </a:p>
          <a:p>
            <a:pPr algn="l">
              <a:lnSpc>
                <a:spcPct val="138000"/>
              </a:lnSpc>
              <a:spcAft>
                <a:spcPts val="200"/>
              </a:spcAft>
            </a:pPr>
            <a:r>
              <a:rPr sz="170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前饋對照組的加速線未達同等驗證層級，故不宣稱前饋架構無法更快。</a:t>
            </a:r>
          </a:p>
          <a:p>
            <a:pPr algn="l">
              <a:lnSpc>
                <a:spcPct val="138000"/>
              </a:lnSpc>
              <a:spcAft>
                <a:spcPts val="200"/>
              </a:spcAft>
            </a:pPr>
            <a:r>
              <a:rPr sz="1705" b="0">
                <a:solidFill>
                  <a:srgbClr val="0B5C9E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1705" b="0">
                <a:solidFill>
                  <a:srgbClr val="4C5A66"/>
                </a:solidFill>
                <a:latin typeface="微軟正黑體"/>
                <a:ea typeface="微軟正黑體"/>
                <a:cs typeface="微軟正黑體"/>
              </a:rPr>
              <a:t>模型在公開基準上仍落後 DeepLOB 13.85 個百分點；四個方向的診斷顯示單純放大參數不會改善，但這不等於調校過的大模型不可能更好。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Office PowerPoint</Application>
  <PresentationFormat>Custom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微軟正黑體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holb l</cp:lastModifiedBy>
  <cp:revision>2</cp:revision>
  <dcterms:created xsi:type="dcterms:W3CDTF">2013-01-27T09:14:16Z</dcterms:created>
  <dcterms:modified xsi:type="dcterms:W3CDTF">2026-10-05T20:07:49Z</dcterms:modified>
  <cp:category/>
</cp:coreProperties>
</file>