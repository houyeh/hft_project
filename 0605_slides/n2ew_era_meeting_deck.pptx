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標題頁
■ 評估框架核心概念（必須熟記）
• excess_pnl_H20：選中動作後 20 個 L2 事件的超額 markout PnL，單位 NTD（新台幣）
• H=20 的意義：20 個 L2 order book 事件，約對應數秒至數十秒的市場時間
• NTD 換算：台指期每點 = 200 NTD；1 tick = 1 index point ≈ 200 NTD / 口
■ 四大宣稱邊界（被問到必答）
1. proxy simulation，非 live trading / true exchange replay
2. 不聲稱現實世界獲利
3. 不聲稱 FPGA 提升 PnL
4. 所有模型選擇基於 val set，NEW3/NEW4 僅作事後診斷
Q: 為何用 H=20 不用更長視界？
A: 舊 baseline 靠 session-final markout 方向性偏誤獲利，非邊際獲利。H=20 短視界更接近做市商即時邊際，且因果特徵可預測性更強。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全局路線圖
■ 資料切分說明（每個 split 的角色）
• Train：模型訓練用，NEW1+NEW2 前段資料
• Val：唯一模型選擇依據，NEW1+NEW2 後段；嚴格不可用 NEW3/4/5
• NEW3/NEW4：Diagnostic OOS，事後診斷，永不用於調參或選模型
• NEW5：一次性最終 holdout，Phase 04C 已用完，之後封存
■ 序列視窗說明
• seq_len=128：每個推論視窗包含前 128 個 L2 事件
• stride=32：每隔 32 個 L2 事件滑動一次，產生一個預測決策
• seq windows 數量 ≠ event 數量（events / stride ≈ windows）
■ Project Reset 原因
• 舊 baseline 的正 EV 來自 session 末段方向性 markout，非即時做市邊際
• 重新定義目標為 short-horizon sequential proxy PnL，更嚴謹
Q: Val 和 Train 的時間是否重疊？
A: 不重疊。Train 是 NEW1+NEW2 前段，Val 是後段，嚴格按時間因果分隔。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Phase 04 — TXF 開發決策 + NEW5 Holdout
■ 兩種 PnL 的差異（常被問）
• Action-level excess PnL (H=20)：選中的每個 bid/ask 動作，假設立即成交，看後 20 個 L2 事件的方向獲利。忽略成交流動性，是樂觀估算。
• Causal-fill sequential PnL：模擬器逐事件執行，使用 L2 stress fill（悲觀成交假設，掛單後只在後續事件顯示成交跡象才算成交），inventory cap=1 表同時最多持 1 口，不使用未來 PnL 信息。更保守、更接近現實。
■ Matched-random 檢定說明
• 1000 次精確 matched-random：每次 trial 從隨機排列的 bid/ask/no-quote 中抽，嚴格匹配原 policy 的選中次數、session 分布、side（bid/ask）比例
• Empirical p-value &lt; 0.001：1000 次中 0 次隨機 trial 達到 ML PnL，p = 0/1000 &lt; 0.001
• 這是非參數檢定，不假設分布
■ NEW5 規則
• 只能用一次，用完後結果封存，不可再調整模型閾值
• 15.6M action PnL vs 11.4M queue，差距 36.8%，統計顯著
Q: P-value 為何不是精確的 0.001 而是說 &lt;0.001？
A: 因為 1000 次 trial 中 0 次達到，所以 empirical p = 0/1000，最大只能說 p &lt; 1/1000 = 0.001，這是保守表述。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PHC-lite v1 架構與訓練
■ 模型架構重點
• PHC-lite v1 是完整 PHCSSM 的簡化版，非 full biological model
• hidden_dim=16：隱藏狀態向量維度，非常小（適合 FPGA）
• MTL steps=1：Multi-Task Learning 步數，同時預測 bid 和 ask action value
• 1,203 參數：極小，iPhone 計算器都能算
■ 時序更新機制
• Learned decay/gating recurrent state：類似 GRU 的可學習遺忘機制，讓模型能記憶近期市場狀態
• 每個 L2 事件更新一次隱藏狀態 h_t（streaming mode）
• 不是 Transformer，沒有 attention，適合 FPGA pipeline
■ 輸入特徵
• 因果 L2 microstructure 特徵（全部因果，不洩漏未來）
• 包含 bid/ask size、price level、imbalance 等 Level-2 訂單簿特徵
■ 訓練注意事項
• Seed 0 訓練到 epoch 50 上限（early_stop 未觸發），val PnL 仍在高位
• 這是 v1 的已知 caveat：未來版本（如 05c4）用更長訓練 + CosineAnnealingLR 解決
Q: Val loss 比 Train loss 小代表什麼？
A: 0.2041 &lt; 0.2376，這可能是因為 val set 的統計特性稍微好預測，或 dropout/regularization 效果。不一定是資料洩漏。但需確認特徵是否都是因果的（已確認）。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PHC-lite v1 vs Baselines 性能比較
■ 兩張表的差異
• 表一 Action PnL（H=20，NTD）：所有 bid/ask 選中動作的超額 markout 累積，不考慮成交限制。橫軸=資料集 split，縱軸=累計 NTD
• 表二 Causal-Fill Sequential PnL（NTD）：通過 L2 stress fill 模擬器後的實際序列獲利，inventory cap=1，更保守
■ 各 Split 意義
• Val：模型選擇依據；NEW3/NEW4 是 OOS（out-of-sample），代表未見過的未來資料
• OOS 改善代表模型有泛化能力，不是過擬合 val
■ 數字解讀
• PHC-lite val action PnL 1,927,170 NTD ≈ 192.7 萬台幣
• vs Queue rule 1,237,140（+55.8%）；vs HGB 1,671,680（+15.3%）
• Win rate 46.5%（不到 50%）但 avg trade = 25.2 NTD，代表有正向優勢（非靠勝率）
• Max drawdown 16,200 NTD ≈ 1.62 萬，相對 PnL 規模很小
■ Matched-random 解讀
• p &lt; 0.001 代表 PHC-lite 的性能不是 random luck
• Matched = 相同數量、相同 session、相同 side，只是打亂時機
Q: 為何勝率不到 50% 仍然獲利？
A: 勝率 &lt; 50% 但平均交易 PnL &gt; 0，代表輸小贏大（類似有利的賠率）。這在做市場策略中是常見結構。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PHC-STP v2 (05C4) 採用
■ STP 是什麼？
• Short-Term Plasticity：借鑑神經生物學的突觸動態調制機制
• 讓隱藏狀態的 gain（增益）隨時間動態調整，非固定權重
• 不是真正的生物 STP，是數學近似（Forbidden claim：not full biological STP）
■ 為何採用 05c4 而不是 05c3？
• 05c3 部分 seeds 未完全收斂（convergence-incomplete），違反收斂閉合 gate
• 05c4 加入 CosineAnnealingLR，所有 seeds early_stop=True，best_epoch &lt; 185
• 採用依據是通過所有 6 個正式 gate vs frozen v1，不是因為 PnL 最高
■ 6 個採用門檻說明
1. Convergence closed：all seeds early_stop, ep&lt;185
2. Seed stability：全 seeds 全 splits action PnL &gt; 0
3. Matched random：val/NEW3/NEW4 beat 95p empirical
4. OOS improvement：NEW3/NEW4 ≥ PHC-lite v1
5. Causal-fill improvement：val/NEW3/NEW4 sequential PnL ≥ v1
6. Oracle capture improvement：≥ v1 on all splits
■ Delta 表解讀
• Val +5.7%（+110,755 NTD），NEW3 +4.3%，NEW4 +6.2% vs v1
Q: 05c4 在某些 split 比 05c3 差，為何還選 05c4？
A: 05c3 收斂未完成（未通過 gate 1），因此 05c3 結果不可信。在收斂完整的基礎上比較才有意義。05c4 通過所有正式 gate，是唯一有效候選。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Oracle Gap 分析 (05D)
■ Oracle Capture Ratio 定義
• Oracle = PHC 視窗範圍內，使用未來標籤的非因果最優策略 PnL
• Oracle capture ratio = policy PnL ÷ oracle PnL
• PHC-lite v1 val capture ≈ 24.9%，代表實際策略約捕捉了 oracle 理論上限的 1/4
■ 為何 Oracle 只能作診斷？
• Oracle 使用未來資訊（未來 H=20 ticks 的走勢），現實中不可知
• 不能作為可交易策略，只用來評估「理論上還有多少提升空間」
• 這是 fundamental ceiling，不是 real PnL ceiling
■ Streaming Dense 的數字異常
• Val action PnL 6,338 萬（vs 一般模型 192-208 萬）
• 原因：streaming dense 使用 multi-step MTL mode（非 1-step），等效於允許更多資訊利用
• 是 HLS 可行性診斷，非採用候選，PnL 不可與其他模型直接比較
■ 各模型未採用原因
• PHC-STP 120 epoch：收斂不完整（同 05c3）
• Rank head：seed stability caveat（不穩定）
• Uncertainty gating：未通過整體 gate
• 最終建議 keep_phc_lite_v1
Q: Oracle capture 只有 25% 是不是代表模型很差？
A: 不是。Oracle 是使用未來資訊的理論上限，任何因果策略能達到 25% 都是相當不錯的結果。更重要的是 policy PnL 統計顯著（p&lt;0.001）。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Phase 06A — Queue Rule HLS C++ 實作
■ Queue Rule 公式說明
• bid_sz_1 = Level-1 買方委託量（最佳買價的總委託口數）
• ask_sz_1 = Level-1 賣方委託量（最佳賣價的總委託口數）
• imbalance = (bid_sz_1 - ask_sz_1) / (bid_sz_1 + ask_sz_1)，範圍 [-1, +1]
• 門檻 ±0.1：買方壓力 &gt;10% 時 Bid，賣方壓力 &gt;10% 時 Ask，其他 No Quote
■ HLS 除法優化
• 原始公式有除法（FPGA 耗資源），優化為整數比較
• 10×(bid-ask) &gt; bid+ask 等同 imbalance &gt; 0.1（無除法）
• 這是精確等效，非近似，已通過 405,528 rows 100% 驗證
■ II=1 的意義
• Initiation Interval = 1：每個時鐘週期可接受一個新輸入
• Pipeline throughput = 1 input/cycle，最高吞吐量
• 對 HFT 很重要：每個 L2 事件都必須即時處理
■ 當前限制
• Vitis HLS / Vivado HLS 尚未執行，無 vendor synthesis report
• 所有 resource 估算（LUT, FF, DSP 等）為預估值，非 vendor 確認
• C++ &amp; testbench 已備妥，可在 PYNQ-Z2 toolchain 上直接 synthesis
Q: 為什麼不直接說通過 FPGA 合成？
A: Vitis HLS 工具目前不可用。C++ 功能等效已驗證，但 vendor synthesis（LUT/FF/DSP counts, timing closure）尚未執行。這是工具可用性問題，非設計問題。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Phase 06B — PHC-lite 固定點等效性驗證
■ 量化格式說明
• 24-bit total, 12-bit fractional = Q12.12 固定點格式
• 整數部分 12 bits（含符號位）→ 範圍 [-2048, 2048)
• 小數部分 12 bits → 精度 2^(-12) ≈ 0.000244
• 為何選 24/12？在精度與 FPGA 資源間的平衡點
■ 兩種等效性測試的差異
• ① Streaming 等效：FP32 batch 推論 vs FP32 streaming 逐事件推論；score diff &lt; 1e-4，action agreement 100%。這驗證 batch 轉 streaming 沒有 bug。
• ② 固定點等效：FP32 streaming vs 24b/12b 固定點模擬；action agreement ~99.78%，驗證量化精度損失可接受。
■ Action agreement 99.78% 的含義
• 約 0.22% 的決策在 FP32 vs fixed-point 之間不同
• 主要發生在 score 非常接近 0 的「邊界案例」（本來就很難決策的情況）
• PnL delta &lt; 2,500 NTD（佔整體 PnL &lt; 0.2%），材料退化未超過 FP32 PnL 95% 容忍度
■ 資源估算
• 1,203 參數 + 16 state elements
• State memory 384 bits = 16 × 24 bits，可放入 FPGA register
• 1,056 MAC/event：每次 L2 事件需要的乘加運算，估算 DSP 使用量
Q: 固定點 PnL 比 FP32 高 960 NTD（val），這合理嗎？
A: 是合理的。量化引入的微小差異可能偶然讓某些邊界案例「剛好」做出更好的決策，正負 delta 都是正常的量化噪聲。重要的是 delta 絕對值 &lt; 2,500 NTD，遠小於整體 PnL。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Phase 06C — TCN hls4ml（進行中）
■ TCN 是什麼？
• Temporal Convolutional Network：使用 dilated causal convolutions（膨脹因果卷積）捕捉不同時間尺度特徵
• 優點：完全並行化（比 RNN 更適合 FPGA），感受野可精確控制
• hls4ml：HLS for Machine Learning，PyTorch → Keras → HLS RTL 自動轉換框架
■ 18 Features 組成
• Base 16 features：Phase 05A 的 PHC-lite 因果 L2 microstructure 特徵
• 新增 2 features：
  - hawkes_excite：Hawkes 過程興奮度估計（訂單到達率的自激勵程度），train 集 fit scaler
  - causal time_in_session_norm：交易時段內時間歸一化（因果版，不洩漏未來）
■ 當前訓練狀態
• Epoch 42 / 200，val PnL = 1,070,245 NTD（持續上升）
• 從 Ep1 的 -843K 到 Ep42 的 +1,070K，學習曲線健康
• 最終期望接近或超過 PHC-lite v1 的 1.93M NTD
■ 尚未完成的工作
• Multi-seed 訓練（seed 1, 2 未啟動）
• Seed stability, matched-random, OOS 驗證
• hls4ml conversion（prj 已建立，待模型完成）
• 18-feat variant 尚未啟動
Q: 為何 Epoch 1 PnL 是負的（-843K）？
A: 模型初始化為隨機權重，初期預測幾乎是雜訊，導致 action PnL 為負。隨著訓練 PnL 從負轉正並持續上升，這是正常的學習曲線。
Q: TCN 比 PHC-lite 好在哪裡？
A: 尚未有完整結果。TCN 的期望優勢是更大感受野（多時間尺度）和 hls4ml 自動轉換路徑。但目前只有 epoch 42，最終結論待完成後評估。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進度總結 &amp; 下一步
■ 整體架構成就摘要
• 從根本上重建評估框架（舊 session-final markout → short-horizon sequential proxy PnL）
• 建立嚴格的 validation-only 選擇紀律和完整的 claim boundary 文件
• PHC-lite v1 是核心成果：1,203 參數，val PnL 192萬，全 splits/seeds 通過，已 frozen
■ 宣稱邊界總結（被問必答）
• 所有 PnL = proxy simulation，不等於現實獲利
• FPGA 相關：功能等效驗證 + 靜態資源估算，未執行 vendor synthesis，未 board test
• NEW5 已用於 HGB holdout；PHC-lite 的 NEW5 holdout 尚未執行
■ 各已完成里程碑的意義
• Queue rule HLS-ready C++：算法已準備好可 synthesis，等 Vitis HLS 環境
• Fixed-point (24b/12b)：99.78% action agreement，&lt;0.2% PnL loss，量化可行
• PHC-STP v2 採用：通過所有 6 個 gate，+5.7% val vs v1
■ 下一步優先順序
1. 完成 06C TCN 訓練（multi-seed + 所有 gate 驗證）
2. 建置 Vitis HLS 環境（PYNQ-Z2 synthesis）
3. 執行 PHC-lite v1/v2 的 NEW5 one-shot holdout
4. 06B 固定點流程套用至 PHC-STP v2
Q: 什麼時候才能說系統「ready for production」？
A: 目前的研究目標是方法論驗證，而非生產部署。要達到 production 還需要：(1) NEW5 holdout 通過，(2) FPGA synthesis 驗證，(3) live market testing。這些都超出了本研究專題的當前 scope。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4A90D9">
              <a:alpha val="45000"/>
            </a:srgbClr>
          </a:solidFill>
          <a:ln w="12700">
            <a:solidFill>
              <a:srgbClr val="4A90D9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2011680" cy="320040"/>
          </a:xfrm>
          <a:prstGeom prst="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HFT / FPGA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n2ew_era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全進度報告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6576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</a:rPr>
              <a:t>Phase 00 → 06C  ·  TXF台指期  ·  2026.06.05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嚴格 validation-only 選擇 · 因果特徵 · 禁止宣稱現實世界獲利或 FPGA PnL 提升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專題全局路線圖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出發點：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舊 baseline 的正 EV 主要來自 session 末段方向性 markout，而非即時做市邊際。Project reset → 目標改為 short-horizon sequential proxy PnL。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987552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98755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7276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10512"/>
            <a:ext cx="98755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Project Reset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&amp; Data Contract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07592" y="1463040"/>
            <a:ext cx="987552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07592" y="1463040"/>
            <a:ext cx="98755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157276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01-03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07592" y="1810512"/>
            <a:ext cx="98755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L2 Universe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&amp; Baselines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40864" y="1463040"/>
            <a:ext cx="987552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40864" y="1463040"/>
            <a:ext cx="98755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0864" y="157276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40864" y="1810512"/>
            <a:ext cx="98755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TXF Dev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+ NEW5 Holdout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74136" y="1463040"/>
            <a:ext cx="987552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74136" y="1463040"/>
            <a:ext cx="98755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157276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05A-C0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74136" y="1810512"/>
            <a:ext cx="98755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PHC-lite v1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FREEZE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07408" y="1463040"/>
            <a:ext cx="987552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07408" y="1463040"/>
            <a:ext cx="98755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157276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05C4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07408" y="1810512"/>
            <a:ext cx="98755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PHC-STP 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Adopted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1463040"/>
            <a:ext cx="987552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0680" y="1463040"/>
            <a:ext cx="98755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57276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1810512"/>
            <a:ext cx="98755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Oracle Gap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Analysis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73952" y="1463040"/>
            <a:ext cx="987552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73952" y="1463040"/>
            <a:ext cx="98755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157276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06A-B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73952" y="1810512"/>
            <a:ext cx="98755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HLS 準備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固定點等效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07224" y="1463040"/>
            <a:ext cx="987552" cy="868680"/>
          </a:xfrm>
          <a:prstGeom prst="rect">
            <a:avLst/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07224" y="1463040"/>
            <a:ext cx="987552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07224" y="157276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07224" y="1810512"/>
            <a:ext cx="98755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TCN hls4ml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(進行中)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251460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5146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已完成 (重要里程碑)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926080" y="251460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25146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進行中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89120" y="2514600"/>
            <a:ext cx="164592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25146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已完成 (支援/分析)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859536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資料切分 (TXF-only，嚴格因果分隔)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47472" y="3218688"/>
            <a:ext cx="16642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7472" y="3218688"/>
            <a:ext cx="16642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218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02336" y="3511296"/>
            <a:ext cx="1554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NEW1+NEW2 前段
</a:t>
            </a:r>
            <a:endParaRPr lang="en-US" sz="8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247萬 events
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77,194 seq windows
</a:t>
            </a:r>
            <a:endParaRPr lang="en-US" sz="85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模型訓練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048256" y="3218688"/>
            <a:ext cx="16642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048256" y="3218688"/>
            <a:ext cx="1664208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48256" y="3218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103120" y="3511296"/>
            <a:ext cx="1554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NEW1+NEW2 後段
</a:t>
            </a:r>
            <a:endParaRPr lang="en-US" sz="8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266萬 events
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82,960 seq windows
</a:t>
            </a:r>
            <a:endParaRPr lang="en-US" sz="850" dirty="0"/>
          </a:p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模型選擇 (唯一)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749040" y="3218688"/>
            <a:ext cx="16642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749040" y="3218688"/>
            <a:ext cx="1664208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3218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803904" y="3511296"/>
            <a:ext cx="1554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20260123-0127
</a:t>
            </a:r>
            <a:endParaRPr lang="en-US" sz="8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566萬 events
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176,754 seq windows
</a:t>
            </a:r>
            <a:endParaRPr lang="en-US" sz="85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Diagnostic OOS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449824" y="3218688"/>
            <a:ext cx="16642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449824" y="3218688"/>
            <a:ext cx="1664208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49824" y="3218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04688" y="3511296"/>
            <a:ext cx="1554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20260126-0127
</a:t>
            </a:r>
            <a:endParaRPr lang="en-US" sz="8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220萬 events
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68,620 seq windows
</a:t>
            </a:r>
            <a:endParaRPr lang="en-US" sz="85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Diagnostic OOS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150608" y="3218688"/>
            <a:ext cx="1664208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150608" y="3218688"/>
            <a:ext cx="166420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50608" y="3218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NEW5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205472" y="3511296"/>
            <a:ext cx="1554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20260128
</a:t>
            </a:r>
            <a:endParaRPr lang="en-US" sz="8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82萬 events
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—
</a:t>
            </a:r>
            <a:endParaRPr lang="en-US" sz="85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One-shot Holdout ✓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04：TXF 開發決策 + NEW5 一次性最終 Holdout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  ML (HGB) 通過 NEW5 holdout：action PnL 1,564萬 &gt; Queue 1,144萬；matched-random empirical p &lt; 0.001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1645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15.6M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865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ML Action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Excess PnL (H20)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NEW5 holdout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65960" y="1298448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298448"/>
            <a:ext cx="164592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3898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11.4M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11680" y="1865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Queue Rule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Excess PnL (H20)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11680" y="21214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NEW5 holdout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0" y="1298448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1298448"/>
            <a:ext cx="1645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3898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893K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03320" y="1865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ML Causal-Fill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Sequential PnL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03320" y="21214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Proxy simulator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49240" y="1298448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49240" y="1298448"/>
            <a:ext cx="164592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3898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723K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94960" y="1865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Queue Causal-Fill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Sequential PnL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94960" y="21214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Proxy simulator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040880" y="1298448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1298448"/>
            <a:ext cx="1645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13898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0.001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086600" y="1865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Matched Random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P-value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86600" y="21214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1000 trials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" y="2487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Claim Safety Table（Phase 04C）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88920"/>
          <a:ext cx="859536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4572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主張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狀態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說明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ML 擊敗 matched-random 95p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frozen ML 在 NEW5 通過精確 matched-random 門檻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ML causal-fill sequential PnL 為正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proxy simulator 下正 PnL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ML 超越 queue rule（causal-fill）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同一 NEW5 causal-fill proxy 下 ML &gt; queue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NEW5 用於調參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✗ FORBIDDEN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NEW5 僅用於一次性 holdout，不調參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證明現實世界獲利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✗ FORBIDDEN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僅為 TXF-only proxy holdout evidence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05A：PHC-lite v1 – 架構與訓練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04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架構概述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模型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36192" y="11704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PHC-lite v1（非完整 PHCSSM）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517904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17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Hidden Dim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36192" y="151790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65376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65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MTL Steps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36192" y="186537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Seq Len / Stride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36192" y="221284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128 / 32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參數量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36192" y="25603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1,203（極小）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907792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07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輸入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36192" y="290779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因果 L2 微結構特徵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255264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55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編碼器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36192" y="325526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Linear encoder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02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時序更新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36192" y="360273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Learned decay/gating recurrent state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50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輸出頭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536192" y="395020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Bid / Ask action-value readout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297680"/>
            <a:ext cx="1097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目標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536192" y="4297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excess_pnl_H20（H=20 ticks）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731520"/>
            <a:ext cx="420624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804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訓練結果（Seed 0）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1170432"/>
            <a:ext cx="12344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1704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Best Epoch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62472" y="117043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48（max 50，val PnL 仍在高點）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1554480"/>
            <a:ext cx="12344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 Loss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62472" y="155448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0.2376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1938528"/>
            <a:ext cx="12344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938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 Loss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62472" y="19385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0.2041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2322576"/>
            <a:ext cx="12344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3225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 Policy PnL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62472" y="232257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1,927,170 NTD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2706624"/>
            <a:ext cx="12344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2706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 Spearman Bid/Ask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062472" y="270662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0.3123 / 0.3133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3090672"/>
            <a:ext cx="12344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0906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 PR-AUC Bid/Ask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62472" y="309067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0.4829 / 0.4747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3474720"/>
            <a:ext cx="123444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474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Grad Norm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62472" y="347472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0.0987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3858768"/>
            <a:ext cx="12344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3858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⚠ 收斂備注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062472" y="385876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Seed 0 跑到 epoch 50 上限；val PnL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仍近高水位，v1 frozen 可接受但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未來 ablation 需監控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PHC-lite v1 vs Baselines：Action PnL &amp; Causal-Fill PnL 比較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① Action-level Excess PnL（H=20，proxy，NTD）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09728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463040"/>
                <a:gridCol w="1645920"/>
                <a:gridCol w="1417320"/>
                <a:gridCol w="14173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Queue 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HGB (ML)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PHC-lite v1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PHC vs Queue (↑)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PHC vs HGB (↑)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1,237,140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1,671,680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1,927,170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+55.8%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+15.3%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NEW3 (OOS)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2,954,770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4,010,580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5,021,520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+70.0%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+25.2%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NEW4 (OOS)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1,003,910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1,395,420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1,762,500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+75.6%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+26.3%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148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② Causal-Fill Sequential PnL（proxy，inventory cap=1，NTD）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41448"/>
          <a:ext cx="8595360" cy="109728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463040"/>
                <a:gridCol w="1645920"/>
                <a:gridCol w="1417320"/>
                <a:gridCol w="14173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Queue 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HGB (ML)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PHC-lite v1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PHC Win 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PHC Avg Trade PnL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103,260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142,435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170,310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46.5%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25.2 NTD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NEW3 (OOS)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303,700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411,090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488,870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49.9%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32.3 NTD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NEW4 (OOS)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72,415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97,680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121,765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48.5%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29.6 NTD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630168"/>
            <a:ext cx="416052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5720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Matched Random 檢定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3977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Val / NEW3 / NEW4 在 1000 次精確 matched-random trial 中，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empirical p-value &lt; 0.001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（0 次 random trial ≥ PHC-lite PnL）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663440" y="3630168"/>
            <a:ext cx="420624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846320" y="3675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3-Seed 穩定性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46320" y="39776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Seed 0 (ep48), Seed 1 (ep50), Seed 2 (ep47)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全部通過：</a:t>
            </a:r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matched-random ✓  beats-queue ✓  beats-HGB ✓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Val PnL 範圍：1.80M – 1.93M NTD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05C4：PHC-STP v2（Cosine LR）— 採用為最佳序列模型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變更：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在 PHC-lite + STP-like dynamic synaptic gain 基礎上，加入 CosineAnnealingLR（T_max=200, η_min=1e-5）。架構不變，全部 seeds 從頭訓練。收斂問題關閉：全 seeds early_stop=True, best_epoch &lt; 185。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採用門檻（全部通過）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4114800" cy="26517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3895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✓  Convergence closed（all seeds early_stop, ep &lt; 185）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114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38528"/>
            <a:ext cx="3895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✓  Seed stability（all seeds × splits action PnL &gt; 0）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4114800" cy="26517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49424"/>
            <a:ext cx="3895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✓  Matched random（val / NEW3 / NEW4 beat 95p）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4114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560320"/>
            <a:ext cx="3895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✓  OOS improvement（NEW3 / NEW4 ≥ PHC-lite v1）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4114800" cy="26517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871216"/>
            <a:ext cx="3895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✓  Causal-fill improvement（val / NEW3 / NEW4 ≥ v1）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182112"/>
            <a:ext cx="4114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82112"/>
            <a:ext cx="3895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✓  Oracle capture improvement（≥ v1 on all splits）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vs PHC-lite v1 增量（Seed 2 selected）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27632"/>
          <a:ext cx="4206240" cy="1243584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128016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v1 Action PnL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v2 Action PnL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1,927,170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2,037,925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+5.7%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5,021,520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5,237,410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+4.3%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1,762,500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1,871,680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+6.2%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663440" y="29992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Causal-Fill Δ vs v1（NTD）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55264"/>
          <a:ext cx="4206240" cy="109728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9728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v2 (05c4)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170,310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171,835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+1,525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488,870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611,095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+122,225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121,765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129,160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+7,395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274320" y="3584448"/>
            <a:ext cx="4114800" cy="128016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57200" y="363016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⚠ 注意：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05c4 在 action PnL / oracle capture 上未超過 05c3，但 05c3 收斂未完成（convergence-incomplete）。採用依據是通過全部正式 gate vs frozen v1，而非絕對最高 PnL。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05D：Oracle Gap 分析 — 維持 PHC-lite v1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04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Oracle Capture Ratio：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policy PnL ÷ oracle（PHC-window 內非因果最優策略）PnL。</a:t>
            </a:r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</a:rPr>
              <a:t>  僅作診斷，oracle 使用未來標籤，不可作為可交易策略。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350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各模型 Oracle Capture（val，NEW5 post-hoc）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27632"/>
          <a:ext cx="8595360" cy="201168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280160"/>
                <a:gridCol w="164592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 Action PnL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CF PnL (val)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Oracle Capture (val)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採用狀態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Queue Rule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1,237,140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103,260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13.9%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frozen baseline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HGB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1,671,680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142,435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18.5%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frozen baseline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PHC-lite v1 (ref)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1,927,170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</a:rPr>
                        <a:t>170,310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</a:rPr>
                        <a:t>24.9%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frozen reference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PHC-STP 120 epoch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2,061,560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181,945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26.7%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未採用（收斂不完整）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PHC Rank Head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1,987,940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174,780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25.7%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未採用（seed stability caveat）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PHC Uncertainty Gating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1,922,200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166,695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24.9%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未採用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PHC Streaming Dense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63,381,400*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2,914,700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25.6%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64748B"/>
                          </a:solidFill>
                        </a:rPr>
                        <a:t>HLS feasibility diagnostic only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675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* Streaming Dense 之 action PnL 為多 MTL-step 模式，與其他單 step 模型不可直接比較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74320" y="3931920"/>
            <a:ext cx="8595360" cy="96012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最終建議：keep_phc_lite_v1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所有改進嘗試均未通過完整 gate 或出現 seed stability caveat。Oracle metric 為非因果診斷，不得用作可交易策略依據。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06A：Queue Rule HLS C++ 實作 &amp; 可行性驗證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49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Queue Rule 邏輯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imbalance = (bid − ask) / (bid + ask)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Bid if  imbalance &gt; +0.1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Ask if  imbalance &lt; −0.1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Quote otherwise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HLS 無除法優化：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10×(bid−ask) &gt; bid+ask  →  Bid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10×(ask−bid) &gt; bid+ask  →  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685800"/>
            <a:ext cx="420624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驗證結果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Python vs C++ reference：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100% agreement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408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測試筆數：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405,528 rows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700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Mismatch：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482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目標裝置：PYNQ-Z2 / Zynq-7020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3042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Expected II：1  (pipeline pragma)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5603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Division：False（整數比較）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Resource Pressure：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very_low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41148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355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HLS 工具鏈狀態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Vitis HLS / Vivado HLS：Not available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959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→ 無 vendor synthesis report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C++ &amp; testbench 已備妥，</a:t>
            </a:r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可在 PYNQ-Z2 toolchain 上直接跑 synthesis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4206240" cy="16002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355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重要聲明邊界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✗  不聲稱 FPGA 提升 PnL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931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✗  不聲稱現實世界獲利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4187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✗  不聲稱 true exchange replay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4462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僅驗證功能等效性 &amp; 靜態延遲估算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06B：PHC-lite Streaming 固定點等效性驗證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41148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  最終狀態：phc_streaming_fixed_point_ready　|　量化格式：24-bit total, 12-bit fractional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① Streaming 等效性（FP32 batch → streaming 逐事件推論）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99616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645920"/>
                <a:gridCol w="1737360"/>
                <a:gridCol w="274320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Row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Max Score Diff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Mean Score Diff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Action Agreement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82,960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7.63e-05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2.97e-07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176,754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8.39e-05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2.93e-07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68,620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7.63e-05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2.90e-07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2514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② 固定點模擬等效性（24b/12b emulation vs FP32）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07208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188720"/>
                <a:gridCol w="1463040"/>
                <a:gridCol w="1463040"/>
                <a:gridCol w="21945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Action Agr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Selected Agr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FP32 PnL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Fixed PnL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PnL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99.76%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99.76%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1,927,170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1,928,130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+960 NTD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99.80%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99.82%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5,021,520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5,019,460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-2,060 NTD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99.78%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99.79%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1,762,500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1,760,530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-1,965 NTD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7947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③ 靜態資源估算（Pre-HLS，非 Vendor Synthesis）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4114800"/>
            <a:ext cx="1645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7432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1,203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2004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F"/>
                </a:solidFill>
              </a:rPr>
              <a:t>Parameters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965960" y="4114800"/>
            <a:ext cx="1645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96596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01168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F"/>
                </a:solidFill>
              </a:rPr>
              <a:t>State Elements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0" y="4114800"/>
            <a:ext cx="1645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65760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384 bits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70332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F"/>
                </a:solidFill>
              </a:rPr>
              <a:t>State Memory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349240" y="4114800"/>
            <a:ext cx="1645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34924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1,056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539496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F"/>
                </a:solidFill>
              </a:rPr>
              <a:t>MAC / Event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7040880" y="4114800"/>
            <a:ext cx="1645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040880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2,500 NTD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08660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F"/>
                </a:solidFill>
              </a:rPr>
              <a:t>PnL Delta (max)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06C：TCN Action Value + hls4ml 轉換  [進行中]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目標：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訓練 TCN action value model，透過 hls4ml 框架將 PyTorch 自動轉換為 HLS RTL，探索 FPGA 加速路徑。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07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18-Feature 序列資料集（已完成）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Base：Phase 05A PHC-lite 序列張量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新增：hawkes_excite + causal time_in_session_norm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Product：TXF-only　　seq_len=128, stride=32, H20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50592"/>
          <a:ext cx="3657600" cy="1024128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Windows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Train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247萬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77,194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Val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266萬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82,960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NEW3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566萬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176,754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NEW4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220萬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68,620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663440" y="1234440"/>
            <a:ext cx="4206240" cy="242316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46320" y="1307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訓練進度（Seed 0，16-feat variant）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46320" y="1627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目前進度：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Epoch 42 / 200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46320" y="1892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最新 Val PnL：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1,070,245 NTD（持續攀升中）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21579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Ep 1: −843,000  →  Ep 10: +29,470  →  Ep 42: +1,070,245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46320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⚠ 尚未完成：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46320" y="27523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多 seed 訓練（seed 1, 2 未啟動）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46320" y="2990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Seed stability / matched-random 驗證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hls4ml conversion（prj 建立，待模型完成）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46320" y="34655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18-feat variant 尚未啟動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4320" y="379476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06C 工作流程狀態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56032" y="4069080"/>
            <a:ext cx="841248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56032" y="4069080"/>
            <a:ext cx="84124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00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56032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Build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Dataset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256032" y="469087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115568" y="4069080"/>
            <a:ext cx="841248" cy="822960"/>
          </a:xfrm>
          <a:prstGeom prst="rect">
            <a:avLst/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115568" y="4069080"/>
            <a:ext cx="84124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15568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15568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Train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Seeds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15568" y="469087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▶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975104" y="4069080"/>
            <a:ext cx="841248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975104" y="4069080"/>
            <a:ext cx="84124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75104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975104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Select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Policy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2834640" y="4069080"/>
            <a:ext cx="841248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834640" y="4069080"/>
            <a:ext cx="84124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834640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2834640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OOS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Eval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694176" y="4069080"/>
            <a:ext cx="841248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3694176" y="4069080"/>
            <a:ext cx="84124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694176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3694176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Matched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Random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553712" y="4069080"/>
            <a:ext cx="841248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553712" y="4069080"/>
            <a:ext cx="84124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53712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553712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Causal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Fill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5413248" y="4069080"/>
            <a:ext cx="841248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5413248" y="4069080"/>
            <a:ext cx="84124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13248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5413248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Seed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Stability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272784" y="4069080"/>
            <a:ext cx="841248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272784" y="4069080"/>
            <a:ext cx="84124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72784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272784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Oracle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Capture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7132320" y="4069080"/>
            <a:ext cx="841248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7132320" y="4069080"/>
            <a:ext cx="84124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132320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7132320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hls4ml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Convert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7991856" y="4069080"/>
            <a:ext cx="841248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7991856" y="4069080"/>
            <a:ext cx="84124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991856" y="40690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7991856" y="4270248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Final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Report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進度總結 &amp; 下一步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4572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4023360" cy="3886200"/>
          </a:xfrm>
          <a:prstGeom prst="rect">
            <a:avLst/>
          </a:prstGeom>
          <a:solidFill>
            <a:srgbClr val="1A3060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✅  已達成里程碑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44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資料切分 &amp; 評估框架完全確立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179222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Queue rule (HLS-ready C++) 通過 100% 等效驗證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HGB 通過 NEW5 one-shot holdout（p &lt; 0.001）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PHC-lite v1 Frozen：1,203 參數，val PnL 1.93M，全 splits / seeds 通過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PHC-STP v2（05c4）採用：val +5.7% vs v1，全 6 gates PASS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1821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固定點模擬（24b/12b）：action agreement 99.75-99.8%，PnL delta &lt; 2,500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352958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Streaming inference feasibility confirmed（1,056 MAC/event）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387705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Oracle gap analysis 完成：維持 PHC-lite v1 作為 reference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1005840"/>
            <a:ext cx="3840480" cy="3886200"/>
          </a:xfrm>
          <a:prstGeom prst="rect">
            <a:avLst/>
          </a:prstGeom>
          <a:solidFill>
            <a:srgbClr val="1A306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66360" y="1078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🔜  下一步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1444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06C 完成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</a:rPr>
              <a:t>多 seed 訓練 + 穩定性驗證 + matched-random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1993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06C hls4ml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</a:rPr>
              <a:t>PyTorch TCN → HLS RTL 轉換，static resource report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FPGA 工具鏈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</a:rPr>
              <a:t>Vitis HLS 環境建置（PYNQ-Z2 synthesis）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3090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PHC-STP v2 固定點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</a:rPr>
              <a:t>06B 流程套用至 PHC-STP v2（05c4）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36393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NEW5 on PHC-lite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E8"/>
                </a:solidFill>
              </a:rPr>
              <a:t>PHC-lite v1/v2 on NEW5 one-shot holdout (not yet run)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所有結果均為 TXF-only proxy evaluation。不聲稱現實世界獲利、true exchange replay、或 FPGA 提升 PnL。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n2ew_era HFT Project Progress</dc:title>
  <dc:subject>PptxGenJS Presentation</dc:subject>
  <dc:creator>PptxGenJS</dc:creator>
  <cp:lastModifiedBy>PptxGenJS</cp:lastModifiedBy>
  <cp:revision>1</cp:revision>
  <dcterms:created xsi:type="dcterms:W3CDTF">2026-06-05T08:56:38Z</dcterms:created>
  <dcterms:modified xsi:type="dcterms:W3CDTF">2026-06-05T08:56:38Z</dcterms:modified>
</cp:coreProperties>
</file>