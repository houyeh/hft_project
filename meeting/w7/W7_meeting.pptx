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62" r:id="rId3"/>
    <p:sldId id="276" r:id="rId4"/>
    <p:sldId id="286" r:id="rId5"/>
    <p:sldId id="274" r:id="rId6"/>
    <p:sldId id="295" r:id="rId7"/>
    <p:sldId id="298" r:id="rId8"/>
    <p:sldId id="277" r:id="rId9"/>
    <p:sldId id="296" r:id="rId10"/>
    <p:sldId id="275" r:id="rId11"/>
    <p:sldId id="294" r:id="rId12"/>
    <p:sldId id="300" r:id="rId13"/>
    <p:sldId id="299" r:id="rId14"/>
    <p:sldId id="281" r:id="rId15"/>
    <p:sldId id="289" r:id="rId16"/>
    <p:sldId id="266" r:id="rId17"/>
    <p:sldId id="26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7" autoAdjust="0"/>
    <p:restoredTop sz="69646" autoAdjust="0"/>
  </p:normalViewPr>
  <p:slideViewPr>
    <p:cSldViewPr snapToGrid="0">
      <p:cViewPr>
        <p:scale>
          <a:sx n="66" d="100"/>
          <a:sy n="66" d="100"/>
        </p:scale>
        <p:origin x="879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88AE07-3A81-456D-A1F5-0B247CFAF597}" type="doc">
      <dgm:prSet loTypeId="urn:microsoft.com/office/officeart/2005/8/layout/hProcess9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LID4096"/>
        </a:p>
      </dgm:t>
    </dgm:pt>
    <dgm:pt modelId="{AC1899BD-4079-4598-9EB6-7F11839A8FC5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pPr>
            <a:buNone/>
          </a:pPr>
          <a:r>
            <a:rPr lang="en-US" sz="1800" b="0" dirty="0"/>
            <a:t>replay 1_TW </a:t>
          </a:r>
          <a:r>
            <a:rPr lang="en-US" sz="2300" b="0" dirty="0"/>
            <a:t>Data</a:t>
          </a:r>
          <a:endParaRPr lang="LID4096" sz="2300" dirty="0"/>
        </a:p>
      </dgm:t>
    </dgm:pt>
    <dgm:pt modelId="{115D8043-EDE2-450B-80C9-25974D61B11B}" type="parTrans" cxnId="{EF95F5E5-FAAE-43DC-85FA-176FDDA9395F}">
      <dgm:prSet/>
      <dgm:spPr/>
      <dgm:t>
        <a:bodyPr/>
        <a:lstStyle/>
        <a:p>
          <a:endParaRPr lang="LID4096"/>
        </a:p>
      </dgm:t>
    </dgm:pt>
    <dgm:pt modelId="{F8BA5C2C-2BE6-4720-8046-3D163B0A871F}" type="sibTrans" cxnId="{EF95F5E5-FAAE-43DC-85FA-176FDDA9395F}">
      <dgm:prSet/>
      <dgm:spPr/>
      <dgm:t>
        <a:bodyPr/>
        <a:lstStyle/>
        <a:p>
          <a:endParaRPr lang="LID4096"/>
        </a:p>
      </dgm:t>
    </dgm:pt>
    <dgm:pt modelId="{551D679D-648A-4012-9FAC-FB8E2EB07219}">
      <dgm:prSet phldrT="[Text]"/>
      <dgm:spPr>
        <a:ln>
          <a:solidFill>
            <a:schemeClr val="tx1"/>
          </a:solidFill>
        </a:ln>
      </dgm:spPr>
      <dgm:t>
        <a:bodyPr/>
        <a:lstStyle/>
        <a:p>
          <a:pPr>
            <a:buNone/>
          </a:pPr>
          <a:r>
            <a:rPr lang="en-US" b="0" dirty="0"/>
            <a:t> Train TCN</a:t>
          </a:r>
          <a:endParaRPr lang="LID4096" dirty="0"/>
        </a:p>
      </dgm:t>
    </dgm:pt>
    <dgm:pt modelId="{CE4060DC-862D-483A-A57C-5B9574F64459}" type="parTrans" cxnId="{A2108B4C-DD83-42D7-A125-7575BB2BA734}">
      <dgm:prSet/>
      <dgm:spPr/>
      <dgm:t>
        <a:bodyPr/>
        <a:lstStyle/>
        <a:p>
          <a:endParaRPr lang="LID4096"/>
        </a:p>
      </dgm:t>
    </dgm:pt>
    <dgm:pt modelId="{08A8E0E7-2327-446C-BE62-37327146ED6A}" type="sibTrans" cxnId="{A2108B4C-DD83-42D7-A125-7575BB2BA734}">
      <dgm:prSet/>
      <dgm:spPr/>
      <dgm:t>
        <a:bodyPr/>
        <a:lstStyle/>
        <a:p>
          <a:endParaRPr lang="LID4096"/>
        </a:p>
      </dgm:t>
    </dgm:pt>
    <dgm:pt modelId="{BBF52F79-8FA3-41C6-AFF7-3594079120BE}">
      <dgm:prSet phldrT="[Text]"/>
      <dgm:spPr>
        <a:ln>
          <a:solidFill>
            <a:schemeClr val="tx1"/>
          </a:solidFill>
        </a:ln>
      </dgm:spPr>
      <dgm:t>
        <a:bodyPr/>
        <a:lstStyle/>
        <a:p>
          <a:pPr>
            <a:buNone/>
          </a:pPr>
          <a:r>
            <a:rPr lang="en-US" b="0" dirty="0"/>
            <a:t> </a:t>
          </a:r>
          <a:r>
            <a:rPr lang="en-US" b="0" dirty="0" err="1"/>
            <a:t>Backtest</a:t>
          </a:r>
          <a:endParaRPr lang="LID4096" dirty="0"/>
        </a:p>
      </dgm:t>
    </dgm:pt>
    <dgm:pt modelId="{343777C6-119D-4972-AB2F-1E3260358A4F}" type="parTrans" cxnId="{9485BC85-59E5-4E8A-A76D-8726C44501E5}">
      <dgm:prSet/>
      <dgm:spPr/>
      <dgm:t>
        <a:bodyPr/>
        <a:lstStyle/>
        <a:p>
          <a:endParaRPr lang="LID4096"/>
        </a:p>
      </dgm:t>
    </dgm:pt>
    <dgm:pt modelId="{310242AE-D433-44C5-B542-73B72F3CE623}" type="sibTrans" cxnId="{9485BC85-59E5-4E8A-A76D-8726C44501E5}">
      <dgm:prSet/>
      <dgm:spPr/>
      <dgm:t>
        <a:bodyPr/>
        <a:lstStyle/>
        <a:p>
          <a:endParaRPr lang="LID4096"/>
        </a:p>
      </dgm:t>
    </dgm:pt>
    <dgm:pt modelId="{3647F5DD-2F34-4618-A89F-A054CB04BB01}">
      <dgm:prSet phldrT="[Text]"/>
      <dgm:spPr>
        <a:ln>
          <a:solidFill>
            <a:schemeClr val="tx1"/>
          </a:solidFill>
        </a:ln>
      </dgm:spPr>
      <dgm:t>
        <a:bodyPr/>
        <a:lstStyle/>
        <a:p>
          <a:pPr>
            <a:buNone/>
          </a:pPr>
          <a:r>
            <a:rPr lang="zh-TW" altLang="en-US" b="0" dirty="0"/>
            <a:t>轉</a:t>
          </a:r>
          <a:r>
            <a:rPr lang="en-US" b="0" dirty="0"/>
            <a:t>INT8</a:t>
          </a:r>
          <a:endParaRPr lang="LID4096" dirty="0"/>
        </a:p>
      </dgm:t>
    </dgm:pt>
    <dgm:pt modelId="{29034B93-031C-4562-9BDE-596B41652BAA}" type="parTrans" cxnId="{E8D11E1C-C383-40A6-9921-2B27586A0F2A}">
      <dgm:prSet/>
      <dgm:spPr/>
      <dgm:t>
        <a:bodyPr/>
        <a:lstStyle/>
        <a:p>
          <a:endParaRPr lang="LID4096"/>
        </a:p>
      </dgm:t>
    </dgm:pt>
    <dgm:pt modelId="{3A925C95-801B-4115-9DF4-57B816F6FC60}" type="sibTrans" cxnId="{E8D11E1C-C383-40A6-9921-2B27586A0F2A}">
      <dgm:prSet/>
      <dgm:spPr/>
      <dgm:t>
        <a:bodyPr/>
        <a:lstStyle/>
        <a:p>
          <a:endParaRPr lang="LID4096"/>
        </a:p>
      </dgm:t>
    </dgm:pt>
    <dgm:pt modelId="{70B807EC-8736-4F82-A8D0-1DF87C98E3FD}">
      <dgm:prSet phldrT="[Text]"/>
      <dgm:spPr>
        <a:ln w="57150">
          <a:solidFill>
            <a:schemeClr val="tx1"/>
          </a:solidFill>
          <a:prstDash val="solid"/>
        </a:ln>
      </dgm:spPr>
      <dgm:t>
        <a:bodyPr/>
        <a:lstStyle/>
        <a:p>
          <a:pPr>
            <a:buNone/>
          </a:pPr>
          <a:r>
            <a:rPr lang="en-US" b="0" dirty="0"/>
            <a:t>HLS/FPGA</a:t>
          </a:r>
          <a:endParaRPr lang="LID4096" dirty="0"/>
        </a:p>
      </dgm:t>
    </dgm:pt>
    <dgm:pt modelId="{246A1ED6-97AD-40E7-AE5E-B30B1558EB65}" type="parTrans" cxnId="{AA02A272-3546-4E12-B684-30C3C4F08996}">
      <dgm:prSet/>
      <dgm:spPr/>
      <dgm:t>
        <a:bodyPr/>
        <a:lstStyle/>
        <a:p>
          <a:endParaRPr lang="LID4096"/>
        </a:p>
      </dgm:t>
    </dgm:pt>
    <dgm:pt modelId="{B39E61D9-D8E8-4BE1-A78B-F0A0C46DF370}" type="sibTrans" cxnId="{AA02A272-3546-4E12-B684-30C3C4F08996}">
      <dgm:prSet/>
      <dgm:spPr/>
      <dgm:t>
        <a:bodyPr/>
        <a:lstStyle/>
        <a:p>
          <a:endParaRPr lang="LID4096"/>
        </a:p>
      </dgm:t>
    </dgm:pt>
    <dgm:pt modelId="{B5CD4B9A-6051-4D4A-AEF6-C6728935B832}">
      <dgm:prSet phldrT="[Text]"/>
      <dgm:spPr>
        <a:ln>
          <a:solidFill>
            <a:schemeClr val="tx1"/>
          </a:solidFill>
        </a:ln>
      </dgm:spPr>
      <dgm:t>
        <a:bodyPr/>
        <a:lstStyle/>
        <a:p>
          <a:pPr>
            <a:buNone/>
          </a:pPr>
          <a:r>
            <a:rPr lang="en-US" b="0" dirty="0"/>
            <a:t>Features</a:t>
          </a:r>
          <a:endParaRPr lang="LID4096" dirty="0"/>
        </a:p>
      </dgm:t>
    </dgm:pt>
    <dgm:pt modelId="{5F99FA31-F576-456D-858F-3912951318D3}" type="sibTrans" cxnId="{6E915038-ABD2-4FBD-9CD0-7B515752CEC0}">
      <dgm:prSet/>
      <dgm:spPr/>
      <dgm:t>
        <a:bodyPr/>
        <a:lstStyle/>
        <a:p>
          <a:endParaRPr lang="LID4096"/>
        </a:p>
      </dgm:t>
    </dgm:pt>
    <dgm:pt modelId="{AFB429B2-7CBD-4B98-A80D-91675A4FDEEA}" type="parTrans" cxnId="{6E915038-ABD2-4FBD-9CD0-7B515752CEC0}">
      <dgm:prSet/>
      <dgm:spPr/>
      <dgm:t>
        <a:bodyPr/>
        <a:lstStyle/>
        <a:p>
          <a:endParaRPr lang="LID4096"/>
        </a:p>
      </dgm:t>
    </dgm:pt>
    <dgm:pt modelId="{D501A7D4-8952-49DD-BB41-2B1F48D6B766}" type="pres">
      <dgm:prSet presAssocID="{2788AE07-3A81-456D-A1F5-0B247CFAF597}" presName="CompostProcess" presStyleCnt="0">
        <dgm:presLayoutVars>
          <dgm:dir/>
          <dgm:resizeHandles val="exact"/>
        </dgm:presLayoutVars>
      </dgm:prSet>
      <dgm:spPr/>
    </dgm:pt>
    <dgm:pt modelId="{9F3188A9-92A1-46A0-96D5-0A19F74593A9}" type="pres">
      <dgm:prSet presAssocID="{2788AE07-3A81-456D-A1F5-0B247CFAF597}" presName="arrow" presStyleLbl="bgShp" presStyleIdx="0" presStyleCnt="1"/>
      <dgm:spPr/>
    </dgm:pt>
    <dgm:pt modelId="{D262D5A9-290D-40CF-BBF9-7FDBFC3EC1C6}" type="pres">
      <dgm:prSet presAssocID="{2788AE07-3A81-456D-A1F5-0B247CFAF597}" presName="linearProcess" presStyleCnt="0"/>
      <dgm:spPr/>
    </dgm:pt>
    <dgm:pt modelId="{9C110B16-8CEE-4585-BD25-6DA32C2286F4}" type="pres">
      <dgm:prSet presAssocID="{AC1899BD-4079-4598-9EB6-7F11839A8FC5}" presName="textNode" presStyleLbl="node1" presStyleIdx="0" presStyleCnt="6">
        <dgm:presLayoutVars>
          <dgm:bulletEnabled val="1"/>
        </dgm:presLayoutVars>
      </dgm:prSet>
      <dgm:spPr/>
    </dgm:pt>
    <dgm:pt modelId="{3725CC6C-5DC7-4E4B-8391-A66CBE720256}" type="pres">
      <dgm:prSet presAssocID="{F8BA5C2C-2BE6-4720-8046-3D163B0A871F}" presName="sibTrans" presStyleCnt="0"/>
      <dgm:spPr/>
    </dgm:pt>
    <dgm:pt modelId="{D71D2EA1-E12D-43F7-B902-9CA07B4C1D41}" type="pres">
      <dgm:prSet presAssocID="{B5CD4B9A-6051-4D4A-AEF6-C6728935B832}" presName="textNode" presStyleLbl="node1" presStyleIdx="1" presStyleCnt="6">
        <dgm:presLayoutVars>
          <dgm:bulletEnabled val="1"/>
        </dgm:presLayoutVars>
      </dgm:prSet>
      <dgm:spPr/>
    </dgm:pt>
    <dgm:pt modelId="{DDE2399D-AAB9-43E3-9330-C7FDA8BAD4CA}" type="pres">
      <dgm:prSet presAssocID="{5F99FA31-F576-456D-858F-3912951318D3}" presName="sibTrans" presStyleCnt="0"/>
      <dgm:spPr/>
    </dgm:pt>
    <dgm:pt modelId="{6C0ECDFB-C35F-47F6-9F18-82F99B6205B4}" type="pres">
      <dgm:prSet presAssocID="{551D679D-648A-4012-9FAC-FB8E2EB07219}" presName="textNode" presStyleLbl="node1" presStyleIdx="2" presStyleCnt="6">
        <dgm:presLayoutVars>
          <dgm:bulletEnabled val="1"/>
        </dgm:presLayoutVars>
      </dgm:prSet>
      <dgm:spPr/>
    </dgm:pt>
    <dgm:pt modelId="{300D7113-5D3D-4732-BD6B-14B7B844C699}" type="pres">
      <dgm:prSet presAssocID="{08A8E0E7-2327-446C-BE62-37327146ED6A}" presName="sibTrans" presStyleCnt="0"/>
      <dgm:spPr/>
    </dgm:pt>
    <dgm:pt modelId="{DB1684EB-DA79-4727-B339-8F858BDA2E92}" type="pres">
      <dgm:prSet presAssocID="{BBF52F79-8FA3-41C6-AFF7-3594079120BE}" presName="textNode" presStyleLbl="node1" presStyleIdx="3" presStyleCnt="6">
        <dgm:presLayoutVars>
          <dgm:bulletEnabled val="1"/>
        </dgm:presLayoutVars>
      </dgm:prSet>
      <dgm:spPr/>
    </dgm:pt>
    <dgm:pt modelId="{0E4904AA-9510-48B3-A7BF-BBAE0C014C2B}" type="pres">
      <dgm:prSet presAssocID="{310242AE-D433-44C5-B542-73B72F3CE623}" presName="sibTrans" presStyleCnt="0"/>
      <dgm:spPr/>
    </dgm:pt>
    <dgm:pt modelId="{E86EC5F1-8D6B-4392-BECB-EE7533CDF975}" type="pres">
      <dgm:prSet presAssocID="{3647F5DD-2F34-4618-A89F-A054CB04BB01}" presName="textNode" presStyleLbl="node1" presStyleIdx="4" presStyleCnt="6">
        <dgm:presLayoutVars>
          <dgm:bulletEnabled val="1"/>
        </dgm:presLayoutVars>
      </dgm:prSet>
      <dgm:spPr/>
    </dgm:pt>
    <dgm:pt modelId="{22A72E31-D3DA-4308-82DB-F8C08CBBC07E}" type="pres">
      <dgm:prSet presAssocID="{3A925C95-801B-4115-9DF4-57B816F6FC60}" presName="sibTrans" presStyleCnt="0"/>
      <dgm:spPr/>
    </dgm:pt>
    <dgm:pt modelId="{838B5D6C-A1AD-492B-8616-B23A13A70C4B}" type="pres">
      <dgm:prSet presAssocID="{70B807EC-8736-4F82-A8D0-1DF87C98E3FD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D027041B-F331-46F7-A448-25854FFAACF7}" type="presOf" srcId="{3647F5DD-2F34-4618-A89F-A054CB04BB01}" destId="{E86EC5F1-8D6B-4392-BECB-EE7533CDF975}" srcOrd="0" destOrd="0" presId="urn:microsoft.com/office/officeart/2005/8/layout/hProcess9"/>
    <dgm:cxn modelId="{E8D11E1C-C383-40A6-9921-2B27586A0F2A}" srcId="{2788AE07-3A81-456D-A1F5-0B247CFAF597}" destId="{3647F5DD-2F34-4618-A89F-A054CB04BB01}" srcOrd="4" destOrd="0" parTransId="{29034B93-031C-4562-9BDE-596B41652BAA}" sibTransId="{3A925C95-801B-4115-9DF4-57B816F6FC60}"/>
    <dgm:cxn modelId="{6E915038-ABD2-4FBD-9CD0-7B515752CEC0}" srcId="{2788AE07-3A81-456D-A1F5-0B247CFAF597}" destId="{B5CD4B9A-6051-4D4A-AEF6-C6728935B832}" srcOrd="1" destOrd="0" parTransId="{AFB429B2-7CBD-4B98-A80D-91675A4FDEEA}" sibTransId="{5F99FA31-F576-456D-858F-3912951318D3}"/>
    <dgm:cxn modelId="{7B80FC64-719E-49CB-8A19-491549995034}" type="presOf" srcId="{AC1899BD-4079-4598-9EB6-7F11839A8FC5}" destId="{9C110B16-8CEE-4585-BD25-6DA32C2286F4}" srcOrd="0" destOrd="0" presId="urn:microsoft.com/office/officeart/2005/8/layout/hProcess9"/>
    <dgm:cxn modelId="{7BAABA68-9BA6-4205-A909-8265423001D0}" type="presOf" srcId="{2788AE07-3A81-456D-A1F5-0B247CFAF597}" destId="{D501A7D4-8952-49DD-BB41-2B1F48D6B766}" srcOrd="0" destOrd="0" presId="urn:microsoft.com/office/officeart/2005/8/layout/hProcess9"/>
    <dgm:cxn modelId="{A2108B4C-DD83-42D7-A125-7575BB2BA734}" srcId="{2788AE07-3A81-456D-A1F5-0B247CFAF597}" destId="{551D679D-648A-4012-9FAC-FB8E2EB07219}" srcOrd="2" destOrd="0" parTransId="{CE4060DC-862D-483A-A57C-5B9574F64459}" sibTransId="{08A8E0E7-2327-446C-BE62-37327146ED6A}"/>
    <dgm:cxn modelId="{AA02A272-3546-4E12-B684-30C3C4F08996}" srcId="{2788AE07-3A81-456D-A1F5-0B247CFAF597}" destId="{70B807EC-8736-4F82-A8D0-1DF87C98E3FD}" srcOrd="5" destOrd="0" parTransId="{246A1ED6-97AD-40E7-AE5E-B30B1558EB65}" sibTransId="{B39E61D9-D8E8-4BE1-A78B-F0A0C46DF370}"/>
    <dgm:cxn modelId="{9485BC85-59E5-4E8A-A76D-8726C44501E5}" srcId="{2788AE07-3A81-456D-A1F5-0B247CFAF597}" destId="{BBF52F79-8FA3-41C6-AFF7-3594079120BE}" srcOrd="3" destOrd="0" parTransId="{343777C6-119D-4972-AB2F-1E3260358A4F}" sibTransId="{310242AE-D433-44C5-B542-73B72F3CE623}"/>
    <dgm:cxn modelId="{528F4788-EC02-4DF6-AAA9-CB4677D49D1D}" type="presOf" srcId="{70B807EC-8736-4F82-A8D0-1DF87C98E3FD}" destId="{838B5D6C-A1AD-492B-8616-B23A13A70C4B}" srcOrd="0" destOrd="0" presId="urn:microsoft.com/office/officeart/2005/8/layout/hProcess9"/>
    <dgm:cxn modelId="{DEA8EDA3-A902-45EB-B203-CAD509C51BB1}" type="presOf" srcId="{551D679D-648A-4012-9FAC-FB8E2EB07219}" destId="{6C0ECDFB-C35F-47F6-9F18-82F99B6205B4}" srcOrd="0" destOrd="0" presId="urn:microsoft.com/office/officeart/2005/8/layout/hProcess9"/>
    <dgm:cxn modelId="{AC93F3BF-6581-4457-8D51-0A52D1A77D1C}" type="presOf" srcId="{BBF52F79-8FA3-41C6-AFF7-3594079120BE}" destId="{DB1684EB-DA79-4727-B339-8F858BDA2E92}" srcOrd="0" destOrd="0" presId="urn:microsoft.com/office/officeart/2005/8/layout/hProcess9"/>
    <dgm:cxn modelId="{F3E0E7D4-F217-4831-914D-150A128EBEA5}" type="presOf" srcId="{B5CD4B9A-6051-4D4A-AEF6-C6728935B832}" destId="{D71D2EA1-E12D-43F7-B902-9CA07B4C1D41}" srcOrd="0" destOrd="0" presId="urn:microsoft.com/office/officeart/2005/8/layout/hProcess9"/>
    <dgm:cxn modelId="{EF95F5E5-FAAE-43DC-85FA-176FDDA9395F}" srcId="{2788AE07-3A81-456D-A1F5-0B247CFAF597}" destId="{AC1899BD-4079-4598-9EB6-7F11839A8FC5}" srcOrd="0" destOrd="0" parTransId="{115D8043-EDE2-450B-80C9-25974D61B11B}" sibTransId="{F8BA5C2C-2BE6-4720-8046-3D163B0A871F}"/>
    <dgm:cxn modelId="{0CF61464-8568-48B6-93BC-6A807BA3BB4F}" type="presParOf" srcId="{D501A7D4-8952-49DD-BB41-2B1F48D6B766}" destId="{9F3188A9-92A1-46A0-96D5-0A19F74593A9}" srcOrd="0" destOrd="0" presId="urn:microsoft.com/office/officeart/2005/8/layout/hProcess9"/>
    <dgm:cxn modelId="{AEBFB09F-5669-430B-BC49-3B86F48C0233}" type="presParOf" srcId="{D501A7D4-8952-49DD-BB41-2B1F48D6B766}" destId="{D262D5A9-290D-40CF-BBF9-7FDBFC3EC1C6}" srcOrd="1" destOrd="0" presId="urn:microsoft.com/office/officeart/2005/8/layout/hProcess9"/>
    <dgm:cxn modelId="{BE9FA6B2-D93E-46E4-8B1F-ECA18AF9058A}" type="presParOf" srcId="{D262D5A9-290D-40CF-BBF9-7FDBFC3EC1C6}" destId="{9C110B16-8CEE-4585-BD25-6DA32C2286F4}" srcOrd="0" destOrd="0" presId="urn:microsoft.com/office/officeart/2005/8/layout/hProcess9"/>
    <dgm:cxn modelId="{130F50C5-C594-4460-BAC3-B9250597E43D}" type="presParOf" srcId="{D262D5A9-290D-40CF-BBF9-7FDBFC3EC1C6}" destId="{3725CC6C-5DC7-4E4B-8391-A66CBE720256}" srcOrd="1" destOrd="0" presId="urn:microsoft.com/office/officeart/2005/8/layout/hProcess9"/>
    <dgm:cxn modelId="{2FDD6500-B82B-4FED-B959-105E6A4E3420}" type="presParOf" srcId="{D262D5A9-290D-40CF-BBF9-7FDBFC3EC1C6}" destId="{D71D2EA1-E12D-43F7-B902-9CA07B4C1D41}" srcOrd="2" destOrd="0" presId="urn:microsoft.com/office/officeart/2005/8/layout/hProcess9"/>
    <dgm:cxn modelId="{B12768A6-66AD-4BFB-AA4C-9F571D576D95}" type="presParOf" srcId="{D262D5A9-290D-40CF-BBF9-7FDBFC3EC1C6}" destId="{DDE2399D-AAB9-43E3-9330-C7FDA8BAD4CA}" srcOrd="3" destOrd="0" presId="urn:microsoft.com/office/officeart/2005/8/layout/hProcess9"/>
    <dgm:cxn modelId="{AE0D0FAC-C9E4-488E-B4CC-08D4416E1A4B}" type="presParOf" srcId="{D262D5A9-290D-40CF-BBF9-7FDBFC3EC1C6}" destId="{6C0ECDFB-C35F-47F6-9F18-82F99B6205B4}" srcOrd="4" destOrd="0" presId="urn:microsoft.com/office/officeart/2005/8/layout/hProcess9"/>
    <dgm:cxn modelId="{B1F375EC-BA76-4B34-B11B-1D614C4D7AA0}" type="presParOf" srcId="{D262D5A9-290D-40CF-BBF9-7FDBFC3EC1C6}" destId="{300D7113-5D3D-4732-BD6B-14B7B844C699}" srcOrd="5" destOrd="0" presId="urn:microsoft.com/office/officeart/2005/8/layout/hProcess9"/>
    <dgm:cxn modelId="{49E6CC21-F10B-40D7-9CE6-6FE2F6062935}" type="presParOf" srcId="{D262D5A9-290D-40CF-BBF9-7FDBFC3EC1C6}" destId="{DB1684EB-DA79-4727-B339-8F858BDA2E92}" srcOrd="6" destOrd="0" presId="urn:microsoft.com/office/officeart/2005/8/layout/hProcess9"/>
    <dgm:cxn modelId="{61367052-FF7E-4BAB-943C-CBC58638EA45}" type="presParOf" srcId="{D262D5A9-290D-40CF-BBF9-7FDBFC3EC1C6}" destId="{0E4904AA-9510-48B3-A7BF-BBAE0C014C2B}" srcOrd="7" destOrd="0" presId="urn:microsoft.com/office/officeart/2005/8/layout/hProcess9"/>
    <dgm:cxn modelId="{A9A5B08E-1E0B-4793-A4DA-201873E9C1B1}" type="presParOf" srcId="{D262D5A9-290D-40CF-BBF9-7FDBFC3EC1C6}" destId="{E86EC5F1-8D6B-4392-BECB-EE7533CDF975}" srcOrd="8" destOrd="0" presId="urn:microsoft.com/office/officeart/2005/8/layout/hProcess9"/>
    <dgm:cxn modelId="{2351AB28-7DDE-4C60-99DB-1A74B8E8C682}" type="presParOf" srcId="{D262D5A9-290D-40CF-BBF9-7FDBFC3EC1C6}" destId="{22A72E31-D3DA-4308-82DB-F8C08CBBC07E}" srcOrd="9" destOrd="0" presId="urn:microsoft.com/office/officeart/2005/8/layout/hProcess9"/>
    <dgm:cxn modelId="{06994F12-D734-4428-98C3-B6CBC5756870}" type="presParOf" srcId="{D262D5A9-290D-40CF-BBF9-7FDBFC3EC1C6}" destId="{838B5D6C-A1AD-492B-8616-B23A13A70C4B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188A9-92A1-46A0-96D5-0A19F74593A9}">
      <dsp:nvSpPr>
        <dsp:cNvPr id="0" name=""/>
        <dsp:cNvSpPr/>
      </dsp:nvSpPr>
      <dsp:spPr>
        <a:xfrm>
          <a:off x="766895" y="0"/>
          <a:ext cx="8691479" cy="5231871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110B16-8CEE-4585-BD25-6DA32C2286F4}">
      <dsp:nvSpPr>
        <dsp:cNvPr id="0" name=""/>
        <dsp:cNvSpPr/>
      </dsp:nvSpPr>
      <dsp:spPr>
        <a:xfrm>
          <a:off x="3516" y="1569561"/>
          <a:ext cx="1557207" cy="209274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replay 1_TW </a:t>
          </a:r>
          <a:r>
            <a:rPr lang="en-US" sz="2300" b="0" kern="1200" dirty="0"/>
            <a:t>Data</a:t>
          </a:r>
          <a:endParaRPr lang="LID4096" sz="2300" kern="1200" dirty="0"/>
        </a:p>
      </dsp:txBody>
      <dsp:txXfrm>
        <a:off x="79533" y="1645578"/>
        <a:ext cx="1405173" cy="1940714"/>
      </dsp:txXfrm>
    </dsp:sp>
    <dsp:sp modelId="{D71D2EA1-E12D-43F7-B902-9CA07B4C1D41}">
      <dsp:nvSpPr>
        <dsp:cNvPr id="0" name=""/>
        <dsp:cNvSpPr/>
      </dsp:nvSpPr>
      <dsp:spPr>
        <a:xfrm>
          <a:off x="1735722" y="1569561"/>
          <a:ext cx="1557207" cy="209274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/>
            <a:t>Features</a:t>
          </a:r>
          <a:endParaRPr lang="LID4096" sz="2200" kern="1200" dirty="0"/>
        </a:p>
      </dsp:txBody>
      <dsp:txXfrm>
        <a:off x="1811739" y="1645578"/>
        <a:ext cx="1405173" cy="1940714"/>
      </dsp:txXfrm>
    </dsp:sp>
    <dsp:sp modelId="{6C0ECDFB-C35F-47F6-9F18-82F99B6205B4}">
      <dsp:nvSpPr>
        <dsp:cNvPr id="0" name=""/>
        <dsp:cNvSpPr/>
      </dsp:nvSpPr>
      <dsp:spPr>
        <a:xfrm>
          <a:off x="3467928" y="1569561"/>
          <a:ext cx="1557207" cy="209274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/>
            <a:t> Train TCN</a:t>
          </a:r>
          <a:endParaRPr lang="LID4096" sz="2200" kern="1200" dirty="0"/>
        </a:p>
      </dsp:txBody>
      <dsp:txXfrm>
        <a:off x="3543945" y="1645578"/>
        <a:ext cx="1405173" cy="1940714"/>
      </dsp:txXfrm>
    </dsp:sp>
    <dsp:sp modelId="{DB1684EB-DA79-4727-B339-8F858BDA2E92}">
      <dsp:nvSpPr>
        <dsp:cNvPr id="0" name=""/>
        <dsp:cNvSpPr/>
      </dsp:nvSpPr>
      <dsp:spPr>
        <a:xfrm>
          <a:off x="5200133" y="1569561"/>
          <a:ext cx="1557207" cy="209274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/>
            <a:t> </a:t>
          </a:r>
          <a:r>
            <a:rPr lang="en-US" sz="2200" b="0" kern="1200" dirty="0" err="1"/>
            <a:t>Backtest</a:t>
          </a:r>
          <a:endParaRPr lang="LID4096" sz="2200" kern="1200" dirty="0"/>
        </a:p>
      </dsp:txBody>
      <dsp:txXfrm>
        <a:off x="5276150" y="1645578"/>
        <a:ext cx="1405173" cy="1940714"/>
      </dsp:txXfrm>
    </dsp:sp>
    <dsp:sp modelId="{E86EC5F1-8D6B-4392-BECB-EE7533CDF975}">
      <dsp:nvSpPr>
        <dsp:cNvPr id="0" name=""/>
        <dsp:cNvSpPr/>
      </dsp:nvSpPr>
      <dsp:spPr>
        <a:xfrm>
          <a:off x="6932339" y="1569561"/>
          <a:ext cx="1557207" cy="209274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200" b="0" kern="1200" dirty="0"/>
            <a:t>轉</a:t>
          </a:r>
          <a:r>
            <a:rPr lang="en-US" sz="2200" b="0" kern="1200" dirty="0"/>
            <a:t>INT8</a:t>
          </a:r>
          <a:endParaRPr lang="LID4096" sz="2200" kern="1200" dirty="0"/>
        </a:p>
      </dsp:txBody>
      <dsp:txXfrm>
        <a:off x="7008356" y="1645578"/>
        <a:ext cx="1405173" cy="1940714"/>
      </dsp:txXfrm>
    </dsp:sp>
    <dsp:sp modelId="{838B5D6C-A1AD-492B-8616-B23A13A70C4B}">
      <dsp:nvSpPr>
        <dsp:cNvPr id="0" name=""/>
        <dsp:cNvSpPr/>
      </dsp:nvSpPr>
      <dsp:spPr>
        <a:xfrm>
          <a:off x="8664545" y="1569561"/>
          <a:ext cx="1557207" cy="209274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71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/>
            <a:t>HLS/FPGA</a:t>
          </a:r>
          <a:endParaRPr lang="LID4096" sz="2200" kern="1200" dirty="0"/>
        </a:p>
      </dsp:txBody>
      <dsp:txXfrm>
        <a:off x="8740562" y="1645578"/>
        <a:ext cx="1405173" cy="19407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C4167F-9C7C-44F3-80A0-375D59DEF40F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E18BC-91E4-497A-B749-BC5F9A2B399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1714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2673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AFC72-6AE8-7172-D69E-FD3148338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D9A9A-0EBE-30DE-0111-1E5F3DEC0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77BB1-32DB-704E-0062-EA8670E22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多少筆資料 訓練多少次</a:t>
            </a:r>
            <a:endParaRPr lang="en-US" altLang="zh-TW" dirty="0"/>
          </a:p>
          <a:p>
            <a:r>
              <a:rPr lang="zh-TW" altLang="en-US" dirty="0"/>
              <a:t>先確認模型有訓練好</a:t>
            </a:r>
            <a:endParaRPr lang="en-US" altLang="zh-TW" dirty="0"/>
          </a:p>
          <a:p>
            <a:r>
              <a:rPr lang="zh-TW" altLang="en-US" dirty="0"/>
              <a:t>不要只拿結果出來看</a:t>
            </a:r>
            <a:endParaRPr lang="en-US" altLang="zh-TW" dirty="0"/>
          </a:p>
          <a:p>
            <a:r>
              <a:rPr lang="zh-TW" altLang="en-US" dirty="0"/>
              <a:t>**資料量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還是要拿別人</a:t>
            </a:r>
            <a:r>
              <a:rPr lang="en-US" altLang="zh-TW" dirty="0"/>
              <a:t>train</a:t>
            </a:r>
            <a:r>
              <a:rPr lang="zh-TW" altLang="en-US" dirty="0"/>
              <a:t>好的模型下去客製化一下</a:t>
            </a:r>
            <a:endParaRPr lang="en-US" altLang="zh-TW" dirty="0"/>
          </a:p>
          <a:p>
            <a:r>
              <a:rPr lang="zh-TW" altLang="en-US" dirty="0"/>
              <a:t>不要只丟進去</a:t>
            </a:r>
            <a:endParaRPr lang="en-US" altLang="zh-TW" dirty="0"/>
          </a:p>
          <a:p>
            <a:r>
              <a:rPr lang="zh-TW" altLang="en-US" dirty="0"/>
              <a:t>但是發現不好</a:t>
            </a:r>
            <a:endParaRPr lang="en-US" altLang="zh-TW" dirty="0"/>
          </a:p>
          <a:p>
            <a:r>
              <a:rPr lang="zh-TW" altLang="en-US" dirty="0"/>
              <a:t>訓練誤差 有沒有收斂</a:t>
            </a:r>
            <a:endParaRPr lang="en-US" altLang="zh-TW" dirty="0"/>
          </a:p>
          <a:p>
            <a:r>
              <a:rPr lang="en-US" altLang="zh-TW" dirty="0"/>
              <a:t>(</a:t>
            </a:r>
            <a:r>
              <a:rPr lang="zh-TW" altLang="en-US" dirty="0"/>
              <a:t>可能是訓練的資料不夠多</a:t>
            </a:r>
            <a:endParaRPr lang="en-US" altLang="zh-TW" dirty="0"/>
          </a:p>
          <a:p>
            <a:endParaRPr lang="en-US" dirty="0"/>
          </a:p>
          <a:p>
            <a:endParaRPr lang="en-US" dirty="0"/>
          </a:p>
          <a:p>
            <a:r>
              <a:rPr lang="zh-TW" altLang="en-US" dirty="0"/>
              <a:t>說不定已經訓練完了 但是要確認好</a:t>
            </a:r>
            <a:endParaRPr lang="en-US" altLang="zh-TW" dirty="0"/>
          </a:p>
          <a:p>
            <a:r>
              <a:rPr lang="zh-TW" altLang="en-US" dirty="0"/>
              <a:t>模型有收斂也不一定代表他是好的</a:t>
            </a:r>
            <a:endParaRPr lang="en-US" altLang="zh-TW" dirty="0"/>
          </a:p>
          <a:p>
            <a:r>
              <a:rPr lang="zh-TW" altLang="en-US" dirty="0"/>
              <a:t>可能收斂道能力不好的情況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620CB-3AF8-EC5E-E7B1-F064F221C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26214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80441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/src/features/dimensionless_features.py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weighted_mid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𝑎𝑠𝑘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​⋅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𝐵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1​+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𝑏𝑖𝑑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​⋅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𝑏𝑖𝑑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​+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𝑎𝑠𝑘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​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LID4096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/src/features/dimensionless_features.py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weighted_mid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=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(𝑉1𝑎𝑠𝑘​⋅𝐵1​+𝑉1𝑏𝑖𝑑​⋅𝐴1)/(𝑉1𝑏𝑖𝑑​+𝑉1𝑎𝑠𝑘​)</a:t>
                </a:r>
                <a:endParaRPr lang="en-US" dirty="0"/>
              </a:p>
              <a:p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LID4096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3156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src/utils/constants.py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59282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src/models/tcn.py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RF = receptive field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區域計算公式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Weights + Bias)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參數量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Block 0	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(12x3x16+16) + (16x3x16+16) + (12x1x16+16)592 + 784 + 208 =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1,584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Block 1	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(16x3x16+16) + (16x3x16+16) =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1,568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Block 2	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(16x3x16+16) + (16x3x16+16) =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1,568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最後一級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FC	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(16x3 + 3)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總計 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Total)	1,584 + 1,568 + 1,568 + 51 = 4,771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86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99BA9-4CEA-8C27-F5DA-BEE5C23A8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9E83-5A08-34EC-1FC5-A22A7A029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50EA1-1BAD-495D-65FF-E86FECABA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signals.py </a:t>
            </a:r>
            <a:r>
              <a:rPr lang="zh-TW" altLang="en-US" dirty="0"/>
              <a:t>中的核心判定</a:t>
            </a:r>
          </a:p>
          <a:p>
            <a:r>
              <a:rPr lang="en-US" dirty="0" err="1"/>
              <a:t>volatility_ok</a:t>
            </a:r>
            <a:r>
              <a:rPr lang="en-US" dirty="0"/>
              <a:t> = </a:t>
            </a:r>
            <a:r>
              <a:rPr lang="en-US" dirty="0" err="1"/>
              <a:t>rolling_vol</a:t>
            </a:r>
            <a:r>
              <a:rPr lang="en-US" dirty="0"/>
              <a:t> &lt;= </a:t>
            </a:r>
            <a:r>
              <a:rPr lang="en-US" dirty="0" err="1"/>
              <a:t>volatility_threshold</a:t>
            </a:r>
            <a:endParaRPr lang="en-US" dirty="0"/>
          </a:p>
          <a:p>
            <a:r>
              <a:rPr lang="en-US" dirty="0" err="1"/>
              <a:t>trade_intensity_ok</a:t>
            </a:r>
            <a:r>
              <a:rPr lang="en-US" dirty="0"/>
              <a:t> = </a:t>
            </a:r>
            <a:r>
              <a:rPr lang="en-US" dirty="0" err="1"/>
              <a:t>trade_intensity</a:t>
            </a:r>
            <a:r>
              <a:rPr lang="en-US" dirty="0"/>
              <a:t> &lt;= </a:t>
            </a:r>
            <a:r>
              <a:rPr lang="en-US" dirty="0" err="1"/>
              <a:t>trade_intensity_threshold</a:t>
            </a:r>
            <a:endParaRPr lang="en-US" dirty="0"/>
          </a:p>
          <a:p>
            <a:r>
              <a:rPr lang="en-US" dirty="0" err="1"/>
              <a:t>visible_queue_ok</a:t>
            </a:r>
            <a:r>
              <a:rPr lang="en-US" dirty="0"/>
              <a:t> = </a:t>
            </a:r>
            <a:r>
              <a:rPr lang="en-US" dirty="0" err="1"/>
              <a:t>visible_queue</a:t>
            </a:r>
            <a:r>
              <a:rPr lang="en-US" dirty="0"/>
              <a:t> &gt;= </a:t>
            </a:r>
            <a:r>
              <a:rPr lang="en-US" dirty="0" err="1"/>
              <a:t>visible_queue_threshold</a:t>
            </a:r>
            <a:endParaRPr lang="en-US" dirty="0"/>
          </a:p>
          <a:p>
            <a:r>
              <a:rPr lang="en-US" dirty="0" err="1"/>
              <a:t>cancel_pressure_ok</a:t>
            </a:r>
            <a:r>
              <a:rPr lang="en-US" dirty="0"/>
              <a:t> = </a:t>
            </a:r>
            <a:r>
              <a:rPr lang="en-US" dirty="0" err="1"/>
              <a:t>cancel_pressure</a:t>
            </a:r>
            <a:r>
              <a:rPr lang="en-US" dirty="0"/>
              <a:t> &lt;= </a:t>
            </a:r>
            <a:r>
              <a:rPr lang="en-US" dirty="0" err="1"/>
              <a:t>cancel_pressure_threshold</a:t>
            </a:r>
            <a:endParaRPr lang="en-US" dirty="0"/>
          </a:p>
          <a:p>
            <a:endParaRPr lang="en-US" dirty="0"/>
          </a:p>
          <a:p>
            <a:r>
              <a:rPr lang="en-US" dirty="0"/>
              <a:t># </a:t>
            </a:r>
            <a:r>
              <a:rPr lang="zh-TW" altLang="en-US" dirty="0"/>
              <a:t>只有全部通過，</a:t>
            </a:r>
            <a:r>
              <a:rPr lang="en-US" dirty="0" err="1"/>
              <a:t>regime_ok</a:t>
            </a:r>
            <a:r>
              <a:rPr lang="en-US" dirty="0"/>
              <a:t> </a:t>
            </a:r>
            <a:r>
              <a:rPr lang="zh-TW" altLang="en-US" dirty="0"/>
              <a:t>才會是 </a:t>
            </a:r>
            <a:r>
              <a:rPr lang="en-US" dirty="0"/>
              <a:t>True</a:t>
            </a:r>
          </a:p>
          <a:p>
            <a:r>
              <a:rPr lang="en-US" dirty="0" err="1"/>
              <a:t>regime_ok</a:t>
            </a:r>
            <a:r>
              <a:rPr lang="en-US" dirty="0"/>
              <a:t> = </a:t>
            </a:r>
            <a:r>
              <a:rPr lang="en-US" dirty="0" err="1"/>
              <a:t>volatility_ok</a:t>
            </a:r>
            <a:r>
              <a:rPr lang="en-US" dirty="0"/>
              <a:t> &amp; </a:t>
            </a:r>
            <a:r>
              <a:rPr lang="en-US" dirty="0" err="1"/>
              <a:t>trade_intensity_ok</a:t>
            </a:r>
            <a:r>
              <a:rPr lang="en-US" dirty="0"/>
              <a:t> &amp; </a:t>
            </a:r>
            <a:r>
              <a:rPr lang="en-US" dirty="0" err="1"/>
              <a:t>visible_queue_ok</a:t>
            </a:r>
            <a:r>
              <a:rPr lang="en-US" dirty="0"/>
              <a:t> &amp; </a:t>
            </a:r>
            <a:r>
              <a:rPr lang="en-US" dirty="0" err="1"/>
              <a:t>cancel_pressure_ok</a:t>
            </a:r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7E7DA-5FAD-CB91-26E2-D36AC44E9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298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71155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68078-D194-B207-F05D-FBA204E54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0D7E83-4032-1A52-1223-45E63B7FF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9DFE1B-3740-BE5B-FCF7-BA954D13B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src/models/hardware.py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cpp_hls_prep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/fixed_tcn_modules.cpp</a:t>
            </a:r>
            <a:endParaRPr lang="LID4096" dirty="0"/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hardware.py -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PyTorch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FX PTQ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qconfig_mapping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QConfigMapping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set_global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get_default_qconfig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fbgemm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 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fbgemm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=x86,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qnnpack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=ARM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prepared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prepare_fx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(model,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qconfig_mapping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example_input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校準階段：跑一批資料讓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Observer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統計範圍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torch.no_grad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for batch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calibration_batches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prepared(batch)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quantized_model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convert_fx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(prepared)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dirty="0"/>
              <a:t>// 1. </a:t>
            </a:r>
            <a:r>
              <a:rPr lang="zh-TW" altLang="en-US" dirty="0"/>
              <a:t>將整數 </a:t>
            </a:r>
            <a:r>
              <a:rPr lang="en-US" dirty="0"/>
              <a:t>Logits </a:t>
            </a:r>
            <a:r>
              <a:rPr lang="zh-TW" altLang="en-US" dirty="0"/>
              <a:t>乘上縮放係數 </a:t>
            </a:r>
            <a:r>
              <a:rPr lang="en-US" altLang="zh-TW" dirty="0"/>
              <a:t>(</a:t>
            </a:r>
            <a:r>
              <a:rPr lang="en-US" dirty="0"/>
              <a:t>Scale)，</a:t>
            </a:r>
            <a:r>
              <a:rPr lang="zh-TW" altLang="en-US" dirty="0"/>
              <a:t>還原成浮點數 </a:t>
            </a:r>
            <a:r>
              <a:rPr lang="en-US" dirty="0"/>
              <a:t>Logits</a:t>
            </a:r>
          </a:p>
          <a:p>
            <a:r>
              <a:rPr lang="en-US" dirty="0"/>
              <a:t>for (int </a:t>
            </a:r>
            <a:r>
              <a:rPr lang="en-US" dirty="0" err="1"/>
              <a:t>out_class</a:t>
            </a:r>
            <a:r>
              <a:rPr lang="en-US" dirty="0"/>
              <a:t> = 0; </a:t>
            </a:r>
            <a:r>
              <a:rPr lang="en-US" dirty="0" err="1"/>
              <a:t>out_class</a:t>
            </a:r>
            <a:r>
              <a:rPr lang="en-US" dirty="0"/>
              <a:t> &lt; </a:t>
            </a:r>
            <a:r>
              <a:rPr lang="en-US" dirty="0" err="1"/>
              <a:t>kFixedNumClasses</a:t>
            </a:r>
            <a:r>
              <a:rPr lang="en-US" dirty="0"/>
              <a:t>; ++</a:t>
            </a:r>
            <a:r>
              <a:rPr lang="en-US" dirty="0" err="1"/>
              <a:t>out_class</a:t>
            </a:r>
            <a:r>
              <a:rPr lang="en-US" dirty="0"/>
              <a:t>) {</a:t>
            </a:r>
          </a:p>
          <a:p>
            <a:r>
              <a:rPr lang="en-US" dirty="0"/>
              <a:t>    </a:t>
            </a:r>
            <a:r>
              <a:rPr lang="en-US" dirty="0" err="1"/>
              <a:t>result.logits_float</a:t>
            </a:r>
            <a:r>
              <a:rPr lang="en-US" dirty="0"/>
              <a:t>[</a:t>
            </a:r>
            <a:r>
              <a:rPr lang="en-US" dirty="0" err="1"/>
              <a:t>out_class</a:t>
            </a:r>
            <a:r>
              <a:rPr lang="en-US" dirty="0"/>
              <a:t>] =</a:t>
            </a:r>
          </a:p>
          <a:p>
            <a:r>
              <a:rPr lang="en-US" dirty="0"/>
              <a:t>        </a:t>
            </a:r>
            <a:r>
              <a:rPr lang="en-US" dirty="0" err="1"/>
              <a:t>static_cast</a:t>
            </a:r>
            <a:r>
              <a:rPr lang="en-US" dirty="0"/>
              <a:t>&lt;float&gt;(result.logits_int32[</a:t>
            </a:r>
            <a:r>
              <a:rPr lang="en-US" dirty="0" err="1"/>
              <a:t>out_class</a:t>
            </a:r>
            <a:r>
              <a:rPr lang="en-US" dirty="0"/>
              <a:t>]) * (</a:t>
            </a:r>
            <a:r>
              <a:rPr lang="en-US" dirty="0" err="1"/>
              <a:t>kFixedActivationScale</a:t>
            </a:r>
            <a:r>
              <a:rPr lang="en-US" dirty="0"/>
              <a:t> * </a:t>
            </a:r>
            <a:r>
              <a:rPr lang="en-US" dirty="0" err="1"/>
              <a:t>weights.fc_w_scale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2. </a:t>
            </a:r>
            <a:r>
              <a:rPr lang="zh-TW" altLang="en-US" dirty="0"/>
              <a:t>對還原後的浮點數進行 </a:t>
            </a:r>
            <a:r>
              <a:rPr lang="en-US" dirty="0" err="1"/>
              <a:t>Softmax</a:t>
            </a:r>
            <a:r>
              <a:rPr lang="en-US" dirty="0"/>
              <a:t>，</a:t>
            </a:r>
            <a:r>
              <a:rPr lang="zh-TW" altLang="en-US" dirty="0"/>
              <a:t>得到 </a:t>
            </a:r>
            <a:r>
              <a:rPr lang="en-US" dirty="0" err="1"/>
              <a:t>p_up</a:t>
            </a:r>
            <a:r>
              <a:rPr lang="en-US" dirty="0"/>
              <a:t>, </a:t>
            </a:r>
            <a:r>
              <a:rPr lang="en-US" dirty="0" err="1"/>
              <a:t>p_stationary</a:t>
            </a:r>
            <a:r>
              <a:rPr lang="en-US" dirty="0"/>
              <a:t>, </a:t>
            </a:r>
            <a:r>
              <a:rPr lang="en-US" dirty="0" err="1"/>
              <a:t>p_down</a:t>
            </a:r>
            <a:endParaRPr lang="en-US" dirty="0"/>
          </a:p>
          <a:p>
            <a:r>
              <a:rPr lang="en-US" dirty="0"/>
              <a:t>softmax3_fixed(</a:t>
            </a:r>
            <a:r>
              <a:rPr lang="en-US" dirty="0" err="1"/>
              <a:t>result.logits_float</a:t>
            </a:r>
            <a:r>
              <a:rPr lang="en-US" dirty="0"/>
              <a:t>, </a:t>
            </a:r>
            <a:r>
              <a:rPr lang="en-US" dirty="0" err="1"/>
              <a:t>result.probabilities</a:t>
            </a:r>
            <a:r>
              <a:rPr lang="en-US" dirty="0"/>
              <a:t>);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2E34-CC20-E14E-5968-C0E9A4B25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52437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/fixed_tcn_top.cpp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fixed_tcn_top.cpp - HLS Top Interface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tcn_fixed_top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const int8_t input[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kFixedNumInputs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kFixedSeqLen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], 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12×100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int32_t      logits[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kFixedNumClasses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],               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輸出 </a:t>
            </a:r>
            <a:r>
              <a:rPr lang="en-US" altLang="zh-TW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個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logits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float        probabilities[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kFixedNumClasses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#pragma HLS INTERFACE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ap_memory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port=input      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對應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FPGA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記憶體接口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pragma HLS INTERFACE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ap_memory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port=logits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#pragma HLS INTERFACE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ap_ctrl_hs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port=return    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握手控制信號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TW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呼叫已驗證的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INT8 </a:t>
            </a:r>
            <a:r>
              <a:rPr lang="zh-TW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推論核心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 result = tcn_inference_fixed_int8(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input_array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kFixedWeights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0979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86060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86676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50050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0281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8880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32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231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5763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LID4096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02784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26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5025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519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5466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B121-B85C-F2AB-29D7-08AB5A5ADC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Meeting</a:t>
            </a:r>
            <a:r>
              <a:rPr lang="zh-TW" altLang="en-US" dirty="0"/>
              <a:t> 簡報 期中回顧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5F4C7F-40F0-B145-3F60-7603287658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李後燁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7129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E1397-E4AE-0BA2-53CB-9F568DB91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74BBDE-F6A8-CA31-8733-D631DC53E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734731A-4C85-E0AE-AEB7-E509DFA4A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74A4BE-0C51-842E-97AA-8415BD210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DB0E3-78F6-24EB-0D4C-02DBD1A5A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zh-TW" altLang="en-US" sz="4000" dirty="0">
                <a:solidFill>
                  <a:srgbClr val="FFFFFF"/>
                </a:solidFill>
              </a:rPr>
              <a:t>這周</a:t>
            </a:r>
            <a:endParaRPr lang="LID4096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B9F61-590F-0BBA-3D61-D7E8DF903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4" y="1402080"/>
            <a:ext cx="5955263" cy="4053840"/>
          </a:xfrm>
        </p:spPr>
        <p:txBody>
          <a:bodyPr anchor="ctr">
            <a:normAutofit/>
          </a:bodyPr>
          <a:lstStyle/>
          <a:p>
            <a:endParaRPr lang="en-US" altLang="zh-TW" sz="2800" dirty="0"/>
          </a:p>
          <a:p>
            <a:r>
              <a:rPr lang="zh-TW" altLang="en-US" sz="2800" dirty="0"/>
              <a:t>看測試</a:t>
            </a:r>
            <a:r>
              <a:rPr lang="en-US" altLang="zh-TW" sz="2800" dirty="0"/>
              <a:t>CME</a:t>
            </a:r>
            <a:r>
              <a:rPr lang="zh-TW" altLang="en-US" sz="2800" dirty="0"/>
              <a:t>資料如果直接丟進目前用台灣期貨資料訓練的模型的樣子</a:t>
            </a:r>
            <a:endParaRPr lang="en-US" altLang="zh-TW" sz="2800" dirty="0"/>
          </a:p>
          <a:p>
            <a:r>
              <a:rPr lang="zh-TW" altLang="en-US" sz="2800" dirty="0"/>
              <a:t>回顧與檢視目前的進度與做法</a:t>
            </a:r>
            <a:endParaRPr lang="en-US" altLang="zh-TW" sz="2800" dirty="0"/>
          </a:p>
          <a:p>
            <a:endParaRPr lang="en-US" altLang="zh-TW" sz="2800" dirty="0"/>
          </a:p>
          <a:p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163742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B9C93-4557-EA4F-2CC9-4D61960ED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E0771-033F-E2C7-E86C-81C75C369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CME</a:t>
            </a:r>
            <a:r>
              <a:rPr lang="zh-TW" altLang="en-US" dirty="0"/>
              <a:t>資料放進去之後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93C58-A41B-6D60-3532-A458D76B9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6889" y="656179"/>
            <a:ext cx="4815840" cy="5955635"/>
          </a:xfrm>
        </p:spPr>
        <p:txBody>
          <a:bodyPr>
            <a:normAutofit fontScale="92500"/>
          </a:bodyPr>
          <a:lstStyle/>
          <a:p>
            <a:r>
              <a:rPr lang="en-US" altLang="zh-TW" sz="2400" dirty="0"/>
              <a:t>CME</a:t>
            </a:r>
            <a:r>
              <a:rPr lang="zh-TW" altLang="en-US" sz="2400" dirty="0"/>
              <a:t>的資料是只有最佳兩檔，而</a:t>
            </a:r>
            <a:r>
              <a:rPr lang="en-US" altLang="zh-TW" sz="2400" dirty="0"/>
              <a:t>replay1_TW</a:t>
            </a:r>
            <a:r>
              <a:rPr lang="zh-TW" altLang="en-US" sz="2400" dirty="0"/>
              <a:t>是最佳五檔</a:t>
            </a:r>
            <a:endParaRPr lang="en-US" altLang="zh-TW" sz="2400" dirty="0"/>
          </a:p>
          <a:p>
            <a:r>
              <a:rPr lang="zh-TW" altLang="en-US" sz="2400" dirty="0"/>
              <a:t>做法：</a:t>
            </a:r>
            <a:endParaRPr lang="en-US" altLang="zh-TW" sz="2400" dirty="0"/>
          </a:p>
          <a:p>
            <a:pPr lvl="1"/>
            <a:r>
              <a:rPr lang="en-US" altLang="zh-TW" sz="2200" dirty="0"/>
              <a:t>3–5 </a:t>
            </a:r>
            <a:r>
              <a:rPr lang="zh-TW" altLang="en-US" sz="2200" dirty="0"/>
              <a:t>檔用目前的</a:t>
            </a:r>
            <a:r>
              <a:rPr lang="en-US" altLang="zh-TW" sz="2200" dirty="0"/>
              <a:t>tick size</a:t>
            </a:r>
            <a:r>
              <a:rPr lang="zh-TW" altLang="en-US" sz="2200" dirty="0"/>
              <a:t>去推算</a:t>
            </a:r>
            <a:endParaRPr lang="en-US" altLang="zh-TW" sz="2200" dirty="0"/>
          </a:p>
          <a:p>
            <a:pPr lvl="1"/>
            <a:r>
              <a:rPr lang="zh-TW" altLang="en-US" sz="2200" dirty="0"/>
              <a:t>單量補 </a:t>
            </a:r>
            <a:r>
              <a:rPr lang="en-US" altLang="zh-TW" sz="2200" dirty="0"/>
              <a:t>0</a:t>
            </a:r>
          </a:p>
          <a:p>
            <a:r>
              <a:rPr lang="zh-TW" altLang="en-US" sz="2400" dirty="0"/>
              <a:t>結果：</a:t>
            </a:r>
            <a:endParaRPr lang="en-US" altLang="zh-TW" sz="2400" dirty="0"/>
          </a:p>
          <a:p>
            <a:pPr lvl="1"/>
            <a:r>
              <a:rPr lang="en-US" sz="2200" dirty="0"/>
              <a:t>gated accuracy = 0.8202</a:t>
            </a:r>
          </a:p>
          <a:p>
            <a:pPr lvl="1"/>
            <a:r>
              <a:rPr lang="en-US" sz="2200" dirty="0"/>
              <a:t>gated macro_f1 = 0.3868</a:t>
            </a:r>
          </a:p>
          <a:p>
            <a:pPr lvl="1"/>
            <a:r>
              <a:rPr lang="en-US" sz="2200" dirty="0"/>
              <a:t>gated signal net </a:t>
            </a:r>
            <a:r>
              <a:rPr lang="en-US" altLang="zh-TW" sz="2200" dirty="0" err="1"/>
              <a:t>PnL</a:t>
            </a:r>
            <a:r>
              <a:rPr lang="en-US" sz="2200" dirty="0"/>
              <a:t> = </a:t>
            </a:r>
            <a:r>
              <a:rPr lang="en-US" sz="2200" b="1" dirty="0">
                <a:solidFill>
                  <a:srgbClr val="FF0000"/>
                </a:solidFill>
              </a:rPr>
              <a:t>-</a:t>
            </a:r>
            <a:r>
              <a:rPr lang="en-US" sz="2200" dirty="0"/>
              <a:t>36,316.5 ticks</a:t>
            </a:r>
          </a:p>
          <a:p>
            <a:r>
              <a:rPr lang="zh-TW" altLang="en-US" sz="2400" dirty="0"/>
              <a:t>未來想試的作法：</a:t>
            </a:r>
            <a:endParaRPr lang="en-US" altLang="zh-TW" sz="2400" dirty="0"/>
          </a:p>
          <a:p>
            <a:pPr lvl="1"/>
            <a:r>
              <a:rPr lang="zh-TW" altLang="en-US" sz="2200" dirty="0"/>
              <a:t>新 </a:t>
            </a:r>
            <a:r>
              <a:rPr lang="en-US" altLang="zh-TW" sz="2200" dirty="0"/>
              <a:t>train </a:t>
            </a:r>
            <a:r>
              <a:rPr lang="zh-TW" altLang="en-US" sz="2200" dirty="0"/>
              <a:t>一個模型 只看兩檔 然後比較效果 如果沒有太差就照用</a:t>
            </a:r>
            <a:endParaRPr lang="en-US" altLang="zh-TW" sz="2200" dirty="0"/>
          </a:p>
          <a:p>
            <a:pPr lvl="1"/>
            <a:r>
              <a:rPr lang="zh-TW" altLang="en-US" sz="2200" dirty="0"/>
              <a:t>也拿</a:t>
            </a:r>
            <a:r>
              <a:rPr lang="en-US" altLang="zh-TW" sz="2200" dirty="0" err="1"/>
              <a:t>TW_repaly</a:t>
            </a:r>
            <a:r>
              <a:rPr lang="zh-TW" altLang="en-US" sz="2200" dirty="0"/>
              <a:t>的資料來試，看效果有沒有掉太多，獲利表現又會是如何</a:t>
            </a:r>
            <a:endParaRPr lang="LID4096" sz="2200" dirty="0"/>
          </a:p>
        </p:txBody>
      </p:sp>
    </p:spTree>
    <p:extLst>
      <p:ext uri="{BB962C8B-B14F-4D97-AF65-F5344CB8AC3E}">
        <p14:creationId xmlns:p14="http://schemas.microsoft.com/office/powerpoint/2010/main" val="3419951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E4A9F-D241-9E31-3304-771FC25F1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BA14F-46A9-DAD4-040E-3D6F5A870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CME</a:t>
            </a:r>
            <a:r>
              <a:rPr lang="zh-TW" altLang="en-US" dirty="0"/>
              <a:t>資料放進去之後 目前的成果：</a:t>
            </a:r>
            <a:endParaRPr lang="LID4096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58AE73-28E5-7940-A464-3F1FCAB53F4C}"/>
              </a:ext>
            </a:extLst>
          </p:cNvPr>
          <p:cNvSpPr txBox="1">
            <a:spLocks/>
          </p:cNvSpPr>
          <p:nvPr/>
        </p:nvSpPr>
        <p:spPr>
          <a:xfrm>
            <a:off x="1333871" y="2551547"/>
            <a:ext cx="9161794" cy="21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TW" sz="2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C3D04A-3CD3-A0BE-1787-9B69A4BE1625}"/>
              </a:ext>
            </a:extLst>
          </p:cNvPr>
          <p:cNvSpPr txBox="1">
            <a:spLocks/>
          </p:cNvSpPr>
          <p:nvPr/>
        </p:nvSpPr>
        <p:spPr>
          <a:xfrm>
            <a:off x="1515103" y="2457389"/>
            <a:ext cx="9161794" cy="21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LID4096" sz="2400" dirty="0"/>
          </a:p>
        </p:txBody>
      </p:sp>
      <p:pic>
        <p:nvPicPr>
          <p:cNvPr id="7" name="Picture 6" descr="The image displays a confusion matrix and performance metrics for a model comparing CME and ESM6+CLK6 predictions, indicating various levels of prediction accuracy and net profit or loss.&#10;&#10;AI-generated content may be incorrect.">
            <a:extLst>
              <a:ext uri="{FF2B5EF4-FFF2-40B4-BE49-F238E27FC236}">
                <a16:creationId xmlns:a16="http://schemas.microsoft.com/office/drawing/2014/main" id="{194CDCC0-FCF5-591A-4958-20F606F61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57389"/>
            <a:ext cx="12192000" cy="379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378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54AF3CE-6EDF-EB8A-AF0D-68A4B97B72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9501620"/>
              </p:ext>
            </p:extLst>
          </p:nvPr>
        </p:nvGraphicFramePr>
        <p:xfrm>
          <a:off x="983365" y="1626129"/>
          <a:ext cx="10225270" cy="5231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174BDD0-0567-D5BD-879A-4835658BF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現在的架構與做法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66914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29B56105-E841-F5AE-1233-1BCB19308D6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43700181"/>
                  </p:ext>
                </p:extLst>
              </p:nvPr>
            </p:nvGraphicFramePr>
            <p:xfrm>
              <a:off x="821377" y="658409"/>
              <a:ext cx="10549245" cy="581923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516415">
                      <a:extLst>
                        <a:ext uri="{9D8B030D-6E8A-4147-A177-3AD203B41FA5}">
                          <a16:colId xmlns:a16="http://schemas.microsoft.com/office/drawing/2014/main" val="1109811676"/>
                        </a:ext>
                      </a:extLst>
                    </a:gridCol>
                    <a:gridCol w="3516415">
                      <a:extLst>
                        <a:ext uri="{9D8B030D-6E8A-4147-A177-3AD203B41FA5}">
                          <a16:colId xmlns:a16="http://schemas.microsoft.com/office/drawing/2014/main" val="4114538381"/>
                        </a:ext>
                      </a:extLst>
                    </a:gridCol>
                    <a:gridCol w="3516415">
                      <a:extLst>
                        <a:ext uri="{9D8B030D-6E8A-4147-A177-3AD203B41FA5}">
                          <a16:colId xmlns:a16="http://schemas.microsoft.com/office/drawing/2014/main" val="3328975265"/>
                        </a:ext>
                      </a:extLst>
                    </a:gridCol>
                  </a:tblGrid>
                  <a:tr h="38304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Feature</a:t>
                          </a:r>
                          <a:endParaRPr lang="LID4096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000" dirty="0"/>
                            <a:t>算法</a:t>
                          </a:r>
                          <a:endParaRPr lang="LID4096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000" dirty="0"/>
                            <a:t>意義</a:t>
                          </a:r>
                          <a:endParaRPr lang="LID4096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291835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ormalized_spread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𝐴𝑠𝑘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₁ − 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𝐵𝑖𝑑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₁) / 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𝑡𝑖𝑐𝑘</m:t>
                                </m:r>
                              </m:oMath>
                            </m:oMathPara>
                          </a14:m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買賣價差（成本代理）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57397257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micro_return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𝑚𝑖𝑑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𝑚𝑖𝑑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 / 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𝑡𝑖𝑐𝑘</m:t>
                                </m:r>
                              </m:oMath>
                            </m:oMathPara>
                          </a14:m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事件級中間價變動（動能）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2749818671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obi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l-GR" sz="2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l-GR" sz="20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𝑏𝑖𝑑</m:t>
                                    </m:r>
                                    <m:r>
                                      <a:rPr lang="en-US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−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sz="2000" i="0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𝑎𝑠𝑘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l-GR" sz="20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𝑏𝑖𝑑</m:t>
                                    </m:r>
                                    <m:r>
                                      <a:rPr lang="en-US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+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sz="2000" i="0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𝑎𝑠𝑘</m:t>
                                    </m:r>
                                  </m:den>
                                </m:f>
                              </m:oMath>
                            </m:oMathPara>
                          </a14:m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全深度委託簿失衡 </a:t>
                          </a:r>
                          <a:r>
                            <a:rPr lang="en-US" altLang="zh-TW" sz="2000" dirty="0">
                              <a:effectLst/>
                            </a:rPr>
                            <a:t>(L1-5)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9985482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weighted_mid_deviation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𝑤𝑒𝑖𝑔h𝑡𝑒𝑑</m:t>
                                </m:r>
                                <m:r>
                                  <a:rPr lang="en-US" sz="2000" i="1" dirty="0" err="1">
                                    <a:effectLst/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2000" i="1" dirty="0" err="1">
                                    <a:effectLst/>
                                    <a:latin typeface="Cambria Math" panose="02040503050406030204" pitchFamily="18" charset="0"/>
                                  </a:rPr>
                                  <m:t>𝑚𝑖𝑑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𝑚𝑖𝑑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) / 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𝑡𝑖𝑐𝑘</m:t>
                                </m:r>
                              </m:oMath>
                            </m:oMathPara>
                          </a14:m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量加權中間價偏離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234897522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deep_obi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同 </a:t>
                          </a:r>
                          <a:r>
                            <a:rPr lang="en-US" sz="2000" dirty="0">
                              <a:effectLst/>
                            </a:rPr>
                            <a:t>OBI </a:t>
                          </a:r>
                          <a:r>
                            <a:rPr lang="zh-TW" altLang="en-US" sz="2000" dirty="0">
                              <a:effectLst/>
                            </a:rPr>
                            <a:t>但只用 </a:t>
                          </a:r>
                          <a:r>
                            <a:rPr lang="en-US" sz="2000" dirty="0">
                              <a:effectLst/>
                            </a:rPr>
                            <a:t>L2-5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深層委託簿失衡（背後力量）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054621877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queue_imbalance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l-GR" sz="2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l-GR" sz="20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𝑏𝑖𝑑</m:t>
                                    </m:r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sz="2000" i="0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𝑎𝑠𝑘</m:t>
                                    </m:r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l-GR" sz="20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𝑏𝑖𝑑</m:t>
                                    </m:r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+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sz="2000" i="0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𝑎𝑠𝑘</m:t>
                                    </m:r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最佳一檔即時壓力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482664114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queue_imbalance_change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𝑖𝑚𝑏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2000" i="1" dirty="0" err="1">
                                    <a:effectLst/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000" i="1" dirty="0" err="1">
                                    <a:effectLst/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2000" i="1" dirty="0" err="1">
                                    <a:effectLst/>
                                    <a:latin typeface="Cambria Math" panose="02040503050406030204" pitchFamily="18" charset="0"/>
                                  </a:rPr>
                                  <m:t>𝑖𝑚𝑏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_{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−1}</m:t>
                                </m:r>
                              </m:oMath>
                            </m:oMathPara>
                          </a14:m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委託壓力方向變化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821449778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aggressor_imbalance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nn-NO" sz="2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nn-NO" sz="20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d>
                                      <m:dPr>
                                        <m:ctrlPr>
                                          <a:rPr lang="nn-NO" sz="2000" i="1" dirty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n-NO" sz="2000" i="1" dirty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𝑠𝑖𝑔</m:t>
                                        </m:r>
                                        <m:sSub>
                                          <m:sSubPr>
                                            <m:ctrlPr>
                                              <a:rPr lang="nn-NO" sz="2000" i="1" dirty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nn-NO" sz="2000" i="1" dirty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nn-NO" sz="2000" i="1" dirty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nn-NO" sz="2000" i="1" dirty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·</m:t>
                                        </m:r>
                                        <m:sSub>
                                          <m:sSubPr>
                                            <m:ctrlPr>
                                              <a:rPr lang="nn-NO" sz="2000" i="1" dirty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nn-NO" sz="2000" i="1" dirty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e>
                                          <m:sub>
                                            <m:r>
                                              <a:rPr lang="nn-NO" sz="2000" i="1" dirty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nn-NO" sz="20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nn-NO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nn-NO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nn-NO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den>
                                </m:f>
                              </m:oMath>
                            </m:oMathPara>
                          </a14:m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淨主動方向 </a:t>
                          </a:r>
                          <a:r>
                            <a:rPr lang="en-US" altLang="zh-TW" sz="2000">
                              <a:effectLst/>
                            </a:rPr>
                            <a:t>(</a:t>
                          </a:r>
                          <a:r>
                            <a:rPr lang="en-US" sz="2000">
                              <a:effectLst/>
                            </a:rPr>
                            <a:t>interval OFI)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683979858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signed_flow_ratio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滾動 </a:t>
                          </a:r>
                          <a:r>
                            <a:rPr lang="en-US" altLang="zh-TW" sz="2000" dirty="0">
                              <a:effectLst/>
                            </a:rPr>
                            <a:t>N </a:t>
                          </a:r>
                          <a:r>
                            <a:rPr lang="zh-TW" altLang="en-US" sz="2000" dirty="0">
                              <a:effectLst/>
                            </a:rPr>
                            <a:t>筆淨成交流向比率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近期 </a:t>
                          </a:r>
                          <a:r>
                            <a:rPr lang="en-US" sz="2000">
                              <a:effectLst/>
                            </a:rPr>
                            <a:t>Order Flow Imbalance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3750855251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trade_intensity_short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近期 </a:t>
                          </a:r>
                          <a:r>
                            <a:rPr lang="en-US" sz="2000" dirty="0">
                              <a:effectLst/>
                            </a:rPr>
                            <a:t>N quote </a:t>
                          </a:r>
                          <a:r>
                            <a:rPr lang="zh-TW" altLang="en-US" sz="2000" dirty="0">
                              <a:effectLst/>
                            </a:rPr>
                            <a:t>內成交數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短期市場活躍度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2312833594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net_cancel_pressure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最佳一檔掛單量減少代理值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撤單壓力（流動性消失）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080456217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cancel_pressure_short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短視窗撤單壓力滾動值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即時流動性不穩定訊號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32801595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29B56105-E841-F5AE-1233-1BCB19308D6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43700181"/>
                  </p:ext>
                </p:extLst>
              </p:nvPr>
            </p:nvGraphicFramePr>
            <p:xfrm>
              <a:off x="821377" y="658409"/>
              <a:ext cx="10549245" cy="581923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516415">
                      <a:extLst>
                        <a:ext uri="{9D8B030D-6E8A-4147-A177-3AD203B41FA5}">
                          <a16:colId xmlns:a16="http://schemas.microsoft.com/office/drawing/2014/main" val="1109811676"/>
                        </a:ext>
                      </a:extLst>
                    </a:gridCol>
                    <a:gridCol w="3516415">
                      <a:extLst>
                        <a:ext uri="{9D8B030D-6E8A-4147-A177-3AD203B41FA5}">
                          <a16:colId xmlns:a16="http://schemas.microsoft.com/office/drawing/2014/main" val="4114538381"/>
                        </a:ext>
                      </a:extLst>
                    </a:gridCol>
                    <a:gridCol w="3516415">
                      <a:extLst>
                        <a:ext uri="{9D8B030D-6E8A-4147-A177-3AD203B41FA5}">
                          <a16:colId xmlns:a16="http://schemas.microsoft.com/office/drawing/2014/main" val="332897526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Feature</a:t>
                          </a:r>
                          <a:endParaRPr lang="LID4096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000" dirty="0"/>
                            <a:t>算法</a:t>
                          </a:r>
                          <a:endParaRPr lang="LID4096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000" dirty="0"/>
                            <a:t>意義</a:t>
                          </a:r>
                          <a:endParaRPr lang="LID4096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291835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ormalized_spread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111111" r="-100519" b="-13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買賣價差（成本代理）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57397257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micro_return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211111" r="-100519" b="-1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事件級中間價變動（動能）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2749818671"/>
                      </a:ext>
                    </a:extLst>
                  </a:tr>
                  <a:tr h="6542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obi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183178" r="-100519" b="-6317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全深度委託簿失衡 </a:t>
                          </a:r>
                          <a:r>
                            <a:rPr lang="en-US" altLang="zh-TW" sz="2000" dirty="0">
                              <a:effectLst/>
                            </a:rPr>
                            <a:t>(L1-5)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9985482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weighted_mid_deviation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480952" r="-100519" b="-9730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量加權中間價偏離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234897522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deep_obi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同 </a:t>
                          </a:r>
                          <a:r>
                            <a:rPr lang="en-US" sz="2000" dirty="0">
                              <a:effectLst/>
                            </a:rPr>
                            <a:t>OBI </a:t>
                          </a:r>
                          <a:r>
                            <a:rPr lang="zh-TW" altLang="en-US" sz="2000" dirty="0">
                              <a:effectLst/>
                            </a:rPr>
                            <a:t>但只用 </a:t>
                          </a:r>
                          <a:r>
                            <a:rPr lang="en-US" sz="2000" dirty="0">
                              <a:effectLst/>
                            </a:rPr>
                            <a:t>L2-5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深層委託簿失衡（背後力量）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054621877"/>
                      </a:ext>
                    </a:extLst>
                  </a:tr>
                  <a:tr h="6542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queue_imbalance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400935" r="-100519" b="-4140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最佳一檔即時壓力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482664114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queue_imbalance_change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850794" r="-100519" b="-60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委託壓力方向變化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821449778"/>
                      </a:ext>
                    </a:extLst>
                  </a:tr>
                  <a:tr h="66706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aggressor_imbalance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544545" r="-100519" b="-2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淨主動方向 </a:t>
                          </a:r>
                          <a:r>
                            <a:rPr lang="en-US" altLang="zh-TW" sz="2000">
                              <a:effectLst/>
                            </a:rPr>
                            <a:t>(</a:t>
                          </a:r>
                          <a:r>
                            <a:rPr lang="en-US" sz="2000">
                              <a:effectLst/>
                            </a:rPr>
                            <a:t>interval OFI)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683979858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signed_flow_ratio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滾動 </a:t>
                          </a:r>
                          <a:r>
                            <a:rPr lang="en-US" altLang="zh-TW" sz="2000" dirty="0">
                              <a:effectLst/>
                            </a:rPr>
                            <a:t>N </a:t>
                          </a:r>
                          <a:r>
                            <a:rPr lang="zh-TW" altLang="en-US" sz="2000" dirty="0">
                              <a:effectLst/>
                            </a:rPr>
                            <a:t>筆淨成交流向比率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近期 </a:t>
                          </a:r>
                          <a:r>
                            <a:rPr lang="en-US" sz="2000">
                              <a:effectLst/>
                            </a:rPr>
                            <a:t>Order Flow Imbalance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3750855251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trade_intensity_short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近期 </a:t>
                          </a:r>
                          <a:r>
                            <a:rPr lang="en-US" sz="2000" dirty="0">
                              <a:effectLst/>
                            </a:rPr>
                            <a:t>N quote </a:t>
                          </a:r>
                          <a:r>
                            <a:rPr lang="zh-TW" altLang="en-US" sz="2000" dirty="0">
                              <a:effectLst/>
                            </a:rPr>
                            <a:t>內成交數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短期市場活躍度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2312833594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net_cancel_pressure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最佳一檔掛單量減少代理值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撤單壓力（流動性消失）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080456217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cancel_pressure_short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短視窗撤單壓力滾動值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即時流動性不穩定訊號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328015956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7409C-2E10-E1C7-6A8F-161EE38288CB}"/>
              </a:ext>
            </a:extLst>
          </p:cNvPr>
          <p:cNvSpPr txBox="1">
            <a:spLocks/>
          </p:cNvSpPr>
          <p:nvPr/>
        </p:nvSpPr>
        <p:spPr>
          <a:xfrm>
            <a:off x="821377" y="237745"/>
            <a:ext cx="7729728" cy="3337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/>
              <a:t>前置：將</a:t>
            </a:r>
            <a:r>
              <a:rPr lang="en-US" altLang="zh-TW"/>
              <a:t>TW_replay</a:t>
            </a:r>
            <a:r>
              <a:rPr lang="zh-TW" altLang="en-US"/>
              <a:t>的資料轉成 </a:t>
            </a:r>
            <a:r>
              <a:rPr lang="en-US" altLang="zh-TW"/>
              <a:t>LOB</a:t>
            </a:r>
            <a:r>
              <a:rPr lang="zh-TW" altLang="en-US"/>
              <a:t>的五檔資料</a:t>
            </a:r>
            <a:endParaRPr lang="LID4096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77358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illustrates a trading rule in Chinese, describing how to determine the aggressor's direction (buy or sell) based on the trade price in relation to the midpoint, using tick direction.&#10;&#10;AI-generated content may be incorrect.">
            <a:extLst>
              <a:ext uri="{FF2B5EF4-FFF2-40B4-BE49-F238E27FC236}">
                <a16:creationId xmlns:a16="http://schemas.microsoft.com/office/drawing/2014/main" id="{8E915138-E1BA-E442-C522-37BE7A455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74" y="328195"/>
            <a:ext cx="3192866" cy="2872205"/>
          </a:xfrm>
          <a:prstGeom prst="rect">
            <a:avLst/>
          </a:prstGeom>
        </p:spPr>
      </p:pic>
      <p:pic>
        <p:nvPicPr>
          <p:cNvPr id="7" name="Picture 6" descr="Signed Flow Ratio&#10;&#10;AI-generated content may be incorrect.">
            <a:extLst>
              <a:ext uri="{FF2B5EF4-FFF2-40B4-BE49-F238E27FC236}">
                <a16:creationId xmlns:a16="http://schemas.microsoft.com/office/drawing/2014/main" id="{593206EC-6D01-4CF6-C031-123D96171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111" y="628405"/>
            <a:ext cx="4293937" cy="2394195"/>
          </a:xfrm>
          <a:prstGeom prst="rect">
            <a:avLst/>
          </a:prstGeom>
        </p:spPr>
      </p:pic>
      <p:pic>
        <p:nvPicPr>
          <p:cNvPr id="9" name="Picture 8" descr="The image displays a technical trading indicator, specifically the 'trade intensity short' (￧ﾉﾹ￥ﾾﾵ10), which calculates the rolling count of trades in recent quote events, reflecting the intensity of market activity and often accompanied by high volatility.&#10;&#10;AI-generated content may be incorrect.">
            <a:extLst>
              <a:ext uri="{FF2B5EF4-FFF2-40B4-BE49-F238E27FC236}">
                <a16:creationId xmlns:a16="http://schemas.microsoft.com/office/drawing/2014/main" id="{3492A807-AEF0-ACE5-D37E-AF859270D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685" y="3339916"/>
            <a:ext cx="4996515" cy="1405747"/>
          </a:xfrm>
          <a:prstGeom prst="rect">
            <a:avLst/>
          </a:prstGeom>
        </p:spPr>
      </p:pic>
      <p:pic>
        <p:nvPicPr>
          <p:cNvPr id="13" name="Picture 12" descr="The image displays a technical diagram illustrating a conditional statement for monitoring price changes, including variables for threshold and horizon, with annotations in Chinese.&#10;&#10;AI-generated content may be incorrect.">
            <a:extLst>
              <a:ext uri="{FF2B5EF4-FFF2-40B4-BE49-F238E27FC236}">
                <a16:creationId xmlns:a16="http://schemas.microsoft.com/office/drawing/2014/main" id="{64951F89-0ED4-329D-3092-2164B3B39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0765" y="2966326"/>
            <a:ext cx="4432300" cy="3558673"/>
          </a:xfrm>
          <a:prstGeom prst="rect">
            <a:avLst/>
          </a:prstGeom>
        </p:spPr>
      </p:pic>
      <p:pic>
        <p:nvPicPr>
          <p:cNvPr id="15" name="Picture 14" descr="The image depicts a technical diagram with a cancel button and a pressure calculation formula, accompanied by a Japanese explanation about the concept of optimal withdrawal quantity and its significance as an estimate for withdrawal pressure, which indicates market liquidity and price impact.&#10;&#10;AI-generated content may be incorrect.">
            <a:extLst>
              <a:ext uri="{FF2B5EF4-FFF2-40B4-BE49-F238E27FC236}">
                <a16:creationId xmlns:a16="http://schemas.microsoft.com/office/drawing/2014/main" id="{6380DB95-F23F-F264-D501-F22E8BB99F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154" y="5000953"/>
            <a:ext cx="6531735" cy="110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2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1D420-9876-E61E-6BC1-A4464FC05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48C3-DF81-6E7D-35E6-19D57AD40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18" y="2858251"/>
            <a:ext cx="4486656" cy="1141497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TRAIN tcn</a:t>
            </a:r>
            <a:endParaRPr lang="LID4096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2A554D-7211-977F-A86A-28998AB4A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030" y="581388"/>
            <a:ext cx="4815840" cy="6276612"/>
          </a:xfrm>
        </p:spPr>
        <p:txBody>
          <a:bodyPr>
            <a:normAutofit/>
          </a:bodyPr>
          <a:lstStyle/>
          <a:p>
            <a:r>
              <a:rPr lang="en-US" dirty="0"/>
              <a:t>Input: </a:t>
            </a:r>
            <a:r>
              <a:rPr lang="zh-TW" altLang="en-US" dirty="0"/>
              <a:t>上一個部份的</a:t>
            </a:r>
            <a:r>
              <a:rPr lang="en-US" altLang="zh-TW" dirty="0"/>
              <a:t>12</a:t>
            </a:r>
            <a:r>
              <a:rPr lang="zh-TW" altLang="en-US" dirty="0"/>
              <a:t>個</a:t>
            </a:r>
            <a:r>
              <a:rPr lang="en-US" altLang="zh-TW" dirty="0"/>
              <a:t>feature</a:t>
            </a:r>
          </a:p>
          <a:p>
            <a:r>
              <a:rPr lang="zh-TW" altLang="en-US" dirty="0"/>
              <a:t>每個</a:t>
            </a:r>
            <a:r>
              <a:rPr lang="en-US" altLang="zh-TW" dirty="0"/>
              <a:t>event </a:t>
            </a:r>
            <a:r>
              <a:rPr lang="zh-TW" altLang="en-US" dirty="0"/>
              <a:t>跑一次</a:t>
            </a:r>
            <a:endParaRPr lang="en-US" dirty="0"/>
          </a:p>
          <a:p>
            <a:r>
              <a:rPr lang="en-US" dirty="0"/>
              <a:t>Parameters:</a:t>
            </a:r>
          </a:p>
          <a:p>
            <a:pPr lvl="1"/>
            <a:r>
              <a:rPr lang="en-US" dirty="0"/>
              <a:t> TCN Blocks: 3</a:t>
            </a:r>
          </a:p>
          <a:p>
            <a:pPr lvl="1"/>
            <a:r>
              <a:rPr lang="en-US" dirty="0"/>
              <a:t>Channels per block: </a:t>
            </a:r>
            <a:r>
              <a:rPr lang="en-US" b="1" dirty="0"/>
              <a:t>16</a:t>
            </a:r>
          </a:p>
          <a:p>
            <a:pPr lvl="1"/>
            <a:r>
              <a:rPr lang="en-US" dirty="0"/>
              <a:t> Kernel size: 3 </a:t>
            </a:r>
          </a:p>
          <a:p>
            <a:pPr lvl="1"/>
            <a:r>
              <a:rPr lang="en-US" dirty="0"/>
              <a:t> Dilations: </a:t>
            </a:r>
            <a:r>
              <a:rPr lang="en-US" b="1" dirty="0"/>
              <a:t>1 / 2 / 4 </a:t>
            </a:r>
          </a:p>
          <a:p>
            <a:pPr lvl="1"/>
            <a:r>
              <a:rPr lang="en-US" dirty="0"/>
              <a:t> Window size (sequence length): </a:t>
            </a:r>
            <a:r>
              <a:rPr lang="en-US" b="1" dirty="0"/>
              <a:t>100</a:t>
            </a:r>
            <a:endParaRPr lang="en-US" dirty="0"/>
          </a:p>
          <a:p>
            <a:pPr lvl="1"/>
            <a:r>
              <a:rPr lang="en-US" dirty="0"/>
              <a:t> Horizon: </a:t>
            </a:r>
            <a:r>
              <a:rPr lang="en-US" b="1" dirty="0"/>
              <a:t>10</a:t>
            </a:r>
            <a:endParaRPr lang="en-US" dirty="0"/>
          </a:p>
          <a:p>
            <a:pPr lvl="1"/>
            <a:r>
              <a:rPr lang="en-US" dirty="0"/>
              <a:t>Total params </a:t>
            </a:r>
            <a:r>
              <a:rPr lang="en-US" b="1" dirty="0"/>
              <a:t>4,771</a:t>
            </a:r>
            <a:endParaRPr lang="en-US" dirty="0"/>
          </a:p>
          <a:p>
            <a:pPr lvl="1"/>
            <a:r>
              <a:rPr lang="en-US" dirty="0"/>
              <a:t> MACs / sample: </a:t>
            </a:r>
            <a:r>
              <a:rPr lang="en-US" b="1" dirty="0"/>
              <a:t>460,848</a:t>
            </a:r>
            <a:endParaRPr lang="en-US" dirty="0"/>
          </a:p>
          <a:p>
            <a:pPr lvl="1"/>
            <a:r>
              <a:rPr lang="en-US" dirty="0"/>
              <a:t> Receptive Field: </a:t>
            </a:r>
            <a:r>
              <a:rPr lang="en-US" b="1" dirty="0"/>
              <a:t>29 events</a:t>
            </a:r>
            <a:endParaRPr lang="en-US" dirty="0"/>
          </a:p>
          <a:p>
            <a:pPr lvl="1"/>
            <a:r>
              <a:rPr lang="en-US" dirty="0"/>
              <a:t> INT8 weight size: </a:t>
            </a:r>
            <a:r>
              <a:rPr lang="en-US" b="1" dirty="0"/>
              <a:t>4.8 KB</a:t>
            </a:r>
            <a:endParaRPr lang="en-US" dirty="0"/>
          </a:p>
          <a:p>
            <a:r>
              <a:rPr lang="en-US" altLang="zh-TW" dirty="0"/>
              <a:t>Output:</a:t>
            </a:r>
            <a:r>
              <a:rPr lang="zh-TW" altLang="en-US" sz="2000" dirty="0"/>
              <a:t> </a:t>
            </a:r>
            <a:r>
              <a:rPr lang="en-US" altLang="zh-TW" sz="2000" dirty="0" err="1"/>
              <a:t>p_up</a:t>
            </a:r>
            <a:r>
              <a:rPr lang="en-US" altLang="zh-TW" sz="2000" dirty="0"/>
              <a:t>, </a:t>
            </a:r>
            <a:r>
              <a:rPr lang="en-US" altLang="zh-TW" sz="2000" dirty="0" err="1"/>
              <a:t>p_down</a:t>
            </a:r>
            <a:r>
              <a:rPr lang="en-US" altLang="zh-TW" sz="2000" dirty="0"/>
              <a:t>, </a:t>
            </a:r>
            <a:r>
              <a:rPr lang="en-US" altLang="zh-TW" sz="2000" dirty="0" err="1"/>
              <a:t>p_stationary</a:t>
            </a:r>
            <a:endParaRPr lang="en-US" altLang="zh-TW" sz="2000" dirty="0"/>
          </a:p>
          <a:p>
            <a:pPr lvl="1"/>
            <a:r>
              <a:rPr lang="zh-TW" altLang="en-US" sz="1700" dirty="0"/>
              <a:t> </a:t>
            </a:r>
            <a:r>
              <a:rPr lang="en-US" altLang="zh-TW" sz="1700" dirty="0"/>
              <a:t>| alpha score | = | </a:t>
            </a:r>
            <a:r>
              <a:rPr lang="en-US" altLang="zh-TW" sz="1700" dirty="0" err="1"/>
              <a:t>p_up</a:t>
            </a:r>
            <a:r>
              <a:rPr lang="en-US" altLang="zh-TW" sz="1700" dirty="0"/>
              <a:t> – </a:t>
            </a:r>
            <a:r>
              <a:rPr lang="en-US" altLang="zh-TW" sz="1700" dirty="0" err="1"/>
              <a:t>p_down</a:t>
            </a:r>
            <a:r>
              <a:rPr lang="en-US" altLang="zh-TW" sz="1700" dirty="0"/>
              <a:t> |&gt;</a:t>
            </a:r>
            <a:r>
              <a:rPr lang="zh-TW" altLang="en-US" sz="1700" dirty="0"/>
              <a:t> </a:t>
            </a:r>
            <a:r>
              <a:rPr lang="en-US" altLang="zh-TW" sz="1700" dirty="0"/>
              <a:t>threshold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38651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depicts a TCN (Temporal Convolutional Network) classifier architecture with three residual blocks, dilation rates of 1, 2, and 4, and a total receptive field (RF) of 29 events.&#10;&#10;AI-generated content may be incorrect.">
            <a:extLst>
              <a:ext uri="{FF2B5EF4-FFF2-40B4-BE49-F238E27FC236}">
                <a16:creationId xmlns:a16="http://schemas.microsoft.com/office/drawing/2014/main" id="{6619F500-FF47-AD1A-DDB2-B17C073835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835" b="8482"/>
          <a:stretch>
            <a:fillRect/>
          </a:stretch>
        </p:blipFill>
        <p:spPr>
          <a:xfrm>
            <a:off x="0" y="2190750"/>
            <a:ext cx="121920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942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841F0-BC8B-28C8-DAC0-9D86FC19B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Strategy &amp; </a:t>
            </a:r>
            <a:r>
              <a:rPr lang="en-US" altLang="zh-TW" dirty="0" err="1"/>
              <a:t>Backtest</a:t>
            </a:r>
            <a:endParaRPr lang="LID4096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EA1B9B-F889-0337-9BBA-8C6C3D5BD5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sz="2400" dirty="0"/>
                  <a:t>機制：</a:t>
                </a:r>
                <a:endParaRPr lang="en-US" altLang="zh-TW" sz="2400" dirty="0"/>
              </a:p>
              <a:p>
                <a:pPr lvl="1"/>
                <a:r>
                  <a:rPr lang="zh-TW" altLang="en-US" dirty="0"/>
                  <a:t>根據 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/>
                        </m:ctrlPr>
                      </m:sSubPr>
                      <m:e>
                        <m:r>
                          <a:rPr lang="zh-TW" altLang="en-US" i="1"/>
                          <m:t>𝑃</m:t>
                        </m:r>
                      </m:e>
                      <m:sub>
                        <m:r>
                          <a:rPr lang="zh-TW" altLang="en-US" i="1"/>
                          <m:t>𝑢𝑝</m:t>
                        </m:r>
                      </m:sub>
                    </m:sSub>
                    <m:r>
                      <a:rPr lang="en-US" altLang="zh-TW"/>
                      <m:t>,</m:t>
                    </m:r>
                    <m:sSub>
                      <m:sSubPr>
                        <m:ctrlPr>
                          <a:rPr lang="zh-TW" altLang="en-US" i="1"/>
                        </m:ctrlPr>
                      </m:sSubPr>
                      <m:e>
                        <m:r>
                          <a:rPr lang="zh-TW" altLang="en-US" i="1"/>
                          <m:t>𝑃</m:t>
                        </m:r>
                      </m:e>
                      <m:sub>
                        <m:r>
                          <a:rPr lang="zh-TW" altLang="en-US" i="1"/>
                          <m:t>𝑑𝑜𝑤𝑛</m:t>
                        </m:r>
                      </m:sub>
                    </m:sSub>
                    <m:r>
                      <a:rPr lang="en-US" altLang="zh-TW"/>
                      <m:t>,</m:t>
                    </m:r>
                    <m:sSub>
                      <m:sSubPr>
                        <m:ctrlPr>
                          <a:rPr lang="zh-TW" altLang="en-US" i="1"/>
                        </m:ctrlPr>
                      </m:sSubPr>
                      <m:e>
                        <m:r>
                          <a:rPr lang="zh-TW" altLang="en-US" i="1"/>
                          <m:t>𝑃</m:t>
                        </m:r>
                      </m:e>
                      <m:sub>
                        <m:r>
                          <a:rPr lang="zh-TW" altLang="en-US" i="1"/>
                          <m:t>𝑠𝑡𝑎𝑡</m:t>
                        </m:r>
                      </m:sub>
                    </m:sSub>
                  </m:oMath>
                </a14:m>
                <a:r>
                  <a:rPr lang="en-US" altLang="zh-TW" dirty="0"/>
                  <a:t>) </a:t>
                </a:r>
                <a:r>
                  <a:rPr lang="zh-TW" altLang="en-US" dirty="0"/>
                  <a:t>決定動作。</a:t>
                </a:r>
              </a:p>
              <a:p>
                <a:pPr lvl="1"/>
                <a:r>
                  <a:rPr lang="zh-TW" altLang="en-US" b="1" dirty="0"/>
                  <a:t>執行模式</a:t>
                </a:r>
                <a:r>
                  <a:rPr lang="zh-TW" altLang="en-US" dirty="0"/>
                  <a:t>：</a:t>
                </a:r>
                <a:endParaRPr lang="en-US" altLang="zh-TW" dirty="0"/>
              </a:p>
              <a:p>
                <a:pPr lvl="2"/>
                <a:r>
                  <a:rPr lang="zh-TW" altLang="en-US" dirty="0"/>
                  <a:t>市價：</a:t>
                </a:r>
                <a:r>
                  <a:rPr lang="en-US" altLang="zh-TW" dirty="0"/>
                  <a:t>P &gt; 0.55</a:t>
                </a:r>
              </a:p>
              <a:p>
                <a:pPr lvl="2"/>
                <a:r>
                  <a:rPr lang="zh-TW" altLang="en-US" dirty="0"/>
                  <a:t>限價：</a:t>
                </a:r>
                <a:r>
                  <a:rPr lang="en-US" altLang="zh-TW" dirty="0"/>
                  <a:t>P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&lt;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0.55</a:t>
                </a:r>
              </a:p>
              <a:p>
                <a:pPr lvl="1"/>
                <a:r>
                  <a:rPr lang="zh-TW" altLang="en-US" dirty="0"/>
                  <a:t>限價進場會參考 </a:t>
                </a:r>
                <a:r>
                  <a:rPr lang="en-US" altLang="zh-TW" dirty="0"/>
                  <a:t>LOB </a:t>
                </a:r>
                <a:r>
                  <a:rPr lang="zh-TW" altLang="en-US" dirty="0"/>
                  <a:t>第一檔掛單量，進行 </a:t>
                </a:r>
                <a:r>
                  <a:rPr lang="en-US" altLang="zh-TW" dirty="0"/>
                  <a:t>FIFO </a:t>
                </a:r>
                <a:r>
                  <a:rPr lang="zh-TW" altLang="en-US" dirty="0"/>
                  <a:t>佇列模擬。</a:t>
                </a:r>
                <a:endParaRPr lang="en-US" altLang="zh-TW" dirty="0"/>
              </a:p>
              <a:p>
                <a:pPr lvl="1"/>
                <a:r>
                  <a:rPr lang="en-US" altLang="zh-TW" dirty="0"/>
                  <a:t>Latency</a:t>
                </a:r>
                <a:r>
                  <a:rPr lang="zh-TW" altLang="en-US" dirty="0"/>
                  <a:t>：模擬 </a:t>
                </a:r>
                <a:r>
                  <a:rPr lang="en-US" altLang="zh-TW" dirty="0"/>
                  <a:t>1-tick </a:t>
                </a:r>
                <a:r>
                  <a:rPr lang="zh-TW" altLang="en-US" dirty="0"/>
                  <a:t>延遲 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成交撮合：限價單透過 </a:t>
                </a:r>
                <a:r>
                  <a:rPr lang="en-US" altLang="zh-TW" dirty="0" err="1"/>
                  <a:t>trade_tape</a:t>
                </a:r>
                <a:r>
                  <a:rPr lang="en-US" altLang="zh-TW" dirty="0"/>
                  <a:t> (</a:t>
                </a:r>
                <a:r>
                  <a:rPr lang="zh-TW" altLang="en-US" dirty="0"/>
                  <a:t>逐筆成交錄</a:t>
                </a:r>
                <a:r>
                  <a:rPr lang="en-US" altLang="zh-TW" dirty="0"/>
                  <a:t>) </a:t>
                </a:r>
                <a:r>
                  <a:rPr lang="zh-TW" altLang="en-US" dirty="0"/>
                  <a:t>驗證，僅當市場成交價優於或等於報價、且成交量足以消化佇列頭部時，才判定為成功成交。</a:t>
                </a:r>
                <a:endParaRPr lang="en-US" altLang="zh-TW" sz="2400" dirty="0"/>
              </a:p>
              <a:p>
                <a:endParaRPr lang="LID4096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EA1B9B-F889-0337-9BBA-8C6C3D5BD5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46" t="-929" r="-253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D8453-D136-65FD-5475-233A0E6DC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50207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ACAE4-3735-35F4-B88B-E340E64CE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BACD01-A8FA-4939-CFAE-F74397BAB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程式上的做法</a:t>
            </a:r>
            <a:endParaRPr lang="LID4096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73C31F2-521B-B75B-55CD-CBED4B591C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87281" y="2500158"/>
                <a:ext cx="10169289" cy="2669719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/>
                      <m:t>𝑇</m:t>
                    </m:r>
                    <m:r>
                      <a:rPr lang="en-US" i="1" smtClean="0"/>
                      <m:t>h</m:t>
                    </m:r>
                    <m:r>
                      <a:rPr lang="en-US" i="1" smtClean="0"/>
                      <m:t>𝑟𝑒𝑠</m:t>
                    </m:r>
                    <m:r>
                      <a:rPr lang="en-US" i="1" smtClean="0"/>
                      <m:t>h</m:t>
                    </m:r>
                    <m:r>
                      <a:rPr lang="en-US" i="1" smtClean="0"/>
                      <m:t>𝑜𝑙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𝑑</m:t>
                        </m:r>
                      </m:e>
                      <m:sub>
                        <m:r>
                          <a:rPr lang="ar-AE" i="1"/>
                          <m:t>𝑑𝑦𝑛𝑎𝑚𝑖𝑐</m:t>
                        </m:r>
                      </m:sub>
                    </m:sSub>
                    <m:r>
                      <a:rPr lang="ar-AE"/>
                      <m:t>=</m:t>
                    </m:r>
                    <m:r>
                      <a:rPr lang="ar-AE" i="1"/>
                      <m:t>𝑇</m:t>
                    </m:r>
                    <m:r>
                      <a:rPr lang="ar-AE" i="1"/>
                      <m:t>h</m:t>
                    </m:r>
                    <m:r>
                      <a:rPr lang="ar-AE" i="1"/>
                      <m:t>𝑟𝑒𝑠</m:t>
                    </m:r>
                    <m:r>
                      <a:rPr lang="ar-AE" i="1"/>
                      <m:t>h</m:t>
                    </m:r>
                    <m:r>
                      <a:rPr lang="ar-AE" i="1"/>
                      <m:t>𝑜𝑙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𝑑</m:t>
                        </m:r>
                      </m:e>
                      <m:sub>
                        <m:r>
                          <a:rPr lang="ar-AE" i="1"/>
                          <m:t>𝑏𝑎𝑠𝑒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ar-AE" i="1"/>
                      <m:t>𝛼</m:t>
                    </m:r>
                    <m:r>
                      <a:rPr lang="ar-AE"/>
                      <m:t>⋅</m:t>
                    </m:r>
                    <m:r>
                      <a:rPr lang="ar-AE" i="1"/>
                      <m:t>𝑆𝑝𝑟𝑒𝑎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𝑑</m:t>
                        </m:r>
                      </m:e>
                      <m:sub>
                        <m:r>
                          <a:rPr lang="ar-AE" i="1"/>
                          <m:t>𝑡𝑖𝑐𝑘𝑠</m:t>
                        </m:r>
                      </m:sub>
                    </m:sSub>
                    <m:r>
                      <a:rPr lang="ar-AE"/>
                      <m:t>+</m:t>
                    </m:r>
                    <m:r>
                      <a:rPr lang="ar-AE" i="1"/>
                      <m:t>𝛽</m:t>
                    </m:r>
                    <m:r>
                      <a:rPr lang="ar-AE"/>
                      <m:t>⋅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𝜎</m:t>
                        </m:r>
                      </m:e>
                      <m:sub>
                        <m:r>
                          <a:rPr lang="ar-AE" i="1"/>
                          <m:t>𝑟𝑜𝑙𝑙𝑖𝑛𝑔</m:t>
                        </m:r>
                      </m:sub>
                    </m:sSub>
                  </m:oMath>
                </a14:m>
                <a:endParaRPr lang="ar-AE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ar-AE" i="1"/>
                      <m:t>𝑀𝑎𝑟𝑔𝑖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ar-AE"/>
                      <m:t>=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a:rPr lang="ar-AE" i="1"/>
                          <m:t>𝑑𝑖𝑟</m:t>
                        </m:r>
                        <m:r>
                          <a:rPr lang="ar-AE"/>
                          <m:t>,</m:t>
                        </m:r>
                        <m:r>
                          <a:rPr lang="ar-AE" i="1"/>
                          <m:t>𝑡</m:t>
                        </m:r>
                      </m:sub>
                    </m:sSub>
                    <m:r>
                      <a:rPr lang="ar-AE"/>
                      <m:t>−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a:rPr lang="ar-AE" i="1"/>
                          <m:t>𝑠𝑡𝑎𝑡𝑖𝑜𝑛𝑎𝑟𝑦</m:t>
                        </m:r>
                        <m:r>
                          <a:rPr lang="ar-AE"/>
                          <m:t>,</m:t>
                        </m:r>
                        <m:r>
                          <a:rPr lang="ar-AE" i="1"/>
                          <m:t>𝑡</m:t>
                        </m:r>
                      </m:sub>
                    </m:sSub>
                  </m:oMath>
                </a14:m>
                <a:endParaRPr lang="ar-AE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ar-AE" i="1"/>
                      <m:t>𝑇𝑎𝑘𝑒𝑇𝑟𝑎𝑑𝑒</m:t>
                    </m:r>
                    <m:r>
                      <a:rPr lang="ar-AE"/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 smtClean="0"/>
                            </m:ctrlPr>
                          </m:mPr>
                          <m:mr>
                            <m:e>
                              <m:r>
                                <a:rPr lang="ar-AE" i="1"/>
                                <m:t>𝑇𝑟𝑢𝑒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i="1"/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i="1"/>
                                <m:t> </m:t>
                              </m:r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𝑃</m:t>
                                  </m:r>
                                </m:e>
                                <m:sub>
                                  <m:r>
                                    <a:rPr lang="ar-AE" i="1"/>
                                    <m:t>𝑑𝑖𝑟</m:t>
                                  </m:r>
                                </m:sub>
                              </m:sSub>
                              <m:r>
                                <a:rPr lang="ar-AE"/>
                                <m:t>≥</m:t>
                              </m:r>
                              <m:r>
                                <a:rPr lang="ar-AE" i="1"/>
                                <m:t>𝑇</m:t>
                              </m:r>
                              <m:r>
                                <a:rPr lang="ar-AE" i="1"/>
                                <m:t>h</m:t>
                              </m:r>
                              <m:r>
                                <a:rPr lang="ar-AE" i="1"/>
                                <m:t>𝑟𝑒𝑠</m:t>
                              </m:r>
                              <m:r>
                                <a:rPr lang="ar-AE" i="1"/>
                                <m:t>h</m:t>
                              </m:r>
                              <m:r>
                                <a:rPr lang="ar-AE" i="1"/>
                                <m:t>𝑜𝑙</m:t>
                              </m:r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𝑑</m:t>
                                  </m:r>
                                </m:e>
                                <m:sub>
                                  <m:r>
                                    <a:rPr lang="ar-AE" i="1"/>
                                    <m:t>𝑑𝑦𝑛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ar-AE" i="1"/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&amp;&amp;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Margin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a:rPr lang="ar-AE" smtClean="0"/>
                                <m:t>≥</m:t>
                              </m:r>
                              <m:r>
                                <a:rPr lang="ar-AE" i="1"/>
                                <m:t>𝑀𝑎𝑟𝑔𝑖</m:t>
                              </m:r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𝑛</m:t>
                                  </m:r>
                                </m:e>
                                <m:sub>
                                  <m:r>
                                    <a:rPr lang="ar-AE" i="1"/>
                                    <m:t>𝑚𝑖𝑛</m:t>
                                  </m:r>
                                </m:sub>
                              </m:s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egime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OK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/>
                            <m:e/>
                          </m:mr>
                          <m:mr>
                            <m:e>
                              <m:r>
                                <a:rPr lang="ar-AE" i="1"/>
                                <m:t>𝐹𝑎𝑙𝑠𝑒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signal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→ 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Stationary</m:t>
                              </m:r>
                              <m:r>
                                <m:rPr>
                                  <m:nor/>
                                </m:rPr>
                                <a:rPr lang="en-US" i="1"/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dir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i="1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𝑃𝑢𝑝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​,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𝑃𝑑𝑜𝑤𝑛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​)</m:t>
                    </m:r>
                  </m:oMath>
                </a14:m>
                <a:endParaRPr lang="en-US" i="1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73C31F2-521B-B75B-55CD-CBED4B591C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87281" y="2500158"/>
                <a:ext cx="10169289" cy="2669719"/>
              </a:xfrm>
              <a:blipFill>
                <a:blip r:embed="rId3"/>
                <a:stretch>
                  <a:fillRect l="-419" t="-68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ABA74B0-31B1-A0C3-3360-9F5E71A53D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569" b="29304"/>
          <a:stretch>
            <a:fillRect/>
          </a:stretch>
        </p:blipFill>
        <p:spPr>
          <a:xfrm>
            <a:off x="0" y="5169877"/>
            <a:ext cx="12192000" cy="168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59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969DA-F033-9BFD-08AE-115608141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regime</a:t>
            </a:r>
            <a:endParaRPr lang="LID4096" dirty="0"/>
          </a:p>
        </p:txBody>
      </p:sp>
      <p:pic>
        <p:nvPicPr>
          <p:cNvPr id="7" name="Picture 6" descr="The image presents a detailed explanation of a trading strategy that includes parameters like rationale, volatility, market overheating, bid-ask depth, and spoofing prevention, all aimed at optimizing trading decisions.&#10;&#10;AI-generated content may be incorrect.">
            <a:extLst>
              <a:ext uri="{FF2B5EF4-FFF2-40B4-BE49-F238E27FC236}">
                <a16:creationId xmlns:a16="http://schemas.microsoft.com/office/drawing/2014/main" id="{326CEFB7-AF0A-D03B-F0E0-05B2CEC7A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136" y="2717240"/>
            <a:ext cx="8244114" cy="153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733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ith Gating&#10;&#10;AI-generated content may be incorrect.">
            <a:extLst>
              <a:ext uri="{FF2B5EF4-FFF2-40B4-BE49-F238E27FC236}">
                <a16:creationId xmlns:a16="http://schemas.microsoft.com/office/drawing/2014/main" id="{B022BCAA-943A-46B0-1CA7-647B5F72E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7000"/>
            <a:ext cx="12192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319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FA02C-4681-DDCA-A9E2-857D7827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70746-46E1-6846-DAAF-1C45851B9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轉成</a:t>
            </a:r>
            <a:r>
              <a:rPr lang="en-US" altLang="zh-TW" dirty="0"/>
              <a:t>INT8</a:t>
            </a:r>
            <a:endParaRPr lang="LID4096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7C8DFE1-A22B-FE98-000B-DC1D07902F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36079" y="804672"/>
                <a:ext cx="5535749" cy="5248656"/>
              </a:xfrm>
            </p:spPr>
            <p:txBody>
              <a:bodyPr/>
              <a:lstStyle/>
              <a:p>
                <a:r>
                  <a:rPr lang="zh-TW" altLang="en-US" dirty="0"/>
                  <a:t>做法：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𝑐𝑙𝑖𝑝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𝑟𝑜𝑢𝑛𝑑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𝑠𝑓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127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127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fName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127</m:t>
                        </m:r>
                      </m:den>
                    </m:f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𝑃𝑒𝑟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𝑎𝑛𝑛𝑒𝑙𝑠𝑐𝑎𝑙𝑒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𝐿𝑜𝑔𝑖𝑡𝑓𝑙𝑜𝑎𝑡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𝐿𝑜𝑔𝑖𝑡𝑖𝑛𝑡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32​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activation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weight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zh-TW" altLang="en-US" dirty="0">
                    <a:latin typeface="Cambria Math" panose="02040503050406030204" pitchFamily="18" charset="0"/>
                  </a:rPr>
                  <a:t>再取</a:t>
                </a:r>
                <a:r>
                  <a:rPr lang="en-US" altLang="zh-TW" dirty="0" err="1">
                    <a:latin typeface="Cambria Math" panose="02040503050406030204" pitchFamily="18" charset="0"/>
                  </a:rPr>
                  <a:t>softmax</a:t>
                </a:r>
                <a:r>
                  <a:rPr lang="zh-TW" altLang="en-US" dirty="0">
                    <a:latin typeface="Cambria Math" panose="02040503050406030204" pitchFamily="18" charset="0"/>
                  </a:rPr>
                  <a:t>得到</a:t>
                </a:r>
                <a:r>
                  <a:rPr lang="en-US" altLang="zh-TW" dirty="0" err="1">
                    <a:latin typeface="Cambria Math" panose="02040503050406030204" pitchFamily="18" charset="0"/>
                  </a:rPr>
                  <a:t>P_up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, </a:t>
                </a:r>
                <a:r>
                  <a:rPr lang="en-US" altLang="zh-TW" dirty="0" err="1">
                    <a:latin typeface="Cambria Math" panose="02040503050406030204" pitchFamily="18" charset="0"/>
                  </a:rPr>
                  <a:t>P_stationary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, </a:t>
                </a:r>
                <a:r>
                  <a:rPr lang="en-US" altLang="zh-TW" dirty="0" err="1">
                    <a:latin typeface="Cambria Math" panose="02040503050406030204" pitchFamily="18" charset="0"/>
                  </a:rPr>
                  <a:t>P_down</a:t>
                </a:r>
                <a:endParaRPr lang="en-US" altLang="zh-TW" dirty="0">
                  <a:latin typeface="Cambria Math" panose="02040503050406030204" pitchFamily="18" charset="0"/>
                </a:endParaRPr>
              </a:p>
              <a:p>
                <a:pPr lvl="1"/>
                <a:endParaRPr lang="en-US" b="0" dirty="0">
                  <a:latin typeface="Cambria Math" panose="02040503050406030204" pitchFamily="18" charset="0"/>
                </a:endParaRPr>
              </a:p>
              <a:p>
                <a:pPr lvl="1"/>
                <a:endParaRPr lang="en-US" dirty="0">
                  <a:latin typeface="Cambria Math" panose="02040503050406030204" pitchFamily="18" charset="0"/>
                </a:endParaRPr>
              </a:p>
              <a:p>
                <a:pPr lvl="1"/>
                <a:endParaRPr lang="en-US" b="0" dirty="0">
                  <a:latin typeface="Cambria Math" panose="02040503050406030204" pitchFamily="18" charset="0"/>
                </a:endParaRPr>
              </a:p>
              <a:p>
                <a:r>
                  <a:rPr lang="zh-TW" altLang="en-US" dirty="0"/>
                  <a:t>做法：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把上面那樣子</a:t>
                </a:r>
                <a:r>
                  <a:rPr lang="en-US" altLang="zh-TW" dirty="0" err="1"/>
                  <a:t>c++</a:t>
                </a:r>
                <a:r>
                  <a:rPr lang="en-US" altLang="zh-TW" dirty="0"/>
                  <a:t> (</a:t>
                </a:r>
                <a:r>
                  <a:rPr lang="zh-TW" altLang="en-US" dirty="0"/>
                  <a:t>未來要拿去做</a:t>
                </a:r>
                <a:r>
                  <a:rPr lang="en-US" altLang="zh-TW" dirty="0"/>
                  <a:t>HLS</a:t>
                </a:r>
                <a:r>
                  <a:rPr lang="zh-TW" altLang="en-US" dirty="0"/>
                  <a:t>的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跑出來的結果跟</a:t>
                </a:r>
                <a:r>
                  <a:rPr lang="en-US" altLang="zh-TW" dirty="0"/>
                  <a:t>python round</a:t>
                </a:r>
                <a:r>
                  <a:rPr lang="zh-TW" altLang="en-US" dirty="0"/>
                  <a:t>之後的結果比較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可以吻合 </a:t>
                </a:r>
                <a:r>
                  <a:rPr lang="en-US" altLang="zh-TW" dirty="0">
                    <a:sym typeface="Wingdings" panose="05000000000000000000" pitchFamily="2" charset="2"/>
                  </a:rPr>
                  <a:t></a:t>
                </a:r>
                <a:r>
                  <a:rPr lang="zh-TW" altLang="en-US" dirty="0">
                    <a:sym typeface="Wingdings" panose="05000000000000000000" pitchFamily="2" charset="2"/>
                  </a:rPr>
                  <a:t> 驗證成功</a:t>
                </a:r>
                <a:endParaRPr lang="en-US" altLang="zh-TW" dirty="0"/>
              </a:p>
              <a:p>
                <a:endParaRPr lang="en-US" b="0" dirty="0">
                  <a:latin typeface="Cambria Math" panose="02040503050406030204" pitchFamily="18" charset="0"/>
                </a:endParaRPr>
              </a:p>
              <a:p>
                <a:pPr lvl="1"/>
                <a14:m/>
              </a:p>
              <a:p>
                <a:pPr lvl="1"/>
                <a:endParaRPr lang="en-US" dirty="0">
                  <a:latin typeface="Cambria Math" panose="02040503050406030204" pitchFamily="18" charset="0"/>
                </a:endParaRPr>
              </a:p>
              <a:p>
                <a14:m/>
              </a:p>
              <a:p>
                <a:pPr marL="0" indent="0">
                  <a:buNone/>
                </a:pPr>
                <a:endParaRPr lang="en-US" altLang="zh-TW" dirty="0"/>
              </a:p>
              <a:p>
                <a:pPr lvl="1"/>
                <a:endParaRPr lang="LID4096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7C8DFE1-A22B-FE98-000B-DC1D07902F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36079" y="804672"/>
                <a:ext cx="5535749" cy="5248656"/>
              </a:xfrm>
              <a:blipFill>
                <a:blip r:embed="rId3"/>
                <a:stretch>
                  <a:fillRect l="-771" t="-697" b="-2079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31BF28A5-0616-43C7-68B3-FC8CC3568D3C}"/>
              </a:ext>
            </a:extLst>
          </p:cNvPr>
          <p:cNvSpPr txBox="1">
            <a:spLocks/>
          </p:cNvSpPr>
          <p:nvPr/>
        </p:nvSpPr>
        <p:spPr bwMode="blackWhite">
          <a:xfrm>
            <a:off x="769620" y="4268571"/>
            <a:ext cx="4486656" cy="1141497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/>
              <a:t>Bit accurate </a:t>
            </a:r>
            <a:r>
              <a:rPr lang="zh-TW" altLang="en-US"/>
              <a:t>驗證</a:t>
            </a:r>
            <a:endParaRPr lang="LID4096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F3A36029-AB66-34D8-B45B-179948294398}"/>
              </a:ext>
            </a:extLst>
          </p:cNvPr>
          <p:cNvSpPr/>
          <p:nvPr/>
        </p:nvSpPr>
        <p:spPr>
          <a:xfrm>
            <a:off x="2605314" y="3472676"/>
            <a:ext cx="638629" cy="649646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30278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2810F-8B23-84AE-553D-379970383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B8EAB4-17A1-B710-0260-0046476DC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858251"/>
            <a:ext cx="4486656" cy="1141497"/>
          </a:xfrm>
        </p:spPr>
        <p:txBody>
          <a:bodyPr/>
          <a:lstStyle/>
          <a:p>
            <a:r>
              <a:rPr lang="en-US" altLang="zh-TW" sz="2000">
                <a:solidFill>
                  <a:schemeClr val="tx1"/>
                </a:solidFill>
              </a:rPr>
              <a:t>HLS</a:t>
            </a:r>
            <a:r>
              <a:rPr lang="zh-TW" altLang="en-US" sz="2000">
                <a:solidFill>
                  <a:schemeClr val="tx1"/>
                </a:solidFill>
              </a:rPr>
              <a:t>的部分</a:t>
            </a:r>
            <a:endParaRPr lang="LID4096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BF9C54C-FBD2-42AA-8FF4-BF14062DBF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83086" y="804672"/>
                <a:ext cx="5812971" cy="5248656"/>
              </a:xfrm>
            </p:spPr>
            <p:txBody>
              <a:bodyPr/>
              <a:lstStyle/>
              <a:p>
                <a:r>
                  <a:rPr lang="en-US" altLang="zh-TW" dirty="0"/>
                  <a:t>Vitis </a:t>
                </a:r>
                <a:r>
                  <a:rPr lang="zh-TW" altLang="en-US" dirty="0"/>
                  <a:t>下載</a:t>
                </a:r>
              </a:p>
              <a:p>
                <a:r>
                  <a:rPr lang="zh-TW" altLang="en-US" dirty="0"/>
                  <a:t>概念理解</a:t>
                </a:r>
                <a:endParaRPr lang="en-US" altLang="zh-TW" dirty="0"/>
              </a:p>
              <a:p>
                <a:r>
                  <a:rPr lang="zh-TW" altLang="en-US" dirty="0"/>
                  <a:t>初步延遲推估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使用</a:t>
                </a:r>
                <a:r>
                  <a:rPr lang="en-US" altLang="zh-TW" dirty="0"/>
                  <a:t>MAC</a:t>
                </a:r>
                <a:r>
                  <a:rPr lang="zh-TW" altLang="en-US" dirty="0"/>
                  <a:t>的數量去推算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公式：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𝐿𝑎𝑡𝑒𝑛𝑐𝑦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​=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𝑇𝑜𝑡𝑎𝑙𝑀𝐴𝐶𝑠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𝑟𝑜𝑢𝑔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𝑝𝑢𝑡𝐹𝑃𝐺𝐴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​​=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460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848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𝑀𝐴𝐶𝑠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​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𝐺𝑀𝐴𝐶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lvl="1"/>
                <a:r>
                  <a:rPr lang="zh-TW" altLang="en-US" dirty="0"/>
                  <a:t>這部分只有純模型推論過程，不包含特徵工程、封包收發等</a:t>
                </a:r>
                <a:endParaRPr lang="en-US" altLang="zh-TW" dirty="0"/>
              </a:p>
              <a:p>
                <a:r>
                  <a:rPr lang="en-US" altLang="zh-TW" dirty="0"/>
                  <a:t>C++ code</a:t>
                </a:r>
                <a:r>
                  <a:rPr lang="zh-TW" altLang="en-US" dirty="0"/>
                  <a:t> 初步向</a:t>
                </a:r>
                <a:r>
                  <a:rPr lang="en-US" altLang="zh-TW" dirty="0"/>
                  <a:t>HLS</a:t>
                </a:r>
                <a:r>
                  <a:rPr lang="zh-TW" altLang="en-US" dirty="0"/>
                  <a:t>做</a:t>
                </a:r>
                <a:endParaRPr lang="en-US" altLang="zh-TW" dirty="0"/>
              </a:p>
              <a:p>
                <a:pPr lvl="1"/>
                <a:r>
                  <a:rPr lang="en-US" dirty="0"/>
                  <a:t>Fix-sized</a:t>
                </a:r>
              </a:p>
              <a:p>
                <a:pPr lvl="1"/>
                <a:r>
                  <a:rPr lang="zh-TW" altLang="en-US" dirty="0"/>
                  <a:t>不要</a:t>
                </a:r>
                <a:r>
                  <a:rPr lang="en-US" altLang="zh-TW" dirty="0"/>
                  <a:t>dynamic memory</a:t>
                </a:r>
                <a:endParaRPr lang="en-US" dirty="0"/>
              </a:p>
              <a:p>
                <a:pPr lvl="1"/>
                <a:endParaRPr lang="zh-TW" altLang="en-US" dirty="0"/>
              </a:p>
              <a:p>
                <a:endParaRPr lang="LID4096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BF9C54C-FBD2-42AA-8FF4-BF14062DBF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83086" y="804672"/>
                <a:ext cx="5812971" cy="5248656"/>
              </a:xfrm>
              <a:blipFill>
                <a:blip r:embed="rId3"/>
                <a:stretch>
                  <a:fillRect l="-734" t="-69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205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FBC00-D502-5E34-6869-E070DDA7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880519B-D6E4-92CD-9639-36445920B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8D599F-D8F8-37E2-5C64-1F9A40124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A5E348D-F76C-D855-B90C-C1AF091CC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40CFB-69A8-F698-96BC-E5863A665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zh-TW" altLang="en-US" sz="4000" dirty="0">
                <a:solidFill>
                  <a:srgbClr val="FFFFFF"/>
                </a:solidFill>
              </a:rPr>
              <a:t>下禮拜</a:t>
            </a:r>
            <a:br>
              <a:rPr lang="en-US" altLang="zh-TW" sz="4000" dirty="0">
                <a:solidFill>
                  <a:srgbClr val="FFFFFF"/>
                </a:solidFill>
              </a:rPr>
            </a:br>
            <a:r>
              <a:rPr lang="zh-TW" altLang="en-US" sz="4000" dirty="0">
                <a:solidFill>
                  <a:srgbClr val="FFFFFF"/>
                </a:solidFill>
              </a:rPr>
              <a:t>預計要做</a:t>
            </a:r>
            <a:endParaRPr lang="LID4096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32458-251B-C658-70CA-EFB824057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031631"/>
            <a:ext cx="5700082" cy="4424289"/>
          </a:xfrm>
        </p:spPr>
        <p:txBody>
          <a:bodyPr anchor="ctr">
            <a:normAutofit/>
          </a:bodyPr>
          <a:lstStyle/>
          <a:p>
            <a:r>
              <a:rPr lang="zh-TW" altLang="en-US" sz="2800" dirty="0"/>
              <a:t>更加熟悉</a:t>
            </a:r>
            <a:r>
              <a:rPr lang="en-US" altLang="zh-TW" sz="2800" dirty="0"/>
              <a:t>HLS</a:t>
            </a:r>
            <a:r>
              <a:rPr lang="zh-TW" altLang="en-US" sz="2800" dirty="0"/>
              <a:t>的做法，先模擬、合成看看</a:t>
            </a:r>
            <a:endParaRPr lang="en-US" altLang="zh-TW" sz="2800" dirty="0"/>
          </a:p>
          <a:p>
            <a:r>
              <a:rPr lang="zh-TW" altLang="en-US" sz="2800" dirty="0"/>
              <a:t>試著再壓縮</a:t>
            </a:r>
            <a:r>
              <a:rPr lang="en-US" altLang="zh-TW" sz="2800" dirty="0"/>
              <a:t>latency</a:t>
            </a:r>
          </a:p>
          <a:p>
            <a:r>
              <a:rPr lang="en-US" altLang="zh-TW" sz="2800" dirty="0"/>
              <a:t>(</a:t>
            </a:r>
            <a:r>
              <a:rPr lang="zh-TW" altLang="en-US" sz="2800" dirty="0"/>
              <a:t> </a:t>
            </a:r>
            <a:r>
              <a:rPr lang="en-US" altLang="zh-TW" sz="2800" dirty="0"/>
              <a:t>Train CME </a:t>
            </a:r>
            <a:r>
              <a:rPr lang="zh-TW" altLang="en-US" sz="2800" dirty="0"/>
              <a:t>部分的模型並比較</a:t>
            </a:r>
            <a:r>
              <a:rPr lang="en-US" altLang="zh-TW" sz="2800" dirty="0"/>
              <a:t>)</a:t>
            </a:r>
            <a:r>
              <a:rPr lang="zh-TW" altLang="en-US" sz="2800" dirty="0"/>
              <a:t> 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970712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25A6EF-CD2A-F720-6E73-C3156E65B8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THANK</a:t>
            </a:r>
            <a:r>
              <a:rPr lang="zh-TW" altLang="en-US" dirty="0"/>
              <a:t> </a:t>
            </a:r>
            <a:r>
              <a:rPr lang="en-US" altLang="zh-TW" dirty="0"/>
              <a:t>YOU</a:t>
            </a:r>
            <a:endParaRPr lang="LID4096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57CF14F-1CF0-0B41-C0EB-A28C9467D1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9939502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2707</TotalTime>
  <Words>1755</Words>
  <Application>Microsoft Office PowerPoint</Application>
  <PresentationFormat>Widescreen</PresentationFormat>
  <Paragraphs>222</Paragraphs>
  <Slides>17</Slides>
  <Notes>11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Cambria Math</vt:lpstr>
      <vt:lpstr>Gill Sans MT</vt:lpstr>
      <vt:lpstr>Wingdings</vt:lpstr>
      <vt:lpstr>Parcel</vt:lpstr>
      <vt:lpstr>Meeting 簡報 期中回顧</vt:lpstr>
      <vt:lpstr>這周</vt:lpstr>
      <vt:lpstr>CME資料放進去之後</vt:lpstr>
      <vt:lpstr>CME資料放進去之後 目前的成果：</vt:lpstr>
      <vt:lpstr>現在的架構與做法</vt:lpstr>
      <vt:lpstr>PowerPoint Presentation</vt:lpstr>
      <vt:lpstr>PowerPoint Presentation</vt:lpstr>
      <vt:lpstr>TRAIN tcn</vt:lpstr>
      <vt:lpstr>PowerPoint Presentation</vt:lpstr>
      <vt:lpstr>Strategy &amp; Backtest</vt:lpstr>
      <vt:lpstr>程式上的做法</vt:lpstr>
      <vt:lpstr>regime</vt:lpstr>
      <vt:lpstr>PowerPoint Presentation</vt:lpstr>
      <vt:lpstr>轉成INT8</vt:lpstr>
      <vt:lpstr>HLS的部分</vt:lpstr>
      <vt:lpstr>下禮拜 預計要做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holb l</dc:creator>
  <cp:lastModifiedBy>holb l</cp:lastModifiedBy>
  <cp:revision>149</cp:revision>
  <dcterms:created xsi:type="dcterms:W3CDTF">2026-03-25T16:51:19Z</dcterms:created>
  <dcterms:modified xsi:type="dcterms:W3CDTF">2026-04-16T07:20:48Z</dcterms:modified>
</cp:coreProperties>
</file>