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62" r:id="rId3"/>
    <p:sldId id="312" r:id="rId4"/>
    <p:sldId id="276" r:id="rId5"/>
    <p:sldId id="301" r:id="rId6"/>
    <p:sldId id="304" r:id="rId7"/>
    <p:sldId id="306" r:id="rId8"/>
    <p:sldId id="307" r:id="rId9"/>
    <p:sldId id="308" r:id="rId10"/>
    <p:sldId id="309" r:id="rId11"/>
    <p:sldId id="310" r:id="rId12"/>
    <p:sldId id="311" r:id="rId13"/>
    <p:sldId id="305" r:id="rId14"/>
    <p:sldId id="286" r:id="rId15"/>
    <p:sldId id="303" r:id="rId16"/>
    <p:sldId id="277" r:id="rId17"/>
    <p:sldId id="275" r:id="rId18"/>
    <p:sldId id="294" r:id="rId19"/>
    <p:sldId id="300" r:id="rId20"/>
    <p:sldId id="299" r:id="rId21"/>
    <p:sldId id="281" r:id="rId22"/>
    <p:sldId id="289" r:id="rId23"/>
    <p:sldId id="266" r:id="rId24"/>
    <p:sldId id="26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7" autoAdjust="0"/>
    <p:restoredTop sz="69646" autoAdjust="0"/>
  </p:normalViewPr>
  <p:slideViewPr>
    <p:cSldViewPr snapToGrid="0">
      <p:cViewPr varScale="1">
        <p:scale>
          <a:sx n="42" d="100"/>
          <a:sy n="42" d="100"/>
        </p:scale>
        <p:origin x="66" y="4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4167F-9C7C-44F3-80A0-375D59DEF40F}" type="datetimeFigureOut">
              <a:rPr lang="LID4096" smtClean="0"/>
              <a:t>05/06/2026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E18BC-91E4-497A-B749-BC5F9A2B39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714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9688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2673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185C0-2F85-E46C-D463-B5C226027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892457-FE36-EE86-0D4D-E98D7644E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009CA-EEAA-2994-B636-6BAF6E40C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D3384-76E3-8B00-925A-7E4BE4F26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33546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C4061-95FB-5637-12F0-67BAE1410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65AA3-EA61-14D1-5061-D57A44947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00E66-9E07-66EC-EB76-AEB5CA131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D3CB4-B0F5-CAF2-303E-E367995FC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87024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12019-F098-AB39-4CBF-63F90351F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5B772-8C27-AEBD-184A-93E237B15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E5BD1-4F5E-9D84-81BC-F6D62A705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A1FB3-527B-E4D0-6756-4C15CD7D1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2004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7811A-50CA-E10D-7FF0-DDBE5EA92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60845-90D5-B9C2-48CE-89FDDF7F3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2CCA02-40DC-D723-793D-E0B2B05B9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70E32-9B4F-D79A-0F39-FC09A3965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3204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F057D-AA94-1C7D-25F1-9AF9638DA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E7798-15FE-F8E0-B02E-8EF4EC419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F9FE3-B73B-D203-590B-014AD8A26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E441F-7E62-84FC-D022-96C921827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86658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D84C6-E72F-A0B3-59D4-DCB463E1A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9DD4F6-775D-4580-BCA4-A1988A6AD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ABE26-0FB1-F60F-732E-23BF9558F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AF090-F221-C0F3-387F-E2567D866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1023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5C8C7-5635-0F19-14BF-0A8D8CCB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941ED-F4DC-2754-F6C8-1B299F5AF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70F25-AA54-F7C4-496A-778EBBB35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C9E18-AB54-148B-E51F-418E8C1F4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65780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D7A7-1A50-A791-9A09-CD9831873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2B902-7096-63E2-B6D8-03A6E5895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F15648-D8A9-8F49-2BBA-0E1FC2C53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69032-2E88-157C-74EC-C604A26EE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47356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CF541-E4B0-05F6-69D8-0399023AA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1AC25-89C1-1DA4-C917-C88EE075F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81A69D-B362-72DE-3E91-0E1758A1C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F2E19-2308-B66A-29FB-EF9FAEC04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76453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AFC72-6AE8-7172-D69E-FD3148338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D9A9A-0EBE-30DE-0111-1E5F3DEC0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77BB1-32DB-704E-0062-EA8670E22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多少筆資料 訓練多少次</a:t>
            </a:r>
            <a:endParaRPr lang="en-US" altLang="zh-TW" dirty="0"/>
          </a:p>
          <a:p>
            <a:r>
              <a:rPr lang="zh-TW" altLang="en-US" dirty="0"/>
              <a:t>先確認模型有訓練好</a:t>
            </a:r>
            <a:endParaRPr lang="en-US" altLang="zh-TW" dirty="0"/>
          </a:p>
          <a:p>
            <a:r>
              <a:rPr lang="zh-TW" altLang="en-US" dirty="0"/>
              <a:t>不要只拿結果出來看</a:t>
            </a:r>
            <a:endParaRPr lang="en-US" altLang="zh-TW" dirty="0"/>
          </a:p>
          <a:p>
            <a:r>
              <a:rPr lang="zh-TW" altLang="en-US" dirty="0"/>
              <a:t>**資料量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還是要拿別人</a:t>
            </a:r>
            <a:r>
              <a:rPr lang="en-US" altLang="zh-TW" dirty="0"/>
              <a:t>train</a:t>
            </a:r>
            <a:r>
              <a:rPr lang="zh-TW" altLang="en-US" dirty="0"/>
              <a:t>好的模型下去客製化一下</a:t>
            </a:r>
            <a:endParaRPr lang="en-US" altLang="zh-TW" dirty="0"/>
          </a:p>
          <a:p>
            <a:r>
              <a:rPr lang="zh-TW" altLang="en-US" dirty="0"/>
              <a:t>不要只丟進去</a:t>
            </a:r>
            <a:endParaRPr lang="en-US" altLang="zh-TW" dirty="0"/>
          </a:p>
          <a:p>
            <a:r>
              <a:rPr lang="zh-TW" altLang="en-US" dirty="0"/>
              <a:t>但是發現不好</a:t>
            </a:r>
            <a:endParaRPr lang="en-US" altLang="zh-TW" dirty="0"/>
          </a:p>
          <a:p>
            <a:r>
              <a:rPr lang="zh-TW" altLang="en-US" dirty="0"/>
              <a:t>訓練誤差 有沒有收斂</a:t>
            </a:r>
            <a:endParaRPr lang="en-US" altLang="zh-TW" dirty="0"/>
          </a:p>
          <a:p>
            <a:r>
              <a:rPr lang="en-US" altLang="zh-TW" dirty="0"/>
              <a:t>(</a:t>
            </a:r>
            <a:r>
              <a:rPr lang="zh-TW" altLang="en-US" dirty="0"/>
              <a:t>可能是訓練的資料不夠多</a:t>
            </a:r>
            <a:endParaRPr lang="en-US" altLang="zh-TW" dirty="0"/>
          </a:p>
          <a:p>
            <a:endParaRPr lang="en-US" dirty="0"/>
          </a:p>
          <a:p>
            <a:endParaRPr lang="en-US" dirty="0"/>
          </a:p>
          <a:p>
            <a:r>
              <a:rPr lang="zh-TW" altLang="en-US" dirty="0"/>
              <a:t>說不定已經訓練完了 但是要確認好</a:t>
            </a:r>
            <a:endParaRPr lang="en-US" altLang="zh-TW" dirty="0"/>
          </a:p>
          <a:p>
            <a:r>
              <a:rPr lang="zh-TW" altLang="en-US" dirty="0"/>
              <a:t>模型有收斂也不一定代表他是好的</a:t>
            </a:r>
            <a:endParaRPr lang="en-US" altLang="zh-TW" dirty="0"/>
          </a:p>
          <a:p>
            <a:r>
              <a:rPr lang="zh-TW" altLang="en-US" dirty="0"/>
              <a:t>可能收斂道能力不好的情況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620CB-3AF8-EC5E-E7B1-F064F221C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6214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2185C-8D87-B86F-D511-D36890DF4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1F1A24-BB52-CC75-D1A9-402D2CD10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31AFE-8ED2-7108-A0E1-495F30E7F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src/utils/constants.py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1F5B7-B526-1AD0-B5D2-3711148B6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3632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src/utils/constants.py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592825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99BA9-4CEA-8C27-F5DA-BEE5C23A8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9E83-5A08-34EC-1FC5-A22A7A029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50EA1-1BAD-495D-65FF-E86FECABA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signals.py </a:t>
            </a:r>
            <a:r>
              <a:rPr lang="zh-TW" altLang="en-US" dirty="0"/>
              <a:t>中的核心判定</a:t>
            </a:r>
          </a:p>
          <a:p>
            <a:r>
              <a:rPr lang="en-US" dirty="0" err="1"/>
              <a:t>volatility_ok</a:t>
            </a:r>
            <a:r>
              <a:rPr lang="en-US" dirty="0"/>
              <a:t> = </a:t>
            </a:r>
            <a:r>
              <a:rPr lang="en-US" dirty="0" err="1"/>
              <a:t>rolling_vol</a:t>
            </a:r>
            <a:r>
              <a:rPr lang="en-US" dirty="0"/>
              <a:t> &lt;= </a:t>
            </a:r>
            <a:r>
              <a:rPr lang="en-US" dirty="0" err="1"/>
              <a:t>volatility_threshold</a:t>
            </a:r>
            <a:endParaRPr lang="en-US" dirty="0"/>
          </a:p>
          <a:p>
            <a:r>
              <a:rPr lang="en-US" dirty="0" err="1"/>
              <a:t>trade_intensity_ok</a:t>
            </a:r>
            <a:r>
              <a:rPr lang="en-US" dirty="0"/>
              <a:t> = </a:t>
            </a:r>
            <a:r>
              <a:rPr lang="en-US" dirty="0" err="1"/>
              <a:t>trade_intensity</a:t>
            </a:r>
            <a:r>
              <a:rPr lang="en-US" dirty="0"/>
              <a:t> &lt;= </a:t>
            </a:r>
            <a:r>
              <a:rPr lang="en-US" dirty="0" err="1"/>
              <a:t>trade_intensity_threshold</a:t>
            </a:r>
            <a:endParaRPr lang="en-US" dirty="0"/>
          </a:p>
          <a:p>
            <a:r>
              <a:rPr lang="en-US" dirty="0" err="1"/>
              <a:t>visible_queue_ok</a:t>
            </a:r>
            <a:r>
              <a:rPr lang="en-US" dirty="0"/>
              <a:t> = </a:t>
            </a:r>
            <a:r>
              <a:rPr lang="en-US" dirty="0" err="1"/>
              <a:t>visible_queue</a:t>
            </a:r>
            <a:r>
              <a:rPr lang="en-US" dirty="0"/>
              <a:t> &gt;= </a:t>
            </a:r>
            <a:r>
              <a:rPr lang="en-US" dirty="0" err="1"/>
              <a:t>visible_queue_threshold</a:t>
            </a:r>
            <a:endParaRPr lang="en-US" dirty="0"/>
          </a:p>
          <a:p>
            <a:r>
              <a:rPr lang="en-US" dirty="0" err="1"/>
              <a:t>cancel_pressure_ok</a:t>
            </a:r>
            <a:r>
              <a:rPr lang="en-US" dirty="0"/>
              <a:t> = </a:t>
            </a:r>
            <a:r>
              <a:rPr lang="en-US" dirty="0" err="1"/>
              <a:t>cancel_pressure</a:t>
            </a:r>
            <a:r>
              <a:rPr lang="en-US" dirty="0"/>
              <a:t> &lt;= </a:t>
            </a:r>
            <a:r>
              <a:rPr lang="en-US" dirty="0" err="1"/>
              <a:t>cancel_pressure_threshold</a:t>
            </a:r>
            <a:endParaRPr lang="en-US" dirty="0"/>
          </a:p>
          <a:p>
            <a:endParaRPr lang="en-US" dirty="0"/>
          </a:p>
          <a:p>
            <a:r>
              <a:rPr lang="en-US" dirty="0"/>
              <a:t># </a:t>
            </a:r>
            <a:r>
              <a:rPr lang="zh-TW" altLang="en-US" dirty="0"/>
              <a:t>只有全部通過，</a:t>
            </a:r>
            <a:r>
              <a:rPr lang="en-US" dirty="0" err="1"/>
              <a:t>regime_ok</a:t>
            </a:r>
            <a:r>
              <a:rPr lang="en-US" dirty="0"/>
              <a:t> </a:t>
            </a:r>
            <a:r>
              <a:rPr lang="zh-TW" altLang="en-US" dirty="0"/>
              <a:t>才會是 </a:t>
            </a:r>
            <a:r>
              <a:rPr lang="en-US" dirty="0"/>
              <a:t>True</a:t>
            </a:r>
          </a:p>
          <a:p>
            <a:r>
              <a:rPr lang="en-US" dirty="0" err="1"/>
              <a:t>regime_ok</a:t>
            </a:r>
            <a:r>
              <a:rPr lang="en-US" dirty="0"/>
              <a:t> = </a:t>
            </a:r>
            <a:r>
              <a:rPr lang="en-US" dirty="0" err="1"/>
              <a:t>volatility_ok</a:t>
            </a:r>
            <a:r>
              <a:rPr lang="en-US" dirty="0"/>
              <a:t> &amp; </a:t>
            </a:r>
            <a:r>
              <a:rPr lang="en-US" dirty="0" err="1"/>
              <a:t>trade_intensity_ok</a:t>
            </a:r>
            <a:r>
              <a:rPr lang="en-US" dirty="0"/>
              <a:t> &amp; </a:t>
            </a:r>
            <a:r>
              <a:rPr lang="en-US" dirty="0" err="1"/>
              <a:t>visible_queue_ok</a:t>
            </a:r>
            <a:r>
              <a:rPr lang="en-US" dirty="0"/>
              <a:t> &amp; </a:t>
            </a:r>
            <a:r>
              <a:rPr lang="en-US" dirty="0" err="1"/>
              <a:t>cancel_pressure_ok</a:t>
            </a:r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7E7DA-5FAD-CB91-26E2-D36AC44E9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2986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71155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8078-D194-B207-F05D-FBA204E54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D7E83-4032-1A52-1223-45E63B7FF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DFE1B-3740-BE5B-FCF7-BA954D13B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src/models/hardware.py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cpp_hls_prep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/fixed_tcn_modules.cpp</a:t>
            </a:r>
            <a:endParaRPr lang="LID4096" dirty="0"/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hardware.py -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FX PTQ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qconfig_mapping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QConfigMapping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set_global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get_default_qconfig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fbgemm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 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fbgemm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=x86,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qnnpack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=ARM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prepared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prepare_fx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(model,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qconfig_mapping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example_input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校準階段：跑一批資料讓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Observer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統計範圍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torch.no_grad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for batch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calibration_batches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prepared(batch)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quantized_model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convert_fx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(prepared)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dirty="0"/>
              <a:t>// 1. </a:t>
            </a:r>
            <a:r>
              <a:rPr lang="zh-TW" altLang="en-US" dirty="0"/>
              <a:t>將整數 </a:t>
            </a:r>
            <a:r>
              <a:rPr lang="en-US" dirty="0"/>
              <a:t>Logits </a:t>
            </a:r>
            <a:r>
              <a:rPr lang="zh-TW" altLang="en-US" dirty="0"/>
              <a:t>乘上縮放係數 </a:t>
            </a:r>
            <a:r>
              <a:rPr lang="en-US" altLang="zh-TW" dirty="0"/>
              <a:t>(</a:t>
            </a:r>
            <a:r>
              <a:rPr lang="en-US" dirty="0"/>
              <a:t>Scale)，</a:t>
            </a:r>
            <a:r>
              <a:rPr lang="zh-TW" altLang="en-US" dirty="0"/>
              <a:t>還原成浮點數 </a:t>
            </a:r>
            <a:r>
              <a:rPr lang="en-US" dirty="0"/>
              <a:t>Logits</a:t>
            </a:r>
          </a:p>
          <a:p>
            <a:r>
              <a:rPr lang="en-US" dirty="0"/>
              <a:t>for (int </a:t>
            </a:r>
            <a:r>
              <a:rPr lang="en-US" dirty="0" err="1"/>
              <a:t>out_class</a:t>
            </a:r>
            <a:r>
              <a:rPr lang="en-US" dirty="0"/>
              <a:t> = 0; </a:t>
            </a:r>
            <a:r>
              <a:rPr lang="en-US" dirty="0" err="1"/>
              <a:t>out_class</a:t>
            </a:r>
            <a:r>
              <a:rPr lang="en-US" dirty="0"/>
              <a:t> &lt; </a:t>
            </a:r>
            <a:r>
              <a:rPr lang="en-US" dirty="0" err="1"/>
              <a:t>kFixedNumClasses</a:t>
            </a:r>
            <a:r>
              <a:rPr lang="en-US" dirty="0"/>
              <a:t>; ++</a:t>
            </a:r>
            <a:r>
              <a:rPr lang="en-US" dirty="0" err="1"/>
              <a:t>out_class</a:t>
            </a:r>
            <a:r>
              <a:rPr lang="en-US" dirty="0"/>
              <a:t>) {</a:t>
            </a:r>
          </a:p>
          <a:p>
            <a:r>
              <a:rPr lang="en-US" dirty="0"/>
              <a:t>    </a:t>
            </a:r>
            <a:r>
              <a:rPr lang="en-US" dirty="0" err="1"/>
              <a:t>result.logits_float</a:t>
            </a:r>
            <a:r>
              <a:rPr lang="en-US" dirty="0"/>
              <a:t>[</a:t>
            </a:r>
            <a:r>
              <a:rPr lang="en-US" dirty="0" err="1"/>
              <a:t>out_class</a:t>
            </a:r>
            <a:r>
              <a:rPr lang="en-US" dirty="0"/>
              <a:t>] =</a:t>
            </a:r>
          </a:p>
          <a:p>
            <a:r>
              <a:rPr lang="en-US" dirty="0"/>
              <a:t>        </a:t>
            </a:r>
            <a:r>
              <a:rPr lang="en-US" dirty="0" err="1"/>
              <a:t>static_cast</a:t>
            </a:r>
            <a:r>
              <a:rPr lang="en-US" dirty="0"/>
              <a:t>&lt;float&gt;(result.logits_int32[</a:t>
            </a:r>
            <a:r>
              <a:rPr lang="en-US" dirty="0" err="1"/>
              <a:t>out_class</a:t>
            </a:r>
            <a:r>
              <a:rPr lang="en-US" dirty="0"/>
              <a:t>]) * (</a:t>
            </a:r>
            <a:r>
              <a:rPr lang="en-US" dirty="0" err="1"/>
              <a:t>kFixedActivationScale</a:t>
            </a:r>
            <a:r>
              <a:rPr lang="en-US" dirty="0"/>
              <a:t> * </a:t>
            </a:r>
            <a:r>
              <a:rPr lang="en-US" dirty="0" err="1"/>
              <a:t>weights.fc_w_scale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2. </a:t>
            </a:r>
            <a:r>
              <a:rPr lang="zh-TW" altLang="en-US" dirty="0"/>
              <a:t>對還原後的浮點數進行 </a:t>
            </a:r>
            <a:r>
              <a:rPr lang="en-US" dirty="0" err="1"/>
              <a:t>Softmax</a:t>
            </a:r>
            <a:r>
              <a:rPr lang="en-US" dirty="0"/>
              <a:t>，</a:t>
            </a:r>
            <a:r>
              <a:rPr lang="zh-TW" altLang="en-US" dirty="0"/>
              <a:t>得到 </a:t>
            </a:r>
            <a:r>
              <a:rPr lang="en-US" dirty="0" err="1"/>
              <a:t>p_up</a:t>
            </a:r>
            <a:r>
              <a:rPr lang="en-US" dirty="0"/>
              <a:t>, </a:t>
            </a:r>
            <a:r>
              <a:rPr lang="en-US" dirty="0" err="1"/>
              <a:t>p_stationary</a:t>
            </a:r>
            <a:r>
              <a:rPr lang="en-US" dirty="0"/>
              <a:t>, </a:t>
            </a:r>
            <a:r>
              <a:rPr lang="en-US" dirty="0" err="1"/>
              <a:t>p_down</a:t>
            </a:r>
            <a:endParaRPr lang="en-US" dirty="0"/>
          </a:p>
          <a:p>
            <a:r>
              <a:rPr lang="en-US" dirty="0"/>
              <a:t>softmax3_fixed(</a:t>
            </a:r>
            <a:r>
              <a:rPr lang="en-US" dirty="0" err="1"/>
              <a:t>result.logits_float</a:t>
            </a:r>
            <a:r>
              <a:rPr lang="en-US" dirty="0"/>
              <a:t>, </a:t>
            </a:r>
            <a:r>
              <a:rPr lang="en-US" dirty="0" err="1"/>
              <a:t>result.probabilities</a:t>
            </a:r>
            <a:r>
              <a:rPr lang="en-US" dirty="0"/>
              <a:t>);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2E34-CC20-E14E-5968-C0E9A4B25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524371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/fixed_tcn_top.cpp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fixed_tcn_top.cpp - HLS Top Interface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tcn_fixed_top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const int8_t input[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kFixedNumInputs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kFixedSeqLen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], 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12×100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int32_t      logits[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kFixedNumClasses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],               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輸出 </a:t>
            </a:r>
            <a:r>
              <a:rPr lang="en-US" altLang="zh-TW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logits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float        probabilities[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kFixedNumClasses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#pragma HLS INTERFACE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ap_memory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port=input      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對應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FPGA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記憶體接口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pragma HLS INTERFACE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ap_memory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port=logits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#pragma HLS INTERFACE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ap_ctrl_hs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port=return    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握手控制信號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TW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呼叫已驗證的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INT8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推論核心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 result = tcn_inference_fixed_int8(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input_array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kFixedWeights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09793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6060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05/06/2026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6676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05/06/2026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5005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05/06/2026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0281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05/06/2026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880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05/06/2026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32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05/06/2026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231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05/06/2026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5763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05/06/2026</a:t>
            </a:fld>
            <a:endParaRPr lang="LID4096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2784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F79C6ED-AE69-4A5C-8CA4-3CC54320761B}" type="datetimeFigureOut">
              <a:rPr lang="LID4096" smtClean="0"/>
              <a:t>05/06/2026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26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502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519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F79C6ED-AE69-4A5C-8CA4-3CC54320761B}" type="datetimeFigureOut">
              <a:rPr lang="LID4096" smtClean="0"/>
              <a:t>05/06/2026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546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B121-B85C-F2AB-29D7-08AB5A5AD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Meeting</a:t>
            </a:r>
            <a:r>
              <a:rPr lang="zh-TW" altLang="en-US" dirty="0"/>
              <a:t> 簡報 </a:t>
            </a:r>
            <a:r>
              <a:rPr lang="en-US" altLang="zh-TW" dirty="0"/>
              <a:t>W10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F4C7F-40F0-B145-3F60-7603287658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李後燁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7129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E1397-E4AE-0BA2-53CB-9F568DB9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74BBDE-F6A8-CA31-8733-D631DC53E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34731A-4C85-E0AE-AEB7-E509DFA4A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74A4BE-0C51-842E-97AA-8415BD210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DB0E3-78F6-24EB-0D4C-02DBD1A5A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rgbClr val="FFFFFF"/>
                </a:solidFill>
              </a:rPr>
              <a:t>這周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B9F61-590F-0BBA-3D61-D7E8DF903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4" y="800100"/>
            <a:ext cx="5955263" cy="4655820"/>
          </a:xfrm>
        </p:spPr>
        <p:txBody>
          <a:bodyPr anchor="ctr">
            <a:normAutofit fontScale="92500" lnSpcReduction="10000"/>
          </a:bodyPr>
          <a:lstStyle/>
          <a:p>
            <a:endParaRPr lang="en-US" altLang="zh-TW" sz="2800" dirty="0"/>
          </a:p>
          <a:p>
            <a:r>
              <a:rPr lang="zh-TW" altLang="en-US" sz="2800" dirty="0"/>
              <a:t>拿到新資料了 </a:t>
            </a:r>
            <a:r>
              <a:rPr lang="en-US" altLang="zh-TW" sz="2800" dirty="0">
                <a:sym typeface="Wingdings" panose="05000000000000000000" pitchFamily="2" charset="2"/>
              </a:rPr>
              <a:t></a:t>
            </a:r>
            <a:r>
              <a:rPr lang="en-US" altLang="zh-TW" sz="2800" dirty="0"/>
              <a:t> </a:t>
            </a:r>
            <a:r>
              <a:rPr lang="zh-TW" altLang="en-US" sz="2800" dirty="0"/>
              <a:t>重</a:t>
            </a:r>
            <a:r>
              <a:rPr lang="en-US" altLang="zh-TW" sz="2800" dirty="0"/>
              <a:t>train</a:t>
            </a:r>
          </a:p>
          <a:p>
            <a:r>
              <a:rPr lang="zh-TW" altLang="en-US" sz="2800" dirty="0"/>
              <a:t>資料格式的不同：</a:t>
            </a:r>
            <a:endParaRPr lang="en-US" altLang="zh-TW" sz="2800" dirty="0"/>
          </a:p>
          <a:p>
            <a:r>
              <a:rPr lang="zh-TW" altLang="en-US" sz="2800" dirty="0"/>
              <a:t>加入的</a:t>
            </a:r>
            <a:r>
              <a:rPr lang="en-US" altLang="zh-TW" sz="2800" dirty="0"/>
              <a:t>training</a:t>
            </a:r>
            <a:r>
              <a:rPr lang="zh-TW" altLang="en-US" sz="2800" dirty="0"/>
              <a:t>的技巧：</a:t>
            </a:r>
            <a:endParaRPr lang="en-US" altLang="zh-TW" sz="2800" dirty="0"/>
          </a:p>
          <a:p>
            <a:r>
              <a:rPr lang="zh-TW" altLang="en-US" sz="2800" dirty="0"/>
              <a:t>檢視目前的模型與在新資料上的試驗結果</a:t>
            </a:r>
            <a:endParaRPr lang="en-US" altLang="zh-TW" sz="2800" dirty="0"/>
          </a:p>
          <a:p>
            <a:r>
              <a:rPr lang="en-US" altLang="zh-TW" sz="2800" dirty="0" err="1"/>
              <a:t>New_era</a:t>
            </a:r>
            <a:r>
              <a:rPr lang="en-US" altLang="zh-TW" sz="2800" dirty="0"/>
              <a:t> </a:t>
            </a:r>
            <a:r>
              <a:rPr lang="zh-TW" altLang="en-US" sz="2800" dirty="0"/>
              <a:t>做的十步驟</a:t>
            </a:r>
            <a:endParaRPr lang="en-US" altLang="zh-TW" sz="2800" dirty="0"/>
          </a:p>
          <a:p>
            <a:pPr lvl="1"/>
            <a:r>
              <a:rPr lang="zh-TW" altLang="en-US" sz="2600" dirty="0"/>
              <a:t>每行程式碼去看 要知道她在幹嘛</a:t>
            </a:r>
            <a:endParaRPr lang="en-US" altLang="zh-TW" sz="2600" dirty="0"/>
          </a:p>
          <a:p>
            <a:pPr lvl="1"/>
            <a:r>
              <a:rPr lang="zh-TW" altLang="en-US" sz="2600" dirty="0"/>
              <a:t>要能夠自問自答，講出一整套邏輯</a:t>
            </a:r>
            <a:endParaRPr lang="en-US" altLang="zh-TW" sz="2600" dirty="0"/>
          </a:p>
          <a:p>
            <a:pPr lvl="1"/>
            <a:r>
              <a:rPr lang="en-US" altLang="zh-TW" sz="2600" dirty="0"/>
              <a:t>Qs</a:t>
            </a:r>
            <a:endParaRPr lang="en-US" altLang="zh-TW" sz="2800" dirty="0"/>
          </a:p>
          <a:p>
            <a:endParaRPr lang="en-US" altLang="zh-TW" sz="2800" dirty="0"/>
          </a:p>
          <a:p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163742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AD85578-1E4B-4014-9D52-E76894750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50B3F-9390-4CA1-B3C8-91529289D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1754FE0-758B-3129-9176-41337AAD5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6480" y="1185568"/>
            <a:ext cx="4665397" cy="4738323"/>
          </a:xfrm>
        </p:spPr>
        <p:txBody>
          <a:bodyPr anchor="t">
            <a:normAutofit/>
          </a:bodyPr>
          <a:lstStyle/>
          <a:p>
            <a:pPr marL="342900" indent="-342900">
              <a:buAutoNum type="arabicPeriod"/>
            </a:pPr>
            <a:r>
              <a:rPr lang="zh-TW" altLang="en-US" dirty="0"/>
              <a:t>特徵篩選 </a:t>
            </a:r>
            <a:endParaRPr lang="en-US" altLang="zh-TW" dirty="0"/>
          </a:p>
          <a:p>
            <a:pPr marL="571500" lvl="1" indent="-342900">
              <a:buAutoNum type="arabicPeriod"/>
            </a:pPr>
            <a:r>
              <a:rPr lang="zh-TW" altLang="en-US" dirty="0"/>
              <a:t>做法：</a:t>
            </a:r>
            <a:endParaRPr lang="en-US" altLang="zh-TW" dirty="0"/>
          </a:p>
          <a:p>
            <a:pPr marL="571500" lvl="1" indent="-342900">
              <a:buAutoNum type="arabicPeriod"/>
            </a:pPr>
            <a:r>
              <a:rPr lang="zh-TW" altLang="en-US" dirty="0"/>
              <a:t>結果：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特徵工程</a:t>
            </a:r>
            <a:r>
              <a:rPr lang="en-US" altLang="zh-TW" dirty="0"/>
              <a:t>(z score)</a:t>
            </a:r>
          </a:p>
          <a:p>
            <a:pPr marL="571500" lvl="1" indent="-342900">
              <a:buAutoNum type="arabicPeriod"/>
            </a:pPr>
            <a:r>
              <a:rPr lang="zh-TW" altLang="en-US" dirty="0"/>
              <a:t>做法：</a:t>
            </a:r>
            <a:endParaRPr lang="en-US" altLang="zh-TW" dirty="0"/>
          </a:p>
          <a:p>
            <a:pPr marL="571500" lvl="1" indent="-342900">
              <a:buAutoNum type="arabicPeriod"/>
            </a:pPr>
            <a:r>
              <a:rPr lang="zh-TW" altLang="en-US" dirty="0"/>
              <a:t>結果：</a:t>
            </a:r>
            <a:endParaRPr lang="en-US" altLang="zh-TW" dirty="0"/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F383A958-58AF-6442-D978-860F6C5DFA3A}"/>
              </a:ext>
            </a:extLst>
          </p:cNvPr>
          <p:cNvSpPr txBox="1">
            <a:spLocks/>
          </p:cNvSpPr>
          <p:nvPr/>
        </p:nvSpPr>
        <p:spPr>
          <a:xfrm>
            <a:off x="2145209" y="1059838"/>
            <a:ext cx="3569791" cy="47383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TW" altLang="en-US" dirty="0">
                <a:solidFill>
                  <a:schemeClr val="bg1"/>
                </a:solidFill>
              </a:rPr>
              <a:t>特徵篩選 </a:t>
            </a:r>
            <a:endParaRPr lang="en-US" altLang="zh-TW" dirty="0">
              <a:solidFill>
                <a:schemeClr val="bg1"/>
              </a:solidFill>
            </a:endParaRPr>
          </a:p>
          <a:p>
            <a:pPr marL="571500" lvl="1" indent="-342900">
              <a:buFont typeface="Arial" panose="020B0604020202020204" pitchFamily="34" charset="0"/>
              <a:buAutoNum type="arabicPeriod"/>
            </a:pPr>
            <a:r>
              <a:rPr lang="zh-TW" altLang="en-US" dirty="0">
                <a:solidFill>
                  <a:schemeClr val="bg1"/>
                </a:solidFill>
              </a:rPr>
              <a:t>做法：</a:t>
            </a:r>
            <a:endParaRPr lang="en-US" altLang="zh-TW" dirty="0">
              <a:solidFill>
                <a:schemeClr val="bg1"/>
              </a:solidFill>
            </a:endParaRPr>
          </a:p>
          <a:p>
            <a:pPr marL="571500" lvl="1" indent="-342900">
              <a:buFont typeface="Arial" panose="020B0604020202020204" pitchFamily="34" charset="0"/>
              <a:buAutoNum type="arabicPeriod"/>
            </a:pPr>
            <a:r>
              <a:rPr lang="zh-TW" altLang="en-US" dirty="0">
                <a:solidFill>
                  <a:schemeClr val="bg1"/>
                </a:solidFill>
              </a:rPr>
              <a:t>結果：</a:t>
            </a:r>
            <a:endParaRPr lang="en-US" altLang="zh-TW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TW" altLang="en-US" dirty="0">
                <a:solidFill>
                  <a:schemeClr val="bg1"/>
                </a:solidFill>
              </a:rPr>
              <a:t>特徵工程</a:t>
            </a:r>
            <a:r>
              <a:rPr lang="en-US" altLang="zh-TW" dirty="0">
                <a:solidFill>
                  <a:schemeClr val="bg1"/>
                </a:solidFill>
              </a:rPr>
              <a:t>(z score)</a:t>
            </a:r>
          </a:p>
          <a:p>
            <a:pPr marL="571500" lvl="1" indent="-342900">
              <a:buFont typeface="Arial" panose="020B0604020202020204" pitchFamily="34" charset="0"/>
              <a:buAutoNum type="arabicPeriod"/>
            </a:pPr>
            <a:r>
              <a:rPr lang="zh-TW" altLang="en-US" dirty="0">
                <a:solidFill>
                  <a:schemeClr val="bg1"/>
                </a:solidFill>
              </a:rPr>
              <a:t>做法：</a:t>
            </a:r>
            <a:endParaRPr lang="en-US" altLang="zh-TW" dirty="0">
              <a:solidFill>
                <a:schemeClr val="bg1"/>
              </a:solidFill>
            </a:endParaRPr>
          </a:p>
          <a:p>
            <a:pPr marL="571500" lvl="1" indent="-342900">
              <a:buFont typeface="Arial" panose="020B0604020202020204" pitchFamily="34" charset="0"/>
              <a:buAutoNum type="arabicPeriod"/>
            </a:pPr>
            <a:r>
              <a:rPr lang="zh-TW" altLang="en-US" dirty="0">
                <a:solidFill>
                  <a:schemeClr val="bg1"/>
                </a:solidFill>
              </a:rPr>
              <a:t>結果：</a:t>
            </a:r>
            <a:endParaRPr lang="en-US" altLang="zh-TW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zh-TW" dirty="0">
                <a:solidFill>
                  <a:schemeClr val="bg1"/>
                </a:solidFill>
              </a:rPr>
              <a:t>( </a:t>
            </a:r>
            <a:r>
              <a:rPr lang="zh-TW" altLang="en-US" dirty="0">
                <a:solidFill>
                  <a:schemeClr val="bg1"/>
                </a:solidFill>
              </a:rPr>
              <a:t>做</a:t>
            </a:r>
            <a:r>
              <a:rPr lang="en-US" altLang="zh-TW" dirty="0">
                <a:solidFill>
                  <a:schemeClr val="bg1"/>
                </a:solidFill>
              </a:rPr>
              <a:t>MLP baseline )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TW" altLang="en-US" dirty="0">
                <a:solidFill>
                  <a:schemeClr val="bg1"/>
                </a:solidFill>
              </a:rPr>
              <a:t>把</a:t>
            </a:r>
            <a:r>
              <a:rPr lang="en-US" altLang="zh-TW" dirty="0">
                <a:solidFill>
                  <a:schemeClr val="bg1"/>
                </a:solidFill>
              </a:rPr>
              <a:t>MLP </a:t>
            </a:r>
            <a:r>
              <a:rPr lang="zh-TW" altLang="en-US" dirty="0">
                <a:solidFill>
                  <a:schemeClr val="bg1"/>
                </a:solidFill>
              </a:rPr>
              <a:t>轉 </a:t>
            </a:r>
            <a:r>
              <a:rPr lang="en-US" altLang="zh-TW" dirty="0">
                <a:solidFill>
                  <a:schemeClr val="bg1"/>
                </a:solidFill>
              </a:rPr>
              <a:t>hls4ml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TW" altLang="en-US" dirty="0">
                <a:solidFill>
                  <a:schemeClr val="bg1"/>
                </a:solidFill>
              </a:rPr>
              <a:t>用 </a:t>
            </a:r>
            <a:r>
              <a:rPr lang="en-US" altLang="zh-TW" dirty="0">
                <a:solidFill>
                  <a:schemeClr val="bg1"/>
                </a:solidFill>
              </a:rPr>
              <a:t>(2) </a:t>
            </a:r>
            <a:r>
              <a:rPr lang="zh-TW" altLang="en-US" dirty="0">
                <a:solidFill>
                  <a:schemeClr val="bg1"/>
                </a:solidFill>
              </a:rPr>
              <a:t>的特徵去做 </a:t>
            </a:r>
            <a:r>
              <a:rPr lang="en-US" altLang="zh-TW" dirty="0">
                <a:solidFill>
                  <a:schemeClr val="bg1"/>
                </a:solidFill>
              </a:rPr>
              <a:t>TCN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TW" altLang="en-US" dirty="0">
                <a:solidFill>
                  <a:schemeClr val="bg1"/>
                </a:solidFill>
              </a:rPr>
              <a:t>造勢策略做</a:t>
            </a:r>
            <a:r>
              <a:rPr lang="en-US" altLang="zh-TW" dirty="0">
                <a:solidFill>
                  <a:schemeClr val="bg1"/>
                </a:solidFill>
              </a:rPr>
              <a:t>TCN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4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9C93-4557-EA4F-2CC9-4D61960ED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E0771-033F-E2C7-E86C-81C75C369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原本好好的模型</a:t>
            </a:r>
            <a:br>
              <a:rPr lang="en-US" altLang="zh-TW" dirty="0"/>
            </a:br>
            <a:r>
              <a:rPr lang="zh-TW" altLang="en-US" dirty="0"/>
              <a:t>在放到新資料上後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93C58-A41B-6D60-3532-A458D76B9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6889" y="656179"/>
            <a:ext cx="4815840" cy="5955635"/>
          </a:xfrm>
        </p:spPr>
        <p:txBody>
          <a:bodyPr>
            <a:normAutofit lnSpcReduction="10000"/>
          </a:bodyPr>
          <a:lstStyle/>
          <a:p>
            <a:r>
              <a:rPr lang="zh-TW" altLang="en-US" sz="2400" dirty="0"/>
              <a:t>變得超菜</a:t>
            </a:r>
            <a:endParaRPr lang="en-US" altLang="zh-TW" sz="2400" dirty="0"/>
          </a:p>
          <a:p>
            <a:pPr lvl="1"/>
            <a:r>
              <a:rPr lang="en-US" altLang="zh-TW" sz="1900" dirty="0"/>
              <a:t>(</a:t>
            </a:r>
            <a:r>
              <a:rPr lang="zh-TW" altLang="en-US" sz="1900" dirty="0"/>
              <a:t>舉證</a:t>
            </a:r>
            <a:r>
              <a:rPr lang="zh-TW" altLang="en-US" sz="1900" dirty="0">
                <a:sym typeface="Wingdings" panose="05000000000000000000" pitchFamily="2" charset="2"/>
              </a:rPr>
              <a:t>：</a:t>
            </a:r>
            <a:r>
              <a:rPr lang="en-US" altLang="zh-TW" sz="1900" dirty="0">
                <a:sym typeface="Wingdings" panose="05000000000000000000" pitchFamily="2" charset="2"/>
              </a:rPr>
              <a:t>)</a:t>
            </a:r>
          </a:p>
          <a:p>
            <a:pPr lvl="1"/>
            <a:endParaRPr lang="en-US" sz="1900" dirty="0">
              <a:sym typeface="Wingdings" panose="05000000000000000000" pitchFamily="2" charset="2"/>
            </a:endParaRPr>
          </a:p>
          <a:p>
            <a:pPr lvl="1"/>
            <a:endParaRPr lang="en-US" sz="1900" dirty="0">
              <a:sym typeface="Wingdings" panose="05000000000000000000" pitchFamily="2" charset="2"/>
            </a:endParaRPr>
          </a:p>
          <a:p>
            <a:r>
              <a:rPr lang="zh-TW" altLang="en-US" sz="2200" dirty="0">
                <a:sym typeface="Wingdings" panose="05000000000000000000" pitchFamily="2" charset="2"/>
              </a:rPr>
              <a:t>推測可能原因：</a:t>
            </a:r>
            <a:endParaRPr lang="en-US" altLang="zh-TW" sz="2200" dirty="0">
              <a:sym typeface="Wingdings" panose="05000000000000000000" pitchFamily="2" charset="2"/>
            </a:endParaRPr>
          </a:p>
          <a:p>
            <a:pPr lvl="1"/>
            <a:r>
              <a:rPr lang="zh-TW" altLang="en-US" sz="1900" dirty="0">
                <a:sym typeface="Wingdings" panose="05000000000000000000" pitchFamily="2" charset="2"/>
              </a:rPr>
              <a:t>因為</a:t>
            </a:r>
            <a:r>
              <a:rPr lang="en-US" altLang="zh-TW" sz="1900" dirty="0">
                <a:sym typeface="Wingdings" panose="05000000000000000000" pitchFamily="2" charset="2"/>
              </a:rPr>
              <a:t>… </a:t>
            </a:r>
            <a:r>
              <a:rPr lang="zh-TW" altLang="en-US" sz="1900" dirty="0">
                <a:sym typeface="Wingdings" panose="05000000000000000000" pitchFamily="2" charset="2"/>
              </a:rPr>
              <a:t>所以推測可能是因為</a:t>
            </a:r>
            <a:r>
              <a:rPr lang="en-US" altLang="zh-TW" sz="1900" dirty="0">
                <a:sym typeface="Wingdings" panose="05000000000000000000" pitchFamily="2" charset="2"/>
              </a:rPr>
              <a:t>…</a:t>
            </a:r>
          </a:p>
          <a:p>
            <a:pPr lvl="1"/>
            <a:r>
              <a:rPr lang="en-US" sz="1900" dirty="0"/>
              <a:t>E.g. </a:t>
            </a:r>
            <a:r>
              <a:rPr lang="zh-TW" altLang="en-US" sz="1900" dirty="0"/>
              <a:t>訓練的資料量太少 剛好都在同一個趨勢下</a:t>
            </a:r>
            <a:endParaRPr lang="en-US" altLang="zh-TW" sz="1900" dirty="0"/>
          </a:p>
          <a:p>
            <a:pPr lvl="1"/>
            <a:r>
              <a:rPr lang="en-US" altLang="zh-TW" sz="1900" dirty="0"/>
              <a:t>(</a:t>
            </a:r>
            <a:r>
              <a:rPr lang="zh-TW" altLang="en-US" sz="1900" dirty="0"/>
              <a:t> </a:t>
            </a:r>
            <a:r>
              <a:rPr lang="en-US" altLang="zh-TW" sz="1900" dirty="0"/>
              <a:t>diffusion matrix</a:t>
            </a:r>
            <a:r>
              <a:rPr lang="zh-TW" altLang="en-US" sz="1900" dirty="0"/>
              <a:t>之類的支持</a:t>
            </a:r>
            <a:r>
              <a:rPr lang="en-US" altLang="zh-TW" sz="1900" dirty="0"/>
              <a:t>?)</a:t>
            </a:r>
          </a:p>
          <a:p>
            <a:endParaRPr lang="en-US" sz="2200" dirty="0"/>
          </a:p>
          <a:p>
            <a:r>
              <a:rPr lang="zh-TW" altLang="en-US" sz="2200" dirty="0"/>
              <a:t>預計改善方法：</a:t>
            </a:r>
            <a:endParaRPr lang="en-US" altLang="zh-TW" sz="2200" dirty="0"/>
          </a:p>
          <a:p>
            <a:pPr lvl="1"/>
            <a:r>
              <a:rPr lang="zh-TW" altLang="en-US" sz="1900" dirty="0"/>
              <a:t>繼續抓資料天天訓練</a:t>
            </a:r>
            <a:endParaRPr lang="en-US" altLang="zh-TW" sz="1900" dirty="0"/>
          </a:p>
          <a:p>
            <a:pPr lvl="1"/>
            <a:r>
              <a:rPr lang="zh-TW" altLang="en-US" sz="1900" dirty="0"/>
              <a:t>使用</a:t>
            </a:r>
            <a:r>
              <a:rPr lang="en-US" altLang="zh-TW" sz="1900" dirty="0"/>
              <a:t>z-scored</a:t>
            </a:r>
            <a:r>
              <a:rPr lang="zh-TW" altLang="en-US" sz="1900" dirty="0"/>
              <a:t>的資料</a:t>
            </a:r>
            <a:endParaRPr lang="en-US" altLang="zh-TW" sz="1900" dirty="0"/>
          </a:p>
          <a:p>
            <a:pPr lvl="1"/>
            <a:r>
              <a:rPr lang="zh-TW" altLang="en-US" sz="1900" dirty="0"/>
              <a:t>間隔著時間跨度的資料</a:t>
            </a:r>
            <a:endParaRPr lang="en-US" altLang="zh-TW" sz="1900" dirty="0"/>
          </a:p>
          <a:p>
            <a:pPr lvl="1"/>
            <a:r>
              <a:rPr lang="zh-TW" altLang="en-US" sz="1900" dirty="0"/>
              <a:t>教我怎麼抓資料 我來幫忙抓？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419951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E416B-0A21-D31F-EA97-C0C17A32F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50C99-7A12-65E7-614C-3B843037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所以我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CF9CD-7E27-CD38-25DC-55734B4DC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6889" y="656179"/>
            <a:ext cx="4815840" cy="595563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ym typeface="Wingdings" panose="05000000000000000000" pitchFamily="2" charset="2"/>
              </a:rPr>
              <a:t>1. </a:t>
            </a:r>
            <a:r>
              <a:rPr lang="zh-TW" altLang="en-US" sz="2400" dirty="0">
                <a:sym typeface="Wingdings" panose="05000000000000000000" pitchFamily="2" charset="2"/>
              </a:rPr>
              <a:t>先驗證</a:t>
            </a:r>
            <a:r>
              <a:rPr lang="en-US" altLang="zh-TW" sz="2400" dirty="0">
                <a:sym typeface="Wingdings" panose="05000000000000000000" pitchFamily="2" charset="2"/>
              </a:rPr>
              <a:t>feature</a:t>
            </a:r>
            <a:r>
              <a:rPr lang="zh-TW" altLang="en-US" sz="2400" dirty="0">
                <a:sym typeface="Wingdings" panose="05000000000000000000" pitchFamily="2" charset="2"/>
              </a:rPr>
              <a:t>的確定度</a:t>
            </a:r>
            <a:endParaRPr lang="en-US" altLang="zh-TW" sz="2400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程式做法：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zh-TW" altLang="en-US" dirty="0">
                <a:sym typeface="Wingdings" panose="05000000000000000000" pitchFamily="2" charset="2"/>
              </a:rPr>
              <a:t>李後燁你要可以解釋清楚！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sz="1900" dirty="0">
              <a:sym typeface="Wingdings" panose="05000000000000000000" pitchFamily="2" charset="2"/>
            </a:endParaRPr>
          </a:p>
          <a:p>
            <a:pPr lvl="1"/>
            <a:r>
              <a:rPr lang="zh-TW" altLang="en-US" sz="1900" dirty="0">
                <a:sym typeface="Wingdings" panose="05000000000000000000" pitchFamily="2" charset="2"/>
              </a:rPr>
              <a:t>為什麼這樣就可以確認該</a:t>
            </a:r>
            <a:r>
              <a:rPr lang="en-US" altLang="zh-TW" sz="1900" dirty="0">
                <a:sym typeface="Wingdings" panose="05000000000000000000" pitchFamily="2" charset="2"/>
              </a:rPr>
              <a:t>feature</a:t>
            </a:r>
            <a:r>
              <a:rPr lang="zh-TW" altLang="en-US" sz="1900" dirty="0">
                <a:sym typeface="Wingdings" panose="05000000000000000000" pitchFamily="2" charset="2"/>
              </a:rPr>
              <a:t>的實用度？</a:t>
            </a:r>
            <a:endParaRPr lang="en-US" sz="19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620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DE099-ECA4-C218-BEA7-68CB3B4ED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FE6A-7443-A738-BED3-7040AA7B6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所以我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A039-023F-DF43-9ED4-DB6C5C9B7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6889" y="656179"/>
            <a:ext cx="4815840" cy="595563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ym typeface="Wingdings" panose="05000000000000000000" pitchFamily="2" charset="2"/>
              </a:rPr>
              <a:t>2. </a:t>
            </a:r>
            <a:r>
              <a:rPr lang="zh-TW" altLang="en-US" sz="2400" dirty="0">
                <a:sym typeface="Wingdings" panose="05000000000000000000" pitchFamily="2" charset="2"/>
              </a:rPr>
              <a:t>先驗證</a:t>
            </a:r>
            <a:r>
              <a:rPr lang="en-US" altLang="zh-TW" sz="2400" dirty="0">
                <a:sym typeface="Wingdings" panose="05000000000000000000" pitchFamily="2" charset="2"/>
              </a:rPr>
              <a:t>feature</a:t>
            </a:r>
            <a:r>
              <a:rPr lang="zh-TW" altLang="en-US" sz="2400" dirty="0">
                <a:sym typeface="Wingdings" panose="05000000000000000000" pitchFamily="2" charset="2"/>
              </a:rPr>
              <a:t>的確定度</a:t>
            </a:r>
            <a:endParaRPr lang="en-US" altLang="zh-TW" sz="2400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程式做法：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zh-TW" altLang="en-US" dirty="0">
                <a:sym typeface="Wingdings" panose="05000000000000000000" pitchFamily="2" charset="2"/>
              </a:rPr>
              <a:t>李後燁你要可以解釋清楚！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sz="1900" dirty="0">
              <a:sym typeface="Wingdings" panose="05000000000000000000" pitchFamily="2" charset="2"/>
            </a:endParaRPr>
          </a:p>
          <a:p>
            <a:pPr lvl="1"/>
            <a:r>
              <a:rPr lang="zh-TW" altLang="en-US" sz="1900" dirty="0">
                <a:sym typeface="Wingdings" panose="05000000000000000000" pitchFamily="2" charset="2"/>
              </a:rPr>
              <a:t>為什麼這樣就可以確認該</a:t>
            </a:r>
            <a:r>
              <a:rPr lang="en-US" altLang="zh-TW" sz="1900" dirty="0">
                <a:sym typeface="Wingdings" panose="05000000000000000000" pitchFamily="2" charset="2"/>
              </a:rPr>
              <a:t>feature</a:t>
            </a:r>
            <a:r>
              <a:rPr lang="zh-TW" altLang="en-US" sz="1900" dirty="0">
                <a:sym typeface="Wingdings" panose="05000000000000000000" pitchFamily="2" charset="2"/>
              </a:rPr>
              <a:t>的實用度？</a:t>
            </a:r>
            <a:endParaRPr lang="en-US" sz="19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18447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252C2-558E-99A5-D78F-536C600C2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BEBFD-D5C3-7B4B-360D-E36C2E1A8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所以我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77069-0AD7-EB71-4FE3-1429B6185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6889" y="656179"/>
            <a:ext cx="4815840" cy="595563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ym typeface="Wingdings" panose="05000000000000000000" pitchFamily="2" charset="2"/>
              </a:rPr>
              <a:t>3. </a:t>
            </a:r>
            <a:r>
              <a:rPr lang="zh-TW" altLang="en-US" sz="2400" dirty="0">
                <a:sym typeface="Wingdings" panose="05000000000000000000" pitchFamily="2" charset="2"/>
              </a:rPr>
              <a:t>先驗證</a:t>
            </a:r>
            <a:r>
              <a:rPr lang="en-US" altLang="zh-TW" sz="2400" dirty="0">
                <a:sym typeface="Wingdings" panose="05000000000000000000" pitchFamily="2" charset="2"/>
              </a:rPr>
              <a:t>feature</a:t>
            </a:r>
            <a:r>
              <a:rPr lang="zh-TW" altLang="en-US" sz="2400" dirty="0">
                <a:sym typeface="Wingdings" panose="05000000000000000000" pitchFamily="2" charset="2"/>
              </a:rPr>
              <a:t>的確定度</a:t>
            </a:r>
            <a:endParaRPr lang="en-US" altLang="zh-TW" sz="2400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程式做法：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zh-TW" altLang="en-US" dirty="0">
                <a:sym typeface="Wingdings" panose="05000000000000000000" pitchFamily="2" charset="2"/>
              </a:rPr>
              <a:t>李後燁你要可以解釋清楚！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sz="1900" dirty="0">
              <a:sym typeface="Wingdings" panose="05000000000000000000" pitchFamily="2" charset="2"/>
            </a:endParaRPr>
          </a:p>
          <a:p>
            <a:pPr lvl="1"/>
            <a:r>
              <a:rPr lang="zh-TW" altLang="en-US" sz="1900" dirty="0">
                <a:sym typeface="Wingdings" panose="05000000000000000000" pitchFamily="2" charset="2"/>
              </a:rPr>
              <a:t>為什麼這樣就可以確認該</a:t>
            </a:r>
            <a:r>
              <a:rPr lang="en-US" altLang="zh-TW" sz="1900" dirty="0">
                <a:sym typeface="Wingdings" panose="05000000000000000000" pitchFamily="2" charset="2"/>
              </a:rPr>
              <a:t>feature</a:t>
            </a:r>
            <a:r>
              <a:rPr lang="zh-TW" altLang="en-US" sz="1900" dirty="0">
                <a:sym typeface="Wingdings" panose="05000000000000000000" pitchFamily="2" charset="2"/>
              </a:rPr>
              <a:t>的實用度？</a:t>
            </a:r>
            <a:endParaRPr lang="en-US" sz="19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95847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49CE4-8851-5476-FA49-2249D662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A431-1C78-94AD-4104-131F6B026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所以我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A869C-90A3-7A6D-34FE-7D00254BD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6889" y="656179"/>
            <a:ext cx="4815840" cy="595563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ym typeface="Wingdings" panose="05000000000000000000" pitchFamily="2" charset="2"/>
              </a:rPr>
              <a:t>4. </a:t>
            </a:r>
            <a:r>
              <a:rPr lang="zh-TW" altLang="en-US" sz="2400" dirty="0">
                <a:sym typeface="Wingdings" panose="05000000000000000000" pitchFamily="2" charset="2"/>
              </a:rPr>
              <a:t>先驗證</a:t>
            </a:r>
            <a:r>
              <a:rPr lang="en-US" altLang="zh-TW" sz="2400" dirty="0">
                <a:sym typeface="Wingdings" panose="05000000000000000000" pitchFamily="2" charset="2"/>
              </a:rPr>
              <a:t>feature</a:t>
            </a:r>
            <a:r>
              <a:rPr lang="zh-TW" altLang="en-US" sz="2400" dirty="0">
                <a:sym typeface="Wingdings" panose="05000000000000000000" pitchFamily="2" charset="2"/>
              </a:rPr>
              <a:t>的確定度</a:t>
            </a:r>
            <a:endParaRPr lang="en-US" altLang="zh-TW" sz="2400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程式做法：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zh-TW" altLang="en-US" dirty="0">
                <a:sym typeface="Wingdings" panose="05000000000000000000" pitchFamily="2" charset="2"/>
              </a:rPr>
              <a:t>李後燁你要可以解釋清楚！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sz="1900" dirty="0">
              <a:sym typeface="Wingdings" panose="05000000000000000000" pitchFamily="2" charset="2"/>
            </a:endParaRPr>
          </a:p>
          <a:p>
            <a:pPr lvl="1"/>
            <a:r>
              <a:rPr lang="zh-TW" altLang="en-US" sz="1900" dirty="0">
                <a:sym typeface="Wingdings" panose="05000000000000000000" pitchFamily="2" charset="2"/>
              </a:rPr>
              <a:t>為什麼這樣就可以確認該</a:t>
            </a:r>
            <a:r>
              <a:rPr lang="en-US" altLang="zh-TW" sz="1900" dirty="0">
                <a:sym typeface="Wingdings" panose="05000000000000000000" pitchFamily="2" charset="2"/>
              </a:rPr>
              <a:t>feature</a:t>
            </a:r>
            <a:r>
              <a:rPr lang="zh-TW" altLang="en-US" sz="1900" dirty="0">
                <a:sym typeface="Wingdings" panose="05000000000000000000" pitchFamily="2" charset="2"/>
              </a:rPr>
              <a:t>的實用度？</a:t>
            </a:r>
            <a:endParaRPr lang="en-US" sz="19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02279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C899A-B613-8323-F66D-EC486F156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24073-B724-81E7-0AD4-7B10D1D76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所以我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C7F74-8ACA-8DBE-879D-F71215299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6889" y="656179"/>
            <a:ext cx="4815840" cy="595563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ym typeface="Wingdings" panose="05000000000000000000" pitchFamily="2" charset="2"/>
              </a:rPr>
              <a:t>5. </a:t>
            </a:r>
            <a:r>
              <a:rPr lang="zh-TW" altLang="en-US" sz="2400" dirty="0">
                <a:sym typeface="Wingdings" panose="05000000000000000000" pitchFamily="2" charset="2"/>
              </a:rPr>
              <a:t>先驗證</a:t>
            </a:r>
            <a:r>
              <a:rPr lang="en-US" altLang="zh-TW" sz="2400" dirty="0">
                <a:sym typeface="Wingdings" panose="05000000000000000000" pitchFamily="2" charset="2"/>
              </a:rPr>
              <a:t>feature</a:t>
            </a:r>
            <a:r>
              <a:rPr lang="zh-TW" altLang="en-US" sz="2400" dirty="0">
                <a:sym typeface="Wingdings" panose="05000000000000000000" pitchFamily="2" charset="2"/>
              </a:rPr>
              <a:t>的確定度</a:t>
            </a:r>
            <a:endParaRPr lang="en-US" altLang="zh-TW" sz="2400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程式做法：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zh-TW" altLang="en-US" dirty="0">
                <a:sym typeface="Wingdings" panose="05000000000000000000" pitchFamily="2" charset="2"/>
              </a:rPr>
              <a:t>李後燁你要可以解釋清楚！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sz="1900" dirty="0">
              <a:sym typeface="Wingdings" panose="05000000000000000000" pitchFamily="2" charset="2"/>
            </a:endParaRPr>
          </a:p>
          <a:p>
            <a:pPr lvl="1"/>
            <a:r>
              <a:rPr lang="zh-TW" altLang="en-US" sz="1900" dirty="0">
                <a:sym typeface="Wingdings" panose="05000000000000000000" pitchFamily="2" charset="2"/>
              </a:rPr>
              <a:t>為什麼這樣就可以確認該</a:t>
            </a:r>
            <a:r>
              <a:rPr lang="en-US" altLang="zh-TW" sz="1900" dirty="0">
                <a:sym typeface="Wingdings" panose="05000000000000000000" pitchFamily="2" charset="2"/>
              </a:rPr>
              <a:t>feature</a:t>
            </a:r>
            <a:r>
              <a:rPr lang="zh-TW" altLang="en-US" sz="1900" dirty="0">
                <a:sym typeface="Wingdings" panose="05000000000000000000" pitchFamily="2" charset="2"/>
              </a:rPr>
              <a:t>的實用度？</a:t>
            </a:r>
            <a:endParaRPr lang="en-US" sz="19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93735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EB497-D0A8-05E5-5C51-30A4A90B3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2544-D4A7-6F1D-69E0-8F6A2C53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所以我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49DFE-AE6A-B34B-8B3F-D1DF2EF6A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6889" y="656179"/>
            <a:ext cx="4815840" cy="595563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ym typeface="Wingdings" panose="05000000000000000000" pitchFamily="2" charset="2"/>
              </a:rPr>
              <a:t>6. </a:t>
            </a:r>
            <a:r>
              <a:rPr lang="zh-TW" altLang="en-US" sz="2400" dirty="0">
                <a:sym typeface="Wingdings" panose="05000000000000000000" pitchFamily="2" charset="2"/>
              </a:rPr>
              <a:t>先驗證</a:t>
            </a:r>
            <a:r>
              <a:rPr lang="en-US" altLang="zh-TW" sz="2400" dirty="0">
                <a:sym typeface="Wingdings" panose="05000000000000000000" pitchFamily="2" charset="2"/>
              </a:rPr>
              <a:t>feature</a:t>
            </a:r>
            <a:r>
              <a:rPr lang="zh-TW" altLang="en-US" sz="2400" dirty="0">
                <a:sym typeface="Wingdings" panose="05000000000000000000" pitchFamily="2" charset="2"/>
              </a:rPr>
              <a:t>的確定度</a:t>
            </a:r>
            <a:endParaRPr lang="en-US" altLang="zh-TW" sz="2400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程式做法：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zh-TW" altLang="en-US" dirty="0">
                <a:sym typeface="Wingdings" panose="05000000000000000000" pitchFamily="2" charset="2"/>
              </a:rPr>
              <a:t>李後燁你要可以解釋清楚！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sz="1900" dirty="0">
              <a:sym typeface="Wingdings" panose="05000000000000000000" pitchFamily="2" charset="2"/>
            </a:endParaRPr>
          </a:p>
          <a:p>
            <a:pPr lvl="1"/>
            <a:r>
              <a:rPr lang="zh-TW" altLang="en-US" sz="1900" dirty="0">
                <a:sym typeface="Wingdings" panose="05000000000000000000" pitchFamily="2" charset="2"/>
              </a:rPr>
              <a:t>為什麼這樣就可以確認該</a:t>
            </a:r>
            <a:r>
              <a:rPr lang="en-US" altLang="zh-TW" sz="1900" dirty="0">
                <a:sym typeface="Wingdings" panose="05000000000000000000" pitchFamily="2" charset="2"/>
              </a:rPr>
              <a:t>feature</a:t>
            </a:r>
            <a:r>
              <a:rPr lang="zh-TW" altLang="en-US" sz="1900" dirty="0">
                <a:sym typeface="Wingdings" panose="05000000000000000000" pitchFamily="2" charset="2"/>
              </a:rPr>
              <a:t>的實用度？</a:t>
            </a:r>
            <a:endParaRPr lang="en-US" sz="19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03566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22492-EC5F-02A2-C288-F1D248B44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9435-8965-8937-34BA-8B855CA45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所以我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2BB22-0BD5-07ED-747A-A354C6B4F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6889" y="656179"/>
            <a:ext cx="4815840" cy="595563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ym typeface="Wingdings" panose="05000000000000000000" pitchFamily="2" charset="2"/>
              </a:rPr>
              <a:t>7. </a:t>
            </a:r>
            <a:r>
              <a:rPr lang="zh-TW" altLang="en-US" sz="2400" dirty="0">
                <a:sym typeface="Wingdings" panose="05000000000000000000" pitchFamily="2" charset="2"/>
              </a:rPr>
              <a:t>先驗證</a:t>
            </a:r>
            <a:r>
              <a:rPr lang="en-US" altLang="zh-TW" sz="2400" dirty="0">
                <a:sym typeface="Wingdings" panose="05000000000000000000" pitchFamily="2" charset="2"/>
              </a:rPr>
              <a:t>feature</a:t>
            </a:r>
            <a:r>
              <a:rPr lang="zh-TW" altLang="en-US" sz="2400" dirty="0">
                <a:sym typeface="Wingdings" panose="05000000000000000000" pitchFamily="2" charset="2"/>
              </a:rPr>
              <a:t>的確定度</a:t>
            </a:r>
            <a:endParaRPr lang="en-US" altLang="zh-TW" sz="2400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程式做法：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zh-TW" altLang="en-US" dirty="0">
                <a:sym typeface="Wingdings" panose="05000000000000000000" pitchFamily="2" charset="2"/>
              </a:rPr>
              <a:t>李後燁你要可以解釋清楚！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sz="1900" dirty="0">
              <a:sym typeface="Wingdings" panose="05000000000000000000" pitchFamily="2" charset="2"/>
            </a:endParaRPr>
          </a:p>
          <a:p>
            <a:pPr lvl="1"/>
            <a:r>
              <a:rPr lang="zh-TW" altLang="en-US" sz="1900" dirty="0">
                <a:sym typeface="Wingdings" panose="05000000000000000000" pitchFamily="2" charset="2"/>
              </a:rPr>
              <a:t>為什麼這樣就可以確認該</a:t>
            </a:r>
            <a:r>
              <a:rPr lang="en-US" altLang="zh-TW" sz="1900" dirty="0">
                <a:sym typeface="Wingdings" panose="05000000000000000000" pitchFamily="2" charset="2"/>
              </a:rPr>
              <a:t>feature</a:t>
            </a:r>
            <a:r>
              <a:rPr lang="zh-TW" altLang="en-US" sz="1900" dirty="0">
                <a:sym typeface="Wingdings" panose="05000000000000000000" pitchFamily="2" charset="2"/>
              </a:rPr>
              <a:t>的實用度？</a:t>
            </a:r>
            <a:endParaRPr lang="en-US" sz="19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98701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340C9-0352-C67E-1223-87FA00AE8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F9660-EDBF-4E70-7BAA-2B1149525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所以我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7EA05-E354-0D65-C961-C642F4720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6889" y="656179"/>
            <a:ext cx="4815840" cy="595563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ym typeface="Wingdings" panose="05000000000000000000" pitchFamily="2" charset="2"/>
              </a:rPr>
              <a:t>8 </a:t>
            </a:r>
            <a:r>
              <a:rPr lang="zh-TW" altLang="en-US" sz="2400" dirty="0">
                <a:sym typeface="Wingdings" panose="05000000000000000000" pitchFamily="2" charset="2"/>
              </a:rPr>
              <a:t>先驗證</a:t>
            </a:r>
            <a:r>
              <a:rPr lang="en-US" altLang="zh-TW" sz="2400" dirty="0">
                <a:sym typeface="Wingdings" panose="05000000000000000000" pitchFamily="2" charset="2"/>
              </a:rPr>
              <a:t>feature</a:t>
            </a:r>
            <a:r>
              <a:rPr lang="zh-TW" altLang="en-US" sz="2400" dirty="0">
                <a:sym typeface="Wingdings" panose="05000000000000000000" pitchFamily="2" charset="2"/>
              </a:rPr>
              <a:t>的確定度</a:t>
            </a:r>
            <a:endParaRPr lang="en-US" altLang="zh-TW" sz="2400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程式做法：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zh-TW" altLang="en-US" dirty="0">
                <a:sym typeface="Wingdings" panose="05000000000000000000" pitchFamily="2" charset="2"/>
              </a:rPr>
              <a:t>李後燁你要可以解釋清楚！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sz="1900" dirty="0">
              <a:sym typeface="Wingdings" panose="05000000000000000000" pitchFamily="2" charset="2"/>
            </a:endParaRPr>
          </a:p>
          <a:p>
            <a:pPr lvl="1"/>
            <a:r>
              <a:rPr lang="zh-TW" altLang="en-US" sz="1900" dirty="0">
                <a:sym typeface="Wingdings" panose="05000000000000000000" pitchFamily="2" charset="2"/>
              </a:rPr>
              <a:t>為什麼這樣就可以確認該</a:t>
            </a:r>
            <a:r>
              <a:rPr lang="en-US" altLang="zh-TW" sz="1900" dirty="0">
                <a:sym typeface="Wingdings" panose="05000000000000000000" pitchFamily="2" charset="2"/>
              </a:rPr>
              <a:t>feature</a:t>
            </a:r>
            <a:r>
              <a:rPr lang="zh-TW" altLang="en-US" sz="1900" dirty="0">
                <a:sym typeface="Wingdings" panose="05000000000000000000" pitchFamily="2" charset="2"/>
              </a:rPr>
              <a:t>的實用度？</a:t>
            </a:r>
            <a:endParaRPr lang="en-US" sz="19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10242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0D3-01F7-BE0B-5246-EF11AD28F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5DF26-86C3-BBFE-74EE-6CFE17F5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所以我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F6A4-9F94-5E5F-AE3E-6098A30FF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6889" y="656179"/>
            <a:ext cx="4815840" cy="595563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ym typeface="Wingdings" panose="05000000000000000000" pitchFamily="2" charset="2"/>
              </a:rPr>
              <a:t>9. </a:t>
            </a:r>
            <a:r>
              <a:rPr lang="zh-TW" altLang="en-US" sz="2400" dirty="0">
                <a:sym typeface="Wingdings" panose="05000000000000000000" pitchFamily="2" charset="2"/>
              </a:rPr>
              <a:t>先驗證</a:t>
            </a:r>
            <a:r>
              <a:rPr lang="en-US" altLang="zh-TW" sz="2400" dirty="0">
                <a:sym typeface="Wingdings" panose="05000000000000000000" pitchFamily="2" charset="2"/>
              </a:rPr>
              <a:t>feature</a:t>
            </a:r>
            <a:r>
              <a:rPr lang="zh-TW" altLang="en-US" sz="2400" dirty="0">
                <a:sym typeface="Wingdings" panose="05000000000000000000" pitchFamily="2" charset="2"/>
              </a:rPr>
              <a:t>的確定度</a:t>
            </a:r>
            <a:endParaRPr lang="en-US" altLang="zh-TW" sz="2400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zh-TW" altLang="en-US" dirty="0">
                <a:sym typeface="Wingdings" panose="05000000000000000000" pitchFamily="2" charset="2"/>
              </a:rPr>
              <a:t>程式做法：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zh-TW" altLang="en-US" dirty="0">
                <a:sym typeface="Wingdings" panose="05000000000000000000" pitchFamily="2" charset="2"/>
              </a:rPr>
              <a:t>李後燁你要可以解釋清楚！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sz="1900" dirty="0">
              <a:sym typeface="Wingdings" panose="05000000000000000000" pitchFamily="2" charset="2"/>
            </a:endParaRPr>
          </a:p>
          <a:p>
            <a:pPr lvl="1"/>
            <a:r>
              <a:rPr lang="zh-TW" altLang="en-US" sz="1900" dirty="0">
                <a:sym typeface="Wingdings" panose="05000000000000000000" pitchFamily="2" charset="2"/>
              </a:rPr>
              <a:t>為什麼這樣就可以確認該</a:t>
            </a:r>
            <a:r>
              <a:rPr lang="en-US" altLang="zh-TW" sz="1900" dirty="0">
                <a:sym typeface="Wingdings" panose="05000000000000000000" pitchFamily="2" charset="2"/>
              </a:rPr>
              <a:t>feature</a:t>
            </a:r>
            <a:r>
              <a:rPr lang="zh-TW" altLang="en-US" sz="1900" dirty="0">
                <a:sym typeface="Wingdings" panose="05000000000000000000" pitchFamily="2" charset="2"/>
              </a:rPr>
              <a:t>的實用度？</a:t>
            </a:r>
            <a:endParaRPr lang="en-US" sz="19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69684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E4A9F-D241-9E31-3304-771FC25F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A14F-46A9-DAD4-040E-3D6F5A87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CME</a:t>
            </a:r>
            <a:r>
              <a:rPr lang="zh-TW" altLang="en-US" dirty="0"/>
              <a:t>資料放進去之後 目前的成果：</a:t>
            </a:r>
            <a:endParaRPr lang="LID4096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58AE73-28E5-7940-A464-3F1FCAB53F4C}"/>
              </a:ext>
            </a:extLst>
          </p:cNvPr>
          <p:cNvSpPr txBox="1">
            <a:spLocks/>
          </p:cNvSpPr>
          <p:nvPr/>
        </p:nvSpPr>
        <p:spPr>
          <a:xfrm>
            <a:off x="1333871" y="2551547"/>
            <a:ext cx="9161794" cy="21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TW" sz="2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C3D04A-3CD3-A0BE-1787-9B69A4BE1625}"/>
              </a:ext>
            </a:extLst>
          </p:cNvPr>
          <p:cNvSpPr txBox="1">
            <a:spLocks/>
          </p:cNvSpPr>
          <p:nvPr/>
        </p:nvSpPr>
        <p:spPr>
          <a:xfrm>
            <a:off x="1515103" y="2457389"/>
            <a:ext cx="9161794" cy="21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LID4096" sz="2400" dirty="0"/>
          </a:p>
        </p:txBody>
      </p:sp>
      <p:pic>
        <p:nvPicPr>
          <p:cNvPr id="7" name="Picture 6" descr="The image displays a confusion matrix and performance metrics for a model comparing CME and ESM6+CLK6 predictions, indicating various levels of prediction accuracy and net profit or loss.&#10;&#10;AI-generated content may be incorrect.">
            <a:extLst>
              <a:ext uri="{FF2B5EF4-FFF2-40B4-BE49-F238E27FC236}">
                <a16:creationId xmlns:a16="http://schemas.microsoft.com/office/drawing/2014/main" id="{194CDCC0-FCF5-591A-4958-20F606F61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57389"/>
            <a:ext cx="12192000" cy="379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78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CC23E-0B03-3098-B789-DCC1C5743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FD8D-0086-0259-C0FA-695F9885E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18" y="2858251"/>
            <a:ext cx="4486656" cy="1141497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TRAIN MLP</a:t>
            </a:r>
            <a:endParaRPr lang="LID4096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CCB0C2-072D-6FF9-290A-035E25345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030" y="581388"/>
            <a:ext cx="4815840" cy="6276612"/>
          </a:xfrm>
        </p:spPr>
        <p:txBody>
          <a:bodyPr>
            <a:normAutofit/>
          </a:bodyPr>
          <a:lstStyle/>
          <a:p>
            <a:r>
              <a:rPr lang="en-US" dirty="0"/>
              <a:t>Input:</a:t>
            </a:r>
          </a:p>
          <a:p>
            <a:r>
              <a:rPr lang="zh-TW" altLang="en-US" dirty="0"/>
              <a:t>使用資料的筆數：</a:t>
            </a:r>
            <a:endParaRPr lang="en-US" altLang="zh-TW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476578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1D420-9876-E61E-6BC1-A4464FC05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48C3-DF81-6E7D-35E6-19D57AD40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18" y="2858251"/>
            <a:ext cx="4486656" cy="1141497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TRAIN tcn</a:t>
            </a:r>
            <a:endParaRPr lang="LID4096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2A554D-7211-977F-A86A-28998AB4A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030" y="581388"/>
            <a:ext cx="4815840" cy="6276612"/>
          </a:xfrm>
        </p:spPr>
        <p:txBody>
          <a:bodyPr>
            <a:normAutofit/>
          </a:bodyPr>
          <a:lstStyle/>
          <a:p>
            <a:r>
              <a:rPr lang="en-US" dirty="0"/>
              <a:t>Input: </a:t>
            </a:r>
            <a:r>
              <a:rPr lang="zh-TW" altLang="en-US" dirty="0"/>
              <a:t>上一個部份的</a:t>
            </a:r>
            <a:r>
              <a:rPr lang="en-US" altLang="zh-TW" dirty="0"/>
              <a:t>12</a:t>
            </a:r>
            <a:r>
              <a:rPr lang="zh-TW" altLang="en-US" dirty="0"/>
              <a:t>個</a:t>
            </a:r>
            <a:r>
              <a:rPr lang="en-US" altLang="zh-TW" dirty="0"/>
              <a:t>feature</a:t>
            </a:r>
          </a:p>
          <a:p>
            <a:r>
              <a:rPr lang="zh-TW" altLang="en-US" dirty="0"/>
              <a:t>每個</a:t>
            </a:r>
            <a:r>
              <a:rPr lang="en-US" altLang="zh-TW" dirty="0"/>
              <a:t>event </a:t>
            </a:r>
            <a:r>
              <a:rPr lang="zh-TW" altLang="en-US" dirty="0"/>
              <a:t>跑一次</a:t>
            </a:r>
            <a:endParaRPr lang="en-US" dirty="0"/>
          </a:p>
          <a:p>
            <a:r>
              <a:rPr lang="en-US" dirty="0"/>
              <a:t>Parameters:</a:t>
            </a:r>
          </a:p>
          <a:p>
            <a:pPr lvl="1"/>
            <a:r>
              <a:rPr lang="en-US" dirty="0"/>
              <a:t> TCN Blocks: 3</a:t>
            </a:r>
          </a:p>
          <a:p>
            <a:pPr lvl="1"/>
            <a:r>
              <a:rPr lang="en-US" dirty="0"/>
              <a:t>Channels per block: </a:t>
            </a:r>
            <a:r>
              <a:rPr lang="en-US" b="1" dirty="0"/>
              <a:t>16</a:t>
            </a:r>
          </a:p>
          <a:p>
            <a:pPr lvl="1"/>
            <a:r>
              <a:rPr lang="en-US" dirty="0"/>
              <a:t> Kernel size: 3 </a:t>
            </a:r>
          </a:p>
          <a:p>
            <a:pPr lvl="1"/>
            <a:r>
              <a:rPr lang="en-US" dirty="0"/>
              <a:t> Dilations: </a:t>
            </a:r>
            <a:r>
              <a:rPr lang="en-US" b="1" dirty="0"/>
              <a:t>1 / 2 / 4 </a:t>
            </a:r>
          </a:p>
          <a:p>
            <a:pPr lvl="1"/>
            <a:r>
              <a:rPr lang="en-US" dirty="0"/>
              <a:t> Window size (sequence length): </a:t>
            </a:r>
            <a:r>
              <a:rPr lang="en-US" b="1" dirty="0"/>
              <a:t>100</a:t>
            </a:r>
            <a:endParaRPr lang="en-US" dirty="0"/>
          </a:p>
          <a:p>
            <a:pPr lvl="1"/>
            <a:r>
              <a:rPr lang="en-US" dirty="0"/>
              <a:t> Horizon: </a:t>
            </a:r>
            <a:r>
              <a:rPr lang="en-US" b="1" dirty="0"/>
              <a:t>10</a:t>
            </a:r>
            <a:endParaRPr lang="en-US" dirty="0"/>
          </a:p>
          <a:p>
            <a:pPr lvl="1"/>
            <a:r>
              <a:rPr lang="en-US" dirty="0"/>
              <a:t>Total params </a:t>
            </a:r>
            <a:r>
              <a:rPr lang="en-US" b="1" dirty="0"/>
              <a:t>4,771</a:t>
            </a:r>
            <a:endParaRPr lang="en-US" dirty="0"/>
          </a:p>
          <a:p>
            <a:pPr lvl="1"/>
            <a:r>
              <a:rPr lang="en-US" dirty="0"/>
              <a:t> MACs / sample: </a:t>
            </a:r>
            <a:r>
              <a:rPr lang="en-US" b="1" dirty="0"/>
              <a:t>460,848</a:t>
            </a:r>
            <a:endParaRPr lang="en-US" dirty="0"/>
          </a:p>
          <a:p>
            <a:pPr lvl="1"/>
            <a:r>
              <a:rPr lang="en-US" dirty="0"/>
              <a:t> Receptive Field: </a:t>
            </a:r>
            <a:r>
              <a:rPr lang="en-US" b="1" dirty="0"/>
              <a:t>29 events</a:t>
            </a:r>
            <a:endParaRPr lang="en-US" dirty="0"/>
          </a:p>
          <a:p>
            <a:pPr lvl="1"/>
            <a:r>
              <a:rPr lang="en-US" dirty="0"/>
              <a:t> INT8 weight size: </a:t>
            </a:r>
            <a:r>
              <a:rPr lang="en-US" b="1" dirty="0"/>
              <a:t>4.8 KB</a:t>
            </a:r>
            <a:endParaRPr lang="en-US" dirty="0"/>
          </a:p>
          <a:p>
            <a:r>
              <a:rPr lang="en-US" altLang="zh-TW" dirty="0"/>
              <a:t>Output:</a:t>
            </a:r>
            <a:r>
              <a:rPr lang="zh-TW" altLang="en-US" sz="2000" dirty="0"/>
              <a:t> </a:t>
            </a:r>
            <a:r>
              <a:rPr lang="en-US" altLang="zh-TW" sz="2000" dirty="0" err="1"/>
              <a:t>p_up</a:t>
            </a:r>
            <a:r>
              <a:rPr lang="en-US" altLang="zh-TW" sz="2000" dirty="0"/>
              <a:t>, </a:t>
            </a:r>
            <a:r>
              <a:rPr lang="en-US" altLang="zh-TW" sz="2000" dirty="0" err="1"/>
              <a:t>p_down</a:t>
            </a:r>
            <a:r>
              <a:rPr lang="en-US" altLang="zh-TW" sz="2000" dirty="0"/>
              <a:t>, </a:t>
            </a:r>
            <a:r>
              <a:rPr lang="en-US" altLang="zh-TW" sz="2000" dirty="0" err="1"/>
              <a:t>p_stationary</a:t>
            </a:r>
            <a:endParaRPr lang="en-US" altLang="zh-TW" sz="2000" dirty="0"/>
          </a:p>
          <a:p>
            <a:pPr lvl="1"/>
            <a:r>
              <a:rPr lang="zh-TW" altLang="en-US" sz="1700" dirty="0"/>
              <a:t> </a:t>
            </a:r>
            <a:r>
              <a:rPr lang="en-US" altLang="zh-TW" sz="1700" dirty="0"/>
              <a:t>| alpha score | = | </a:t>
            </a:r>
            <a:r>
              <a:rPr lang="en-US" altLang="zh-TW" sz="1700" dirty="0" err="1"/>
              <a:t>p_up</a:t>
            </a:r>
            <a:r>
              <a:rPr lang="en-US" altLang="zh-TW" sz="1700" dirty="0"/>
              <a:t> – </a:t>
            </a:r>
            <a:r>
              <a:rPr lang="en-US" altLang="zh-TW" sz="1700" dirty="0" err="1"/>
              <a:t>p_down</a:t>
            </a:r>
            <a:r>
              <a:rPr lang="en-US" altLang="zh-TW" sz="1700" dirty="0"/>
              <a:t> |&gt;</a:t>
            </a:r>
            <a:r>
              <a:rPr lang="zh-TW" altLang="en-US" sz="1700" dirty="0"/>
              <a:t> </a:t>
            </a:r>
            <a:r>
              <a:rPr lang="en-US" altLang="zh-TW" sz="1700" dirty="0"/>
              <a:t>threshold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38651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841F0-BC8B-28C8-DAC0-9D86FC19B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Strategy &amp; </a:t>
            </a:r>
            <a:r>
              <a:rPr lang="en-US" altLang="zh-TW" dirty="0" err="1"/>
              <a:t>Backtest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EA1B9B-F889-0337-9BBA-8C6C3D5BD5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sz="2400" dirty="0"/>
                  <a:t>機制：</a:t>
                </a:r>
                <a:endParaRPr lang="en-US" altLang="zh-TW" sz="2400" dirty="0"/>
              </a:p>
              <a:p>
                <a:pPr lvl="1"/>
                <a:r>
                  <a:rPr lang="zh-TW" altLang="en-US" dirty="0"/>
                  <a:t>根據 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𝑢𝑝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𝑑𝑜𝑤𝑛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𝑠𝑡𝑎𝑡</m:t>
                        </m:r>
                      </m:sub>
                    </m:sSub>
                  </m:oMath>
                </a14:m>
                <a:r>
                  <a:rPr lang="en-US" altLang="zh-TW" dirty="0"/>
                  <a:t>) </a:t>
                </a:r>
                <a:r>
                  <a:rPr lang="zh-TW" altLang="en-US" dirty="0"/>
                  <a:t>決定動作。</a:t>
                </a:r>
              </a:p>
              <a:p>
                <a:pPr lvl="1"/>
                <a:r>
                  <a:rPr lang="zh-TW" altLang="en-US" b="1" dirty="0"/>
                  <a:t>執行模式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:pPr lvl="2"/>
                <a:r>
                  <a:rPr lang="zh-TW" altLang="en-US" dirty="0"/>
                  <a:t>市價：</a:t>
                </a:r>
                <a:r>
                  <a:rPr lang="en-US" altLang="zh-TW" dirty="0"/>
                  <a:t>P &gt; 0.55</a:t>
                </a:r>
              </a:p>
              <a:p>
                <a:pPr lvl="2"/>
                <a:r>
                  <a:rPr lang="zh-TW" altLang="en-US" dirty="0"/>
                  <a:t>限價：</a:t>
                </a:r>
                <a:r>
                  <a:rPr lang="en-US" altLang="zh-TW" dirty="0"/>
                  <a:t>P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&lt;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0.55</a:t>
                </a:r>
              </a:p>
              <a:p>
                <a:pPr lvl="1"/>
                <a:r>
                  <a:rPr lang="zh-TW" altLang="en-US" dirty="0"/>
                  <a:t>限價進場會參考 </a:t>
                </a:r>
                <a:r>
                  <a:rPr lang="en-US" altLang="zh-TW" dirty="0"/>
                  <a:t>LOB </a:t>
                </a:r>
                <a:r>
                  <a:rPr lang="zh-TW" altLang="en-US" dirty="0"/>
                  <a:t>第一檔掛單量，進行 </a:t>
                </a:r>
                <a:r>
                  <a:rPr lang="en-US" altLang="zh-TW" dirty="0"/>
                  <a:t>FIFO </a:t>
                </a:r>
                <a:r>
                  <a:rPr lang="zh-TW" altLang="en-US" dirty="0"/>
                  <a:t>佇列模擬。</a:t>
                </a:r>
                <a:endParaRPr lang="en-US" altLang="zh-TW" dirty="0"/>
              </a:p>
              <a:p>
                <a:pPr lvl="1"/>
                <a:r>
                  <a:rPr lang="en-US" altLang="zh-TW" dirty="0"/>
                  <a:t>Latency</a:t>
                </a:r>
                <a:r>
                  <a:rPr lang="zh-TW" altLang="en-US" dirty="0"/>
                  <a:t>：模擬 </a:t>
                </a:r>
                <a:r>
                  <a:rPr lang="en-US" altLang="zh-TW" dirty="0"/>
                  <a:t>1-tick </a:t>
                </a:r>
                <a:r>
                  <a:rPr lang="zh-TW" altLang="en-US" dirty="0"/>
                  <a:t>延遲 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成交撮合：限價單透過 </a:t>
                </a:r>
                <a:r>
                  <a:rPr lang="en-US" altLang="zh-TW" dirty="0" err="1"/>
                  <a:t>trade_tape</a:t>
                </a:r>
                <a:r>
                  <a:rPr lang="en-US" altLang="zh-TW" dirty="0"/>
                  <a:t> (</a:t>
                </a:r>
                <a:r>
                  <a:rPr lang="zh-TW" altLang="en-US" dirty="0"/>
                  <a:t>逐筆成交錄</a:t>
                </a:r>
                <a:r>
                  <a:rPr lang="en-US" altLang="zh-TW" dirty="0"/>
                  <a:t>) </a:t>
                </a:r>
                <a:r>
                  <a:rPr lang="zh-TW" altLang="en-US" dirty="0"/>
                  <a:t>驗證，僅當市場成交價優於或等於報價、且成交量足以消化佇列頭部時，才判定為成功成交。</a:t>
                </a:r>
                <a:endParaRPr lang="en-US" altLang="zh-TW" sz="2400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EA1B9B-F889-0337-9BBA-8C6C3D5BD5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46" t="-929" r="-253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D8453-D136-65FD-5475-233A0E6DC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50207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ACAE4-3735-35F4-B88B-E340E64CE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BACD01-A8FA-4939-CFAE-F74397BAB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程式上的做法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73C31F2-521B-B75B-55CD-CBED4B591C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87281" y="2500158"/>
                <a:ext cx="10169289" cy="2669719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𝑟𝑒𝑠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𝑜𝑙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𝑑𝑦𝑛𝑎𝑚𝑖𝑐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𝑟𝑒𝑠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𝑜𝑙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𝑏𝑎𝑠𝑒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𝑆𝑝𝑟𝑒𝑎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𝑡𝑖𝑐𝑘𝑠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𝑟𝑜𝑙𝑙𝑖𝑛𝑔</m:t>
                        </m:r>
                      </m:sub>
                    </m:sSub>
                  </m:oMath>
                </a14:m>
                <a:endParaRPr lang="ar-AE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𝑀𝑎𝑟𝑔𝑖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𝑑𝑖𝑟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𝑠𝑡𝑎𝑡𝑖𝑜𝑛𝑎𝑟𝑦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𝑇𝑎𝑘𝑒𝑇𝑟𝑎𝑑𝑒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𝑇𝑟𝑢𝑒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i="1"/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 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𝑑𝑖𝑟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𝑜𝑙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𝑑𝑦𝑛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ar-AE" i="1"/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&amp;&amp;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Margin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ar-AE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𝑀𝑎𝑟𝑔𝑖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&amp;&amp;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egime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OK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/>
                            <m:e/>
                          </m:mr>
                          <m:m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𝐹𝑎𝑙𝑠𝑒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signal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→ 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Stationary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dir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i="1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𝑃𝑢𝑝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​,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𝑃𝑑𝑜𝑤𝑛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​)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73C31F2-521B-B75B-55CD-CBED4B591C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87281" y="2500158"/>
                <a:ext cx="10169289" cy="2669719"/>
              </a:xfrm>
              <a:blipFill>
                <a:blip r:embed="rId3"/>
                <a:stretch>
                  <a:fillRect l="-419" t="-68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ABA74B0-31B1-A0C3-3360-9F5E71A53D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569" b="29304"/>
          <a:stretch>
            <a:fillRect/>
          </a:stretch>
        </p:blipFill>
        <p:spPr>
          <a:xfrm>
            <a:off x="0" y="5169877"/>
            <a:ext cx="12192000" cy="168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59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969DA-F033-9BFD-08AE-11560814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regime</a:t>
            </a:r>
            <a:endParaRPr lang="LID4096" dirty="0"/>
          </a:p>
        </p:txBody>
      </p:sp>
      <p:pic>
        <p:nvPicPr>
          <p:cNvPr id="7" name="Picture 6" descr="The image presents a detailed explanation of a trading strategy that includes parameters like rationale, volatility, market overheating, bid-ask depth, and spoofing prevention, all aimed at optimizing trading decisions.&#10;&#10;AI-generated content may be incorrect.">
            <a:extLst>
              <a:ext uri="{FF2B5EF4-FFF2-40B4-BE49-F238E27FC236}">
                <a16:creationId xmlns:a16="http://schemas.microsoft.com/office/drawing/2014/main" id="{326CEFB7-AF0A-D03B-F0E0-05B2CEC7A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36" y="2717240"/>
            <a:ext cx="8244114" cy="153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33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ith Gating&#10;&#10;AI-generated content may be incorrect.">
            <a:extLst>
              <a:ext uri="{FF2B5EF4-FFF2-40B4-BE49-F238E27FC236}">
                <a16:creationId xmlns:a16="http://schemas.microsoft.com/office/drawing/2014/main" id="{B022BCAA-943A-46B0-1CA7-647B5F72E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7000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319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FA02C-4681-DDCA-A9E2-857D7827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0746-46E1-6846-DAAF-1C45851B9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轉成</a:t>
            </a:r>
            <a:r>
              <a:rPr lang="en-US" altLang="zh-TW" dirty="0"/>
              <a:t>INT8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7C8DFE1-A22B-FE98-000B-DC1D07902F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36079" y="804672"/>
                <a:ext cx="5535749" cy="5248656"/>
              </a:xfrm>
            </p:spPr>
            <p:txBody>
              <a:bodyPr/>
              <a:lstStyle/>
              <a:p>
                <a:r>
                  <a:rPr lang="zh-TW" altLang="en-US" dirty="0"/>
                  <a:t>做法：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𝑐𝑙𝑖𝑝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𝑟𝑜𝑢𝑛𝑑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𝑠𝑓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127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127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fName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127</m:t>
                        </m:r>
                      </m:den>
                    </m:f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𝑃𝑒𝑟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𝑎𝑛𝑛𝑒𝑙𝑠𝑐𝑎𝑙𝑒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𝐿𝑜𝑔𝑖𝑡𝑓𝑙𝑜𝑎𝑡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𝐿𝑜𝑔𝑖𝑡𝑖𝑛𝑡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32​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activation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weight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zh-TW" altLang="en-US" dirty="0">
                    <a:latin typeface="Cambria Math" panose="02040503050406030204" pitchFamily="18" charset="0"/>
                  </a:rPr>
                  <a:t>再取</a:t>
                </a:r>
                <a:r>
                  <a:rPr lang="en-US" altLang="zh-TW" dirty="0" err="1">
                    <a:latin typeface="Cambria Math" panose="02040503050406030204" pitchFamily="18" charset="0"/>
                  </a:rPr>
                  <a:t>softmax</a:t>
                </a:r>
                <a:r>
                  <a:rPr lang="zh-TW" altLang="en-US" dirty="0">
                    <a:latin typeface="Cambria Math" panose="02040503050406030204" pitchFamily="18" charset="0"/>
                  </a:rPr>
                  <a:t>得到</a:t>
                </a:r>
                <a:r>
                  <a:rPr lang="en-US" altLang="zh-TW" dirty="0" err="1">
                    <a:latin typeface="Cambria Math" panose="02040503050406030204" pitchFamily="18" charset="0"/>
                  </a:rPr>
                  <a:t>P_up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, </a:t>
                </a:r>
                <a:r>
                  <a:rPr lang="en-US" altLang="zh-TW" dirty="0" err="1">
                    <a:latin typeface="Cambria Math" panose="02040503050406030204" pitchFamily="18" charset="0"/>
                  </a:rPr>
                  <a:t>P_stationary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, </a:t>
                </a:r>
                <a:r>
                  <a:rPr lang="en-US" altLang="zh-TW" dirty="0" err="1">
                    <a:latin typeface="Cambria Math" panose="02040503050406030204" pitchFamily="18" charset="0"/>
                  </a:rPr>
                  <a:t>P_down</a:t>
                </a:r>
                <a:endParaRPr lang="en-US" altLang="zh-TW" dirty="0">
                  <a:latin typeface="Cambria Math" panose="02040503050406030204" pitchFamily="18" charset="0"/>
                </a:endParaRPr>
              </a:p>
              <a:p>
                <a:pPr lvl="1"/>
                <a:endParaRPr lang="en-US" b="0" dirty="0">
                  <a:latin typeface="Cambria Math" panose="02040503050406030204" pitchFamily="18" charset="0"/>
                </a:endParaRPr>
              </a:p>
              <a:p>
                <a:pPr lvl="1"/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:endParaRPr lang="en-US" b="0" dirty="0">
                  <a:latin typeface="Cambria Math" panose="02040503050406030204" pitchFamily="18" charset="0"/>
                </a:endParaRPr>
              </a:p>
              <a:p>
                <a:r>
                  <a:rPr lang="zh-TW" altLang="en-US" dirty="0"/>
                  <a:t>做法：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把上面那樣子</a:t>
                </a:r>
                <a:r>
                  <a:rPr lang="en-US" altLang="zh-TW" dirty="0" err="1"/>
                  <a:t>c++</a:t>
                </a:r>
                <a:r>
                  <a:rPr lang="en-US" altLang="zh-TW" dirty="0"/>
                  <a:t> (</a:t>
                </a:r>
                <a:r>
                  <a:rPr lang="zh-TW" altLang="en-US" dirty="0"/>
                  <a:t>未來要拿去做</a:t>
                </a:r>
                <a:r>
                  <a:rPr lang="en-US" altLang="zh-TW" dirty="0"/>
                  <a:t>HLS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跑出來的結果跟</a:t>
                </a:r>
                <a:r>
                  <a:rPr lang="en-US" altLang="zh-TW" dirty="0"/>
                  <a:t>python round</a:t>
                </a:r>
                <a:r>
                  <a:rPr lang="zh-TW" altLang="en-US" dirty="0"/>
                  <a:t>之後的結果比較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可以吻合 </a:t>
                </a:r>
                <a:r>
                  <a:rPr lang="en-US" altLang="zh-TW" dirty="0">
                    <a:sym typeface="Wingdings" panose="05000000000000000000" pitchFamily="2" charset="2"/>
                  </a:rPr>
                  <a:t></a:t>
                </a:r>
                <a:r>
                  <a:rPr lang="zh-TW" altLang="en-US" dirty="0">
                    <a:sym typeface="Wingdings" panose="05000000000000000000" pitchFamily="2" charset="2"/>
                  </a:rPr>
                  <a:t> 驗證成功</a:t>
                </a:r>
                <a:endParaRPr lang="en-US" altLang="zh-TW" dirty="0"/>
              </a:p>
              <a:p>
                <a:endParaRPr lang="en-US" b="0" dirty="0">
                  <a:latin typeface="Cambria Math" panose="02040503050406030204" pitchFamily="18" charset="0"/>
                </a:endParaRPr>
              </a:p>
              <a:p>
                <a:pPr lvl="1"/>
                <a:endParaRPr lang="en-US" b="0" dirty="0">
                  <a:latin typeface="Cambria Math" panose="02040503050406030204" pitchFamily="18" charset="0"/>
                </a:endParaRPr>
              </a:p>
              <a:p>
                <a:pPr lvl="1"/>
                <a:endParaRPr lang="en-US" dirty="0">
                  <a:latin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dirty="0"/>
              </a:p>
              <a:p>
                <a:pPr lvl="1"/>
                <a:endParaRPr lang="LID4096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7C8DFE1-A22B-FE98-000B-DC1D07902F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36079" y="804672"/>
                <a:ext cx="5535749" cy="5248656"/>
              </a:xfrm>
              <a:blipFill>
                <a:blip r:embed="rId3"/>
                <a:stretch>
                  <a:fillRect l="-771" t="-697" b="-207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31BF28A5-0616-43C7-68B3-FC8CC3568D3C}"/>
              </a:ext>
            </a:extLst>
          </p:cNvPr>
          <p:cNvSpPr txBox="1">
            <a:spLocks/>
          </p:cNvSpPr>
          <p:nvPr/>
        </p:nvSpPr>
        <p:spPr bwMode="blackWhite">
          <a:xfrm>
            <a:off x="769620" y="4268571"/>
            <a:ext cx="4486656" cy="1141497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/>
              <a:t>Bit accurate </a:t>
            </a:r>
            <a:r>
              <a:rPr lang="zh-TW" altLang="en-US"/>
              <a:t>驗證</a:t>
            </a:r>
            <a:endParaRPr lang="LID4096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F3A36029-AB66-34D8-B45B-179948294398}"/>
              </a:ext>
            </a:extLst>
          </p:cNvPr>
          <p:cNvSpPr/>
          <p:nvPr/>
        </p:nvSpPr>
        <p:spPr>
          <a:xfrm>
            <a:off x="2605314" y="3472676"/>
            <a:ext cx="638629" cy="649646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30278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2810F-8B23-84AE-553D-379970383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B8EAB4-17A1-B710-0260-0046476DC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858251"/>
            <a:ext cx="4486656" cy="1141497"/>
          </a:xfrm>
        </p:spPr>
        <p:txBody>
          <a:bodyPr/>
          <a:lstStyle/>
          <a:p>
            <a:r>
              <a:rPr lang="en-US" altLang="zh-TW" sz="2000">
                <a:solidFill>
                  <a:schemeClr val="tx1"/>
                </a:solidFill>
              </a:rPr>
              <a:t>HLS</a:t>
            </a:r>
            <a:r>
              <a:rPr lang="zh-TW" altLang="en-US" sz="2000">
                <a:solidFill>
                  <a:schemeClr val="tx1"/>
                </a:solidFill>
              </a:rPr>
              <a:t>的部分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BF9C54C-FBD2-42AA-8FF4-BF14062DBF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83086" y="804672"/>
                <a:ext cx="5812971" cy="5248656"/>
              </a:xfrm>
            </p:spPr>
            <p:txBody>
              <a:bodyPr/>
              <a:lstStyle/>
              <a:p>
                <a:r>
                  <a:rPr lang="en-US" altLang="zh-TW" dirty="0"/>
                  <a:t>Vitis </a:t>
                </a:r>
                <a:r>
                  <a:rPr lang="zh-TW" altLang="en-US" dirty="0"/>
                  <a:t>下載</a:t>
                </a:r>
              </a:p>
              <a:p>
                <a:r>
                  <a:rPr lang="zh-TW" altLang="en-US" dirty="0"/>
                  <a:t>概念理解</a:t>
                </a:r>
                <a:endParaRPr lang="en-US" altLang="zh-TW" dirty="0"/>
              </a:p>
              <a:p>
                <a:r>
                  <a:rPr lang="zh-TW" altLang="en-US" dirty="0"/>
                  <a:t>初步延遲推估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使用</a:t>
                </a:r>
                <a:r>
                  <a:rPr lang="en-US" altLang="zh-TW" dirty="0"/>
                  <a:t>MAC</a:t>
                </a:r>
                <a:r>
                  <a:rPr lang="zh-TW" altLang="en-US" dirty="0"/>
                  <a:t>的數量去推算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公式：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𝐿𝑎𝑡𝑒𝑛𝑐𝑦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​=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𝑇𝑜𝑡𝑎𝑙𝑀𝐴𝐶𝑠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𝑟𝑜𝑢𝑔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𝑝𝑢𝑡𝐹𝑃𝐺𝐴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​​=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460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848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𝑀𝐴𝐶𝑠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​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𝐺𝑀𝐴𝐶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:r>
                  <a:rPr lang="zh-TW" altLang="en-US" dirty="0"/>
                  <a:t>這部分只有純模型推論過程，不包含特徵工程、封包收發等</a:t>
                </a:r>
                <a:endParaRPr lang="en-US" altLang="zh-TW" dirty="0"/>
              </a:p>
              <a:p>
                <a:r>
                  <a:rPr lang="en-US" altLang="zh-TW" dirty="0"/>
                  <a:t>C++ code</a:t>
                </a:r>
                <a:r>
                  <a:rPr lang="zh-TW" altLang="en-US" dirty="0"/>
                  <a:t> 初步向</a:t>
                </a:r>
                <a:r>
                  <a:rPr lang="en-US" altLang="zh-TW" dirty="0"/>
                  <a:t>HLS</a:t>
                </a:r>
                <a:r>
                  <a:rPr lang="zh-TW" altLang="en-US" dirty="0"/>
                  <a:t>做</a:t>
                </a:r>
                <a:endParaRPr lang="en-US" altLang="zh-TW" dirty="0"/>
              </a:p>
              <a:p>
                <a:pPr lvl="1"/>
                <a:r>
                  <a:rPr lang="en-US" dirty="0"/>
                  <a:t>Fix-sized</a:t>
                </a:r>
              </a:p>
              <a:p>
                <a:pPr lvl="1"/>
                <a:r>
                  <a:rPr lang="zh-TW" altLang="en-US" dirty="0"/>
                  <a:t>不要</a:t>
                </a:r>
                <a:r>
                  <a:rPr lang="en-US" altLang="zh-TW" dirty="0"/>
                  <a:t>dynamic memory</a:t>
                </a:r>
                <a:endParaRPr lang="en-US" dirty="0"/>
              </a:p>
              <a:p>
                <a:pPr lvl="1"/>
                <a:endParaRPr lang="zh-TW" altLang="en-US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BF9C54C-FBD2-42AA-8FF4-BF14062DBF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83086" y="804672"/>
                <a:ext cx="5812971" cy="5248656"/>
              </a:xfrm>
              <a:blipFill>
                <a:blip r:embed="rId3"/>
                <a:stretch>
                  <a:fillRect l="-734" t="-69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205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FBC00-D502-5E34-6869-E070DDA7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880519B-D6E4-92CD-9639-36445920B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8D599F-D8F8-37E2-5C64-1F9A40124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5E348D-F76C-D855-B90C-C1AF091CC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40CFB-69A8-F698-96BC-E5863A665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rgbClr val="FFFFFF"/>
                </a:solidFill>
              </a:rPr>
              <a:t>下禮拜</a:t>
            </a:r>
            <a:br>
              <a:rPr lang="en-US" altLang="zh-TW" sz="4000" dirty="0">
                <a:solidFill>
                  <a:srgbClr val="FFFFFF"/>
                </a:solidFill>
              </a:rPr>
            </a:br>
            <a:r>
              <a:rPr lang="zh-TW" altLang="en-US" sz="4000" dirty="0">
                <a:solidFill>
                  <a:srgbClr val="FFFFFF"/>
                </a:solidFill>
              </a:rPr>
              <a:t>預計要做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32458-251B-C658-70CA-EFB824057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031631"/>
            <a:ext cx="5700082" cy="4424289"/>
          </a:xfrm>
        </p:spPr>
        <p:txBody>
          <a:bodyPr anchor="ctr">
            <a:normAutofit/>
          </a:bodyPr>
          <a:lstStyle/>
          <a:p>
            <a:r>
              <a:rPr lang="zh-TW" altLang="en-US" sz="2800" dirty="0"/>
              <a:t>幫忙抓資料、存資料</a:t>
            </a:r>
            <a:endParaRPr lang="en-US" altLang="zh-TW" sz="2800" dirty="0"/>
          </a:p>
          <a:p>
            <a:r>
              <a:rPr lang="zh-TW" altLang="en-US" sz="2800" dirty="0"/>
              <a:t>持續用新資料</a:t>
            </a:r>
            <a:r>
              <a:rPr lang="en-US" altLang="zh-TW" sz="2800" dirty="0"/>
              <a:t>train</a:t>
            </a:r>
            <a:r>
              <a:rPr lang="zh-TW" altLang="en-US" sz="2800" dirty="0"/>
              <a:t>模型，多用各種市場的環境去訓練</a:t>
            </a:r>
            <a:endParaRPr lang="en-US" altLang="zh-TW" sz="2800" dirty="0"/>
          </a:p>
          <a:p>
            <a:r>
              <a:rPr lang="zh-TW" altLang="en-US" sz="2800" dirty="0"/>
              <a:t>跑合成，確保可以將模型塞到</a:t>
            </a:r>
            <a:r>
              <a:rPr lang="en-US" altLang="zh-TW" sz="2800" dirty="0"/>
              <a:t>FPGA</a:t>
            </a:r>
            <a:r>
              <a:rPr lang="zh-TW" altLang="en-US" sz="2800" dirty="0"/>
              <a:t>上</a:t>
            </a:r>
            <a:endParaRPr lang="en-US" altLang="zh-TW" sz="2800" dirty="0"/>
          </a:p>
          <a:p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970712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25A6EF-CD2A-F720-6E73-C3156E65B8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THANK</a:t>
            </a:r>
            <a:r>
              <a:rPr lang="zh-TW" altLang="en-US" dirty="0"/>
              <a:t> </a:t>
            </a:r>
            <a:r>
              <a:rPr lang="en-US" altLang="zh-TW" dirty="0"/>
              <a:t>YOU</a:t>
            </a:r>
            <a:endParaRPr lang="LID4096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57CF14F-1CF0-0B41-C0EB-A28C9467D1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939502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4922</TotalTime>
  <Words>1952</Words>
  <Application>Microsoft Office PowerPoint</Application>
  <PresentationFormat>Widescreen</PresentationFormat>
  <Paragraphs>263</Paragraphs>
  <Slides>24</Slides>
  <Notes>19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Cambria Math</vt:lpstr>
      <vt:lpstr>Gill Sans MT</vt:lpstr>
      <vt:lpstr>Wingdings</vt:lpstr>
      <vt:lpstr>Parcel</vt:lpstr>
      <vt:lpstr>Meeting 簡報 W10</vt:lpstr>
      <vt:lpstr>這周</vt:lpstr>
      <vt:lpstr>PowerPoint Presentation</vt:lpstr>
      <vt:lpstr>原本好好的模型 在放到新資料上後</vt:lpstr>
      <vt:lpstr>所以我</vt:lpstr>
      <vt:lpstr>所以我</vt:lpstr>
      <vt:lpstr>所以我</vt:lpstr>
      <vt:lpstr>所以我</vt:lpstr>
      <vt:lpstr>所以我</vt:lpstr>
      <vt:lpstr>所以我</vt:lpstr>
      <vt:lpstr>所以我</vt:lpstr>
      <vt:lpstr>所以我</vt:lpstr>
      <vt:lpstr>所以我</vt:lpstr>
      <vt:lpstr>CME資料放進去之後 目前的成果：</vt:lpstr>
      <vt:lpstr>TRAIN MLP</vt:lpstr>
      <vt:lpstr>TRAIN tcn</vt:lpstr>
      <vt:lpstr>Strategy &amp; Backtest</vt:lpstr>
      <vt:lpstr>程式上的做法</vt:lpstr>
      <vt:lpstr>regime</vt:lpstr>
      <vt:lpstr>PowerPoint Presentation</vt:lpstr>
      <vt:lpstr>轉成INT8</vt:lpstr>
      <vt:lpstr>HLS的部分</vt:lpstr>
      <vt:lpstr>下禮拜 預計要做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holb l</dc:creator>
  <cp:lastModifiedBy>holb l</cp:lastModifiedBy>
  <cp:revision>174</cp:revision>
  <dcterms:created xsi:type="dcterms:W3CDTF">2026-03-25T16:51:19Z</dcterms:created>
  <dcterms:modified xsi:type="dcterms:W3CDTF">2026-05-06T12:59:17Z</dcterms:modified>
</cp:coreProperties>
</file>