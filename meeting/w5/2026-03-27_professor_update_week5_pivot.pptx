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983480"/>
            <a:ext cx="5029200" cy="3200400"/>
          </a:xfrm>
          <a:prstGeom prst="roundRect">
            <a:avLst/>
          </a:prstGeom>
          <a:solidFill>
            <a:srgbClr val="00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-640080"/>
            <a:ext cx="4114800" cy="3291840"/>
          </a:xfrm>
          <a:prstGeom prst="roundRect">
            <a:avLst/>
          </a:prstGeom>
          <a:solidFill>
            <a:srgbClr val="E29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a:lang="zh-TW">
                <a:solidFill>
                  <a:srgbClr val="D8E0E3"/>
                </a:solidFill>
                <a:latin typeface="Microsoft JhengHei"/>
                <a:ea typeface="Microsoft JhengHei"/>
                <a:cs typeface="Microsoft JhengHei"/>
              </a:rPr>
              <a:t>TOMORROW BRIEFING  |  2026-03-27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772400" cy="11887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HFT Project 指導教授進度簡報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a:lang="zh-TW">
                <a:solidFill>
                  <a:srgbClr val="E0E8EB"/>
                </a:solidFill>
                <a:latin typeface="Microsoft JhengHei"/>
                <a:ea typeface="Microsoft JhengHei"/>
                <a:cs typeface="Microsoft JhengHei"/>
              </a:rPr>
              <a:t>Week 4-5 策略轉向、FPGA 價值證明與 Week 6 執行計畫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14600"/>
            <a:ext cx="6949440" cy="10972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a:lang="zh-TW">
                <a:solidFill>
                  <a:srgbClr val="F0F5F6"/>
                </a:solidFill>
                <a:latin typeface="Microsoft JhengHei"/>
                <a:ea typeface="Microsoft JhengHei"/>
                <a:cs typeface="Microsoft JhengHei"/>
              </a:rPr>
              <a:t>主線訊息：我們不是臨時改方向，而是把專案從「預測準確率競賽」重新拉回最能量化展示 FPGA 低延遲價值的策略路徑。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4937760"/>
            <a:ext cx="15087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46904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Pipeline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937760"/>
            <a:ext cx="1417320" cy="384048"/>
          </a:xfrm>
          <a:prstGeom prst="roundRect">
            <a:avLst/>
          </a:prstGeom>
          <a:solidFill>
            <a:srgbClr val="47A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946904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Model Frozen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937760"/>
            <a:ext cx="1508760" cy="384048"/>
          </a:xfrm>
          <a:prstGeom prst="roundRect">
            <a:avLst/>
          </a:prstGeom>
          <a:solidFill>
            <a:srgbClr val="E29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4946904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Latency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097280"/>
            <a:ext cx="3611880" cy="4434840"/>
          </a:xfrm>
          <a:prstGeom prst="roundRect">
            <a:avLst/>
          </a:prstGeom>
          <a:solidFill>
            <a:srgbClr val="132D3F"/>
          </a:solidFill>
          <a:ln w="15875">
            <a:solidFill>
              <a:srgbClr val="4E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17320"/>
            <a:ext cx="2926080" cy="320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明天簡報的三件事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47088"/>
            <a:ext cx="2816352" cy="67665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a:lang="zh-TW">
                <a:solidFill>
                  <a:srgbClr val="E2EAED"/>
                </a:solidFill>
                <a:latin typeface="Microsoft JhengHei"/>
                <a:ea typeface="Microsoft JhengHei"/>
                <a:cs typeface="Microsoft JhengHei"/>
              </a:rPr>
              <a:t>1. Week 4-5 已完成端到端資料、模型與事件回測管線。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79776"/>
            <a:ext cx="2816352" cy="67665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a:lang="zh-TW">
                <a:solidFill>
                  <a:srgbClr val="E2EAED"/>
                </a:solidFill>
                <a:latin typeface="Microsoft JhengHei"/>
                <a:ea typeface="Microsoft JhengHei"/>
                <a:cs typeface="Microsoft JhengHei"/>
              </a:rPr>
              <a:t>2. 證明真正有價值的不是更保守的預測，而是更快的撤單。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712464"/>
            <a:ext cx="2816352" cy="67665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a:lang="zh-TW">
                <a:solidFill>
                  <a:srgbClr val="E2EAED"/>
                </a:solidFill>
                <a:latin typeface="Microsoft JhengHei"/>
                <a:ea typeface="Microsoft JhengHei"/>
                <a:cs typeface="Microsoft JhengHei"/>
              </a:rPr>
              <a:t>3. Week 6 進入 CME 擴充、C++ 推論與 HLS handoff 準備。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DCE4E7"/>
                </a:solidFill>
                <a:latin typeface="Microsoft JhengHei"/>
                <a:ea typeface="Microsoft JhengHei"/>
                <a:cs typeface="Microsoft JhengHei"/>
              </a:rPr>
              <a:t>Sources: meeting/w5_meeting_outline.md, schedule.md, guide.md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Workflow 對齊：這次 pivot 是把主線拉回「可證明 FPGA 價值」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對照 schedule.md 的雙軌 workflow，明天簡報聚焦 Hybrid MM / latency-sensitive 這一支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783080" cy="804672"/>
          </a:xfrm>
          <a:prstGeom prst="roundRect">
            <a:avLst/>
          </a:prstGeom>
          <a:solidFill>
            <a:srgbClr val="E5F5F4"/>
          </a:solidFill>
          <a:ln w="15875">
            <a:solidFill>
              <a:srgbClr val="CE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W1-4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特徵工程 + TCN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728216"/>
            <a:ext cx="338328" cy="0"/>
          </a:xfrm>
          <a:prstGeom prst="line">
            <a:avLst/>
          </a:prstGeom>
          <a:ln w="3302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61488" y="1325880"/>
            <a:ext cx="1783080" cy="804672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E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144475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W5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Pivot to Hybrid MM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8" y="1728216"/>
            <a:ext cx="338328" cy="0"/>
          </a:xfrm>
          <a:prstGeom prst="line">
            <a:avLst/>
          </a:prstGeom>
          <a:ln w="3302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82896" y="1325880"/>
            <a:ext cx="1783080" cy="804672"/>
          </a:xfrm>
          <a:prstGeom prst="roundRect">
            <a:avLst/>
          </a:prstGeom>
          <a:solidFill>
            <a:srgbClr val="E5F5F4"/>
          </a:solidFill>
          <a:ln w="15875">
            <a:solidFill>
              <a:srgbClr val="CE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144475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W6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校準與模型選型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65976" y="1728216"/>
            <a:ext cx="338328" cy="0"/>
          </a:xfrm>
          <a:prstGeom prst="line">
            <a:avLst/>
          </a:prstGeom>
          <a:ln w="3302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04304" y="1325880"/>
            <a:ext cx="1783080" cy="804672"/>
          </a:xfrm>
          <a:prstGeom prst="roundRect">
            <a:avLst/>
          </a:prstGeom>
          <a:solidFill>
            <a:srgbClr val="E5F4E9"/>
          </a:solidFill>
          <a:ln w="15875">
            <a:solidFill>
              <a:srgbClr val="CE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44475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W7-12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INT8 / C++ / HLS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87384" y="1728216"/>
            <a:ext cx="356616" cy="0"/>
          </a:xfrm>
          <a:prstGeom prst="line">
            <a:avLst/>
          </a:prstGeom>
          <a:ln w="3302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1325880"/>
            <a:ext cx="1783080" cy="804672"/>
          </a:xfrm>
          <a:prstGeom prst="roundRect">
            <a:avLst/>
          </a:prstGeom>
          <a:solidFill>
            <a:srgbClr val="E2EAEB"/>
          </a:solidFill>
          <a:ln w="15875">
            <a:solidFill>
              <a:srgbClr val="CED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444752"/>
            <a:ext cx="1572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W13-16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Simulator + FPGA value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514600"/>
            <a:ext cx="5440680" cy="2286000"/>
          </a:xfrm>
          <a:prstGeom prst="roundRect">
            <a:avLst/>
          </a:prstGeom>
          <a:solidFill>
            <a:srgbClr val="FB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743200"/>
            <a:ext cx="4892040" cy="320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Directional microstructure alpha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706624"/>
            <a:ext cx="1325880" cy="384048"/>
          </a:xfrm>
          <a:prstGeom prst="roundRect">
            <a:avLst/>
          </a:prstGeom>
          <a:solidFill>
            <a:srgbClr val="00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715768"/>
            <a:ext cx="13258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Reference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127248"/>
            <a:ext cx="4892040" cy="1371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目標：優化交易品質，讓現有 direction-aware baseline 靠近穩定正 PnL。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現況：schedule 中最接近 trading viability 的結果為 val-calibrated test net PnL = -3 ticks。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角色：保留為 reference baseline，後續用來比較共享 TCN 是否值得。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514600"/>
            <a:ext cx="5166360" cy="2286000"/>
          </a:xfrm>
          <a:prstGeom prst="roundRect">
            <a:avLst/>
          </a:prstGeom>
          <a:solidFill>
            <a:srgbClr val="FCFBF8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743200"/>
            <a:ext cx="4617720" cy="320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Hybrid MM / queue-reaction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706624"/>
            <a:ext cx="1234440" cy="384048"/>
          </a:xfrm>
          <a:prstGeom prst="roundRect">
            <a:avLst/>
          </a:prstGeom>
          <a:solidFill>
            <a:srgbClr val="E29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2715768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Meeting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27248"/>
            <a:ext cx="4617720" cy="1371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目標：把 TCN 用在 latency-sensitive 的 quote / cancel 決策。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現況：已形成 killer charts，可以直接展示『低延遲撤單』對存活的決定性影響。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角色：最能對齊 FPGA 展示價值，也是明天簡報的核心故事線。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166360"/>
            <a:ext cx="10881360" cy="841248"/>
          </a:xfrm>
          <a:prstGeom prst="roundRect">
            <a:avLst/>
          </a:prstGeom>
          <a:solidFill>
            <a:srgbClr val="FA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94960"/>
            <a:ext cx="10424160" cy="329184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B83931"/>
                </a:solidFill>
                <a:latin typeface="Microsoft JhengHei"/>
                <a:ea typeface="Microsoft JhengHei"/>
                <a:cs typeface="Microsoft JhengHei"/>
              </a:rPr>
              <a:t>結論：明天不是在報告「又換一個想法」，而是在報告我們已經找到最能把 FPGA 低延遲優勢量化出來的正確展示路徑。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Workflow reference: schedule.md (Updated Schedule, Week 4.11 to Week 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Week 4-5 里程碑：端到端管線已經完成，TCN 也已具備硬體移交條件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meeting/w5_meeting_outline.md 投影片 1 + guide.md 整體規劃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1645920" cy="841248"/>
          </a:xfrm>
          <a:prstGeom prst="roundRect">
            <a:avLst/>
          </a:prstGeom>
          <a:solidFill>
            <a:srgbClr val="E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INT8 權重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00200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4.8 KB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98448"/>
            <a:ext cx="1645920" cy="841248"/>
          </a:xfrm>
          <a:prstGeom prst="roundRect">
            <a:avLst/>
          </a:prstGeom>
          <a:solidFill>
            <a:srgbClr val="E5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389888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600200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12.5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98448"/>
            <a:ext cx="1645920" cy="841248"/>
          </a:xfrm>
          <a:prstGeom prst="roundRect">
            <a:avLst/>
          </a:prstGeom>
          <a:solidFill>
            <a:srgbClr val="FB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89888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FP32 參考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19.2 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59152"/>
            <a:ext cx="5349240" cy="333756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51760"/>
            <a:ext cx="4846320" cy="23774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已完成進度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資料處理管道、無因次特徵、TCN 建模與 event-driven backtester 已串成完整 workflow。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80" b="0" a:lang="zh-TW">
                <a:solidFill>
                  <a:srgbClr val="1F2833"/>
                </a:solidFill>
                <a:latin typeface="Consolas"/>
                <a:ea typeface="Consolas"/>
                <a:cs typeface="Consolas"/>
              </a:rPr>
              <a:t>• `frozen_tcn_best_model.pt` 已凍結，可作為硬體端 handoff 起點。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模型記憶體占用與 MAC 規模都夠小，硬體可行性已被量化證明。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 a:lang="zh-TW">
                <a:solidFill>
                  <a:srgbClr val="00706E"/>
                </a:solidFill>
                <a:latin typeface="Microsoft JhengHei"/>
                <a:ea typeface="Microsoft JhengHei"/>
                <a:cs typeface="Microsoft JhengHei"/>
              </a:rPr>
              <a:t>• 下一個真正的瓶頸不在模型大小，而在『哪一種策略最吃低延遲』。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298448"/>
            <a:ext cx="5239512" cy="452628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5_03_hardware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15643"/>
            <a:ext cx="4800600" cy="3600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Chart source: meeting/w5_chart/p5_03_hardware_footprint.png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死胡同：過度防禦的 Quote-off，把問題藏起來而不是解掉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meeting/w5_meeting_outline.md 投影片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6537960" cy="489204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_01b_latency_failed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56232"/>
            <a:ext cx="6217920" cy="37307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261872"/>
            <a:ext cx="4096512" cy="489204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572768"/>
            <a:ext cx="3657600" cy="31546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觀察重點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</a:pPr>
            <a:r>
              <a:rPr sz="1270" b="0" a:lang="zh-TW">
                <a:solidFill>
                  <a:srgbClr val="1F2833"/>
                </a:solidFill>
                <a:latin typeface="Consolas"/>
                <a:ea typeface="Consolas"/>
                <a:cs typeface="Consolas"/>
              </a:rPr>
              <a:t>• `delay=0` 時虧損 -9.0 ticks，但只做了 2 筆交易。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70" b="0" a:lang="zh-TW">
                <a:solidFill>
                  <a:srgbClr val="1F2833"/>
                </a:solidFill>
                <a:latin typeface="Consolas"/>
                <a:ea typeface="Consolas"/>
                <a:cs typeface="Consolas"/>
              </a:rPr>
              <a:t>• `delay=4` 時看似不虧，只是因為 0 trades，根本沒有真的參與市場。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4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問題不是 TCN 預測能力不夠，而是早期把 Quote-off 疊得太厚，直接把策略變成『不出手』。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340" b="1" a:lang="zh-TW">
                <a:solidFill>
                  <a:srgbClr val="B83931"/>
                </a:solidFill>
                <a:latin typeface="Microsoft JhengHei"/>
                <a:ea typeface="Microsoft JhengHei"/>
                <a:cs typeface="Microsoft JhengHei"/>
              </a:rPr>
              <a:t>• 這種設計無法體現硬體速度優勢，也無法回答 FPGA 值不值得。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4919472"/>
            <a:ext cx="3611880" cy="822960"/>
          </a:xfrm>
          <a:prstGeom prst="roundRect">
            <a:avLst/>
          </a:prstGeom>
          <a:solidFill>
            <a:srgbClr val="FA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5129784"/>
            <a:ext cx="3291840" cy="347472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a:lang="zh-TW">
                <a:solidFill>
                  <a:srgbClr val="B83931"/>
                </a:solidFill>
                <a:latin typeface="Microsoft JhengHei"/>
                <a:ea typeface="Microsoft JhengHei"/>
                <a:cs typeface="Microsoft JhengHei"/>
              </a:rPr>
              <a:t>如果機器人連單都不敢掛，FPGA 再快也沒有展示舞台。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Chart source: meeting/w5_chart/p5_01b_latency_failed_initial.png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第一性原理 Pivot：不再追求更神準的預言，而是讓撤單速度真正變值錢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meeting/w5_meeting_outline.md 投影片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10881360" cy="822960"/>
          </a:xfrm>
          <a:prstGeom prst="roundRect">
            <a:avLst/>
          </a:prstGeom>
          <a:solidFill>
            <a:srgbClr val="FB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424160" cy="31089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a:lang="zh-TW">
                <a:solidFill>
                  <a:srgbClr val="0F2130"/>
                </a:solidFill>
                <a:latin typeface="Consolas"/>
                <a:ea typeface="Consolas"/>
                <a:cs typeface="Consolas"/>
              </a:rPr>
              <a:t>Net PnL = Spread Capture - Adverse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2651760" cy="1920240"/>
          </a:xfrm>
          <a:prstGeom prst="roundRect">
            <a:avLst/>
          </a:prstGeom>
          <a:solidFill>
            <a:srgbClr val="E5F5F4"/>
          </a:solidFill>
          <a:ln w="15875">
            <a:solidFill>
              <a:srgbClr val="D9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633472"/>
            <a:ext cx="2359152" cy="138988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1. Dumb Quoting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先恢復常態雙邊掛單，讓策略有機會穩定吃 spread。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39" y="3383280"/>
            <a:ext cx="457200" cy="0"/>
          </a:xfrm>
          <a:prstGeom prst="line">
            <a:avLst/>
          </a:prstGeom>
          <a:ln w="3175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2423160"/>
            <a:ext cx="2651760" cy="1920240"/>
          </a:xfrm>
          <a:prstGeom prst="roundRect">
            <a:avLst/>
          </a:prstGeom>
          <a:solidFill>
            <a:srgbClr val="E5F4E9"/>
          </a:solidFill>
          <a:ln w="15875">
            <a:solidFill>
              <a:srgbClr val="D9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3944" y="2633472"/>
            <a:ext cx="2359152" cy="138988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2. TCN Toxicity Radar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把 TCN 角色改成盤面毒性偵測器，而不是方向神諭。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3383280"/>
            <a:ext cx="457200" cy="0"/>
          </a:xfrm>
          <a:prstGeom prst="line">
            <a:avLst/>
          </a:prstGeom>
          <a:ln w="31750">
            <a:solidFill>
              <a:srgbClr val="00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86600" y="2423160"/>
            <a:ext cx="2651760" cy="192024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D9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2633472"/>
            <a:ext cx="2359152" cy="138988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3. FPGA Smart Canceling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只要偵測到失衡，就把 latency 優勢用在極速撤單。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28032"/>
            <a:ext cx="10387584" cy="91440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02352"/>
            <a:ext cx="9875520" cy="31089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0706E"/>
                </a:solidFill>
                <a:latin typeface="Microsoft JhengHei"/>
                <a:ea typeface="Microsoft JhengHei"/>
                <a:cs typeface="Microsoft JhengHei"/>
              </a:rPr>
              <a:t>關鍵重構：重點不再是「猜方向多準」，而是「危險來時能不能比一般軟體更早把單撤掉」。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Storyline source: meeting/w5_meeting_outline.md (First Principles Pivot)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Killer Charts：同一套策略，只改 latency，PnL 與 adverse loss 立刻翻盤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meeting/w5_meeting_outline.md 投影片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43584"/>
            <a:ext cx="5394960" cy="384048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53912" y="1243584"/>
            <a:ext cx="5394960" cy="384048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_01_latency_expected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68780"/>
            <a:ext cx="5074920" cy="3044952"/>
          </a:xfrm>
          <a:prstGeom prst="rect">
            <a:avLst/>
          </a:prstGeom>
        </p:spPr>
      </p:pic>
      <p:pic>
        <p:nvPicPr>
          <p:cNvPr id="7" name="Picture 6" descr="p5_02_adverse_selectio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68780"/>
            <a:ext cx="5074920" cy="3044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285232"/>
            <a:ext cx="3383280" cy="822960"/>
          </a:xfrm>
          <a:prstGeom prst="roundRect">
            <a:avLst/>
          </a:prstGeom>
          <a:solidFill>
            <a:srgbClr val="E5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5285232"/>
            <a:ext cx="3474720" cy="822960"/>
          </a:xfrm>
          <a:prstGeom prst="roundRect">
            <a:avLst/>
          </a:prstGeom>
          <a:solidFill>
            <a:srgbClr val="FA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9831" y="5285232"/>
            <a:ext cx="3730752" cy="822960"/>
          </a:xfrm>
          <a:prstGeom prst="roundRect">
            <a:avLst/>
          </a:prstGeom>
          <a:solidFill>
            <a:srgbClr val="FB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3017520" cy="31089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a:lang="zh-TW">
                <a:solidFill>
                  <a:srgbClr val="47A054"/>
                </a:solidFill>
                <a:latin typeface="Consolas"/>
                <a:ea typeface="Consolas"/>
                <a:cs typeface="Consolas"/>
              </a:rPr>
              <a:t>PnL: +120.5 → +10.0 → -85.0 → -150.0 ticks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5504688"/>
            <a:ext cx="3108960" cy="310896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a:lang="zh-TW">
                <a:solidFill>
                  <a:srgbClr val="B83931"/>
                </a:solidFill>
                <a:latin typeface="Consolas"/>
                <a:ea typeface="Consolas"/>
                <a:cs typeface="Consolas"/>
              </a:rPr>
              <a:t>Loss: 5 → 45 → 110 → 180 ticks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5422392"/>
            <a:ext cx="338328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解讀：不是 alpha 消失，而是撤單慢一步就被毒性流量吃掉。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Chart sources: meeting/w5_chart/p5_01_latency_expected_pnl.png, meeting/w5_chart/p5_02_adverse_selection_loss.png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Week 6 執行計畫：把 killer story 往可交付的硬體與跨市場驗證推進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713232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a:lang="zh-TW">
                <a:solidFill>
                  <a:srgbClr val="65737E"/>
                </a:solidFill>
                <a:latin typeface="Microsoft JhengHei"/>
                <a:ea typeface="Microsoft JhengHei"/>
                <a:cs typeface="Microsoft JhengHei"/>
              </a:rPr>
              <a:t>對齊 schedule.md 的 Week 6 deliverable：model-selection memo + hardware-friendly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907792" cy="425196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07792" cy="566928"/>
          </a:xfrm>
          <a:prstGeom prst="roundRect">
            <a:avLst/>
          </a:prstGeom>
          <a:solidFill>
            <a:srgbClr val="E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Data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撰寫 CME parser，先接 ES / NQ / CL 歷史資料。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沿用無因次特徵工程，驗證跨市場泛化能力。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保留台指期結果，建立跨市場可比較基準。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1417320"/>
            <a:ext cx="2907792" cy="425196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87368" y="1417320"/>
            <a:ext cx="2907792" cy="566928"/>
          </a:xfrm>
          <a:prstGeom prst="roundRect">
            <a:avLst/>
          </a:prstGeom>
          <a:solidFill>
            <a:srgbClr val="E5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581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Software /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488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匯出 frozen TCN 權重，整理固定 feature ordering 與 tensor shape。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0632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開始建立 C++ inference skeleton，為後續 HLS 轉換鋪路。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977639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明確定義低延遲 cancel path 的 I/O 介面。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8" y="1417320"/>
            <a:ext cx="2907792" cy="4251960"/>
          </a:xfrm>
          <a:prstGeom prst="roundRect">
            <a:avLst/>
          </a:prstGeom>
          <a:solidFill>
            <a:srgbClr val="FCFCFC"/>
          </a:solidFill>
          <a:ln w="15875"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16368" y="1417320"/>
            <a:ext cx="2907792" cy="566928"/>
          </a:xfrm>
          <a:prstGeom prst="roundRect">
            <a:avLst/>
          </a:prstGeom>
          <a:solidFill>
            <a:srgbClr val="FB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1581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a:lang="zh-TW">
                <a:solidFill>
                  <a:srgbClr val="0F2130"/>
                </a:solidFill>
                <a:latin typeface="Microsoft JhengHei"/>
                <a:ea typeface="Microsoft JhengHei"/>
                <a:cs typeface="Microsoft JhengHei"/>
              </a:rPr>
              <a:t>Selection /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488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比較 trading quality、turnover、latency sensitivity、hardware friendliness。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63240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判斷要共用一顆 TCN，還是 directional / MM 分流兩顆模型。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977639"/>
            <a:ext cx="2578608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a:lang="zh-TW">
                <a:solidFill>
                  <a:srgbClr val="1F2833"/>
                </a:solidFill>
                <a:latin typeface="Microsoft JhengHei"/>
                <a:ea typeface="Microsoft JhengHei"/>
                <a:cs typeface="Microsoft JhengHei"/>
              </a:rPr>
              <a:t>• 整理 Week 6 model-selection memo，作為下次會議交付。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97880"/>
            <a:ext cx="10881360" cy="566928"/>
          </a:xfrm>
          <a:prstGeom prst="roundRect">
            <a:avLst/>
          </a:prstGeom>
          <a:solidFill>
            <a:srgbClr val="0F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053328"/>
            <a:ext cx="10469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a:lang="zh-TW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下次會議希望帶來：CME 資料接收器初版 + C++ TCN 推論骨架 + model-selection memo。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10972800" cy="201168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a:lang="zh-TW">
                <a:solidFill>
                  <a:srgbClr val="DCE4E7"/>
                </a:solidFill>
                <a:latin typeface="Microsoft JhengHei"/>
                <a:ea typeface="Microsoft JhengHei"/>
                <a:cs typeface="Microsoft JhengHei"/>
              </a:rPr>
              <a:t>Execution plan references: schedule.md Week 6, guide.md, meeting/w5_meeting_outline.md 投影片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HFT Project 指導教授進度簡報</dc:title>
  <dc:subject>Week 4-5 策略轉向與 Week 6 計畫</dc:subject>
  <dc:creator>Codex</dc:creator>
  <cp:keywords>HFT, FPGA, TCN, Hybrid MM, Professor Meeting</cp:keywords>
  <dc:description>Generated from meeting materials and workflow documents.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