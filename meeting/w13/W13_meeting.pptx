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36" r:id="rId3"/>
    <p:sldId id="337" r:id="rId4"/>
    <p:sldId id="335" r:id="rId5"/>
    <p:sldId id="338" r:id="rId6"/>
    <p:sldId id="339" r:id="rId7"/>
    <p:sldId id="341" r:id="rId8"/>
    <p:sldId id="340" r:id="rId9"/>
    <p:sldId id="342" r:id="rId10"/>
    <p:sldId id="343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8" autoAdjust="0"/>
    <p:restoredTop sz="74111" autoAdjust="0"/>
  </p:normalViewPr>
  <p:slideViewPr>
    <p:cSldViewPr snapToGrid="0">
      <p:cViewPr varScale="1">
        <p:scale>
          <a:sx n="47" d="100"/>
          <a:sy n="47" d="100"/>
        </p:scale>
        <p:origin x="42" y="4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21FB-F730-E260-6530-C14C0E60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CB57F-5DCF-69BA-21B0-676493DF4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4A0C6-F9E6-1BE2-7312-6C734C4D0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這裡用的資料集？直接列那個有</a:t>
            </a:r>
            <a:r>
              <a:rPr lang="en-US" altLang="zh-TW" dirty="0"/>
              <a:t>32</a:t>
            </a:r>
            <a:r>
              <a:rPr lang="zh-TW" altLang="en-US" dirty="0"/>
              <a:t>項的總表？簡報的下一步，</a:t>
            </a:r>
            <a:r>
              <a:rPr lang="en-US" altLang="zh-TW" dirty="0" err="1"/>
              <a:t>bid_toxic</a:t>
            </a:r>
            <a:r>
              <a:rPr lang="zh-TW" altLang="en-US" dirty="0"/>
              <a:t>跟</a:t>
            </a:r>
            <a:r>
              <a:rPr lang="en-US" altLang="zh-TW" dirty="0" err="1"/>
              <a:t>ask_toxic</a:t>
            </a:r>
            <a:r>
              <a:rPr lang="en-US" altLang="zh-TW" dirty="0"/>
              <a:t> label</a:t>
            </a:r>
            <a:r>
              <a:rPr lang="zh-TW" altLang="en-US" dirty="0"/>
              <a:t>不是都在一開始的</a:t>
            </a:r>
            <a:r>
              <a:rPr lang="en-US" altLang="zh-TW" dirty="0"/>
              <a:t>Model</a:t>
            </a:r>
            <a:r>
              <a:rPr lang="zh-TW" altLang="en-US" dirty="0"/>
              <a:t>驗證說不行了嗎？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A4F1A-C7F3-1A87-D9CA-3D5D7C32C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787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7E7E-EEDC-650A-B35C-90B53010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51392-8AE9-DA7F-3FAD-387DF388D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2A46-1A51-A5EA-883A-D48E8BD86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81C84-3116-D09F-F19A-3BD367DE2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6946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到底是怎麼樣拉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518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7401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加入</a:t>
            </a:r>
            <a:r>
              <a:rPr lang="en-US" altLang="zh-TW" dirty="0"/>
              <a:t>regime</a:t>
            </a:r>
            <a:r>
              <a:rPr lang="zh-TW" altLang="en-US" dirty="0"/>
              <a:t>，因為發現這個模型不是每個市場都可以交易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2269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05/21/2026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 </a:t>
            </a:r>
            <a:r>
              <a:rPr lang="en-US" altLang="zh-TW" dirty="0"/>
              <a:t>W13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D18E5-E259-2715-57F1-F1694988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292A5D-73B8-4675-8E32-725F82587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E42BF-9F3E-1DAF-8981-B1F16DA38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1.1 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試模型：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label * #feature</a:t>
            </a:r>
            <a:endParaRPr lang="LID40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090741-A59B-469D-B35F-12BB7714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5095" y="2743573"/>
            <a:ext cx="1008958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AFBDFBD-17E3-463E-9655-159AA80F0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565" y="2906962"/>
            <a:ext cx="9756648" cy="2670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685393-9272-6ECB-44D2-104A8E5EE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928632"/>
              </p:ext>
            </p:extLst>
          </p:nvPr>
        </p:nvGraphicFramePr>
        <p:xfrm>
          <a:off x="1201565" y="2906962"/>
          <a:ext cx="9756648" cy="2670052"/>
        </p:xfrm>
        <a:graphic>
          <a:graphicData uri="http://schemas.openxmlformats.org/drawingml/2006/table">
            <a:tbl>
              <a:tblPr firstRow="1" bandRow="1"/>
              <a:tblGrid>
                <a:gridCol w="2862763">
                  <a:extLst>
                    <a:ext uri="{9D8B030D-6E8A-4147-A177-3AD203B41FA5}">
                      <a16:colId xmlns:a16="http://schemas.microsoft.com/office/drawing/2014/main" val="1513265533"/>
                    </a:ext>
                  </a:extLst>
                </a:gridCol>
                <a:gridCol w="2408930">
                  <a:extLst>
                    <a:ext uri="{9D8B030D-6E8A-4147-A177-3AD203B41FA5}">
                      <a16:colId xmlns:a16="http://schemas.microsoft.com/office/drawing/2014/main" val="546145745"/>
                    </a:ext>
                  </a:extLst>
                </a:gridCol>
                <a:gridCol w="1133171">
                  <a:extLst>
                    <a:ext uri="{9D8B030D-6E8A-4147-A177-3AD203B41FA5}">
                      <a16:colId xmlns:a16="http://schemas.microsoft.com/office/drawing/2014/main" val="2202204867"/>
                    </a:ext>
                  </a:extLst>
                </a:gridCol>
                <a:gridCol w="1564002">
                  <a:extLst>
                    <a:ext uri="{9D8B030D-6E8A-4147-A177-3AD203B41FA5}">
                      <a16:colId xmlns:a16="http://schemas.microsoft.com/office/drawing/2014/main" val="1359399713"/>
                    </a:ext>
                  </a:extLst>
                </a:gridCol>
                <a:gridCol w="1787782">
                  <a:extLst>
                    <a:ext uri="{9D8B030D-6E8A-4147-A177-3AD203B41FA5}">
                      <a16:colId xmlns:a16="http://schemas.microsoft.com/office/drawing/2014/main" val="3725041512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Label Type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定義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Val Loss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Test Macro F1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PnL Improvement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654517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adverse_ask_fill_binary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被動 ask 成交後 adverse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0.123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23551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adverse_bid_fill_binary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被動 bid 成交後 adverse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0.224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657669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active_buy_profitable_binary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主動買進後獲利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0.590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0.554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-11,796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827845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active_sell_profitable_binary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主動賣出後獲利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0.559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0.547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-10,381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81803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toxic_bid_binary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bid 成交後 toxic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0.697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0.499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639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toxic_ask_binary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ask 成交後 toxic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0.690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0.502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-685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911499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mid_move_3class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mid-price 三分類（raw）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1.007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0.296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+15,966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57476"/>
                  </a:ext>
                </a:extLst>
              </a:tr>
              <a:tr h="256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smoothed_mid_move_3class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mid-price 三分類（smoothed）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1.013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0.298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+17,979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4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80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21F24-870E-040C-4CCF-80D5D63D0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69748E-0AC2-52AB-8B77-DDC4E8D09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BFFF6-B162-C400-E4A5-F89EC04F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試模型：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label * #feature</a:t>
            </a:r>
            <a:endParaRPr lang="LID409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02692-B119-556D-F12A-4EAB4C70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5095" y="2743573"/>
            <a:ext cx="10089588" cy="2996827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31167F-DB74-682E-25DB-B15DCE95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565" y="2906962"/>
            <a:ext cx="9756648" cy="2670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D0E9CB-744E-4AC7-9C9F-E892A97040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1565" y="2906962"/>
          <a:ext cx="9756648" cy="2670052"/>
        </p:xfrm>
        <a:graphic>
          <a:graphicData uri="http://schemas.openxmlformats.org/drawingml/2006/table">
            <a:tbl>
              <a:tblPr firstRow="1" bandRow="1"/>
              <a:tblGrid>
                <a:gridCol w="2862763">
                  <a:extLst>
                    <a:ext uri="{9D8B030D-6E8A-4147-A177-3AD203B41FA5}">
                      <a16:colId xmlns:a16="http://schemas.microsoft.com/office/drawing/2014/main" val="1513265533"/>
                    </a:ext>
                  </a:extLst>
                </a:gridCol>
                <a:gridCol w="2408930">
                  <a:extLst>
                    <a:ext uri="{9D8B030D-6E8A-4147-A177-3AD203B41FA5}">
                      <a16:colId xmlns:a16="http://schemas.microsoft.com/office/drawing/2014/main" val="546145745"/>
                    </a:ext>
                  </a:extLst>
                </a:gridCol>
                <a:gridCol w="1133171">
                  <a:extLst>
                    <a:ext uri="{9D8B030D-6E8A-4147-A177-3AD203B41FA5}">
                      <a16:colId xmlns:a16="http://schemas.microsoft.com/office/drawing/2014/main" val="2202204867"/>
                    </a:ext>
                  </a:extLst>
                </a:gridCol>
                <a:gridCol w="1564002">
                  <a:extLst>
                    <a:ext uri="{9D8B030D-6E8A-4147-A177-3AD203B41FA5}">
                      <a16:colId xmlns:a16="http://schemas.microsoft.com/office/drawing/2014/main" val="1359399713"/>
                    </a:ext>
                  </a:extLst>
                </a:gridCol>
                <a:gridCol w="1787782">
                  <a:extLst>
                    <a:ext uri="{9D8B030D-6E8A-4147-A177-3AD203B41FA5}">
                      <a16:colId xmlns:a16="http://schemas.microsoft.com/office/drawing/2014/main" val="3725041512"/>
                    </a:ext>
                  </a:extLst>
                </a:gridCol>
              </a:tblGrid>
              <a:tr h="301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Label Type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定義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Val Loss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Test Macro F1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平均 PnL Improvement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654517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adverse_ask_fill_binary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被動 ask 成交後 adverse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0.123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23551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adverse_bid_fill_binary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被動 bid 成交後 adverse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0.224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657669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active_buy_profitable_binary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主動買進後獲利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0.590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0.554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-11,796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827845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active_sell_profitable_binary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主動賣出後獲利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0.559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0.547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-10,381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818034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toxic_bid_binary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bid 成交後 toxic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0.697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0.499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63966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toxic_ask_binary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ask 成交後 toxic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0.690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0.502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-685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911499"/>
                  </a:ext>
                </a:extLst>
              </a:tr>
              <a:tr h="301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mid_move_3class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mid-price 三分類（raw）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1.007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0.296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+15,966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57476"/>
                  </a:ext>
                </a:extLst>
              </a:tr>
              <a:tr h="256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smoothed_mid_move_3class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mid-price 三分類（smoothed）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1.013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0.298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11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+17,979</a:t>
                      </a:r>
                    </a:p>
                  </a:txBody>
                  <a:tcPr marL="23398" marR="23398" marT="11700" marB="11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4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7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0B9C85-5947-A187-59DF-70D57E22CEC1}"/>
              </a:ext>
            </a:extLst>
          </p:cNvPr>
          <p:cNvSpPr txBox="1"/>
          <p:nvPr/>
        </p:nvSpPr>
        <p:spPr>
          <a:xfrm>
            <a:off x="346587" y="339212"/>
            <a:ext cx="553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 &amp; Split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DD15B-B4B1-AD1F-94C3-270ED8673039}"/>
              </a:ext>
            </a:extLst>
          </p:cNvPr>
          <p:cNvSpPr txBox="1"/>
          <p:nvPr/>
        </p:nvSpPr>
        <p:spPr>
          <a:xfrm>
            <a:off x="7180007" y="383767"/>
            <a:ext cx="553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A4659-BC54-E53A-FC19-756151CA8667}"/>
              </a:ext>
            </a:extLst>
          </p:cNvPr>
          <p:cNvSpPr txBox="1"/>
          <p:nvPr/>
        </p:nvSpPr>
        <p:spPr>
          <a:xfrm>
            <a:off x="245807" y="3429000"/>
            <a:ext cx="553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 / label / layer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583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4011-FA72-8903-FA42-E55D101C7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summary</a:t>
            </a:r>
            <a:endParaRPr lang="LID4096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4F2C483-7A8A-7D2E-EBA2-36BEEF971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150193"/>
              </p:ext>
            </p:extLst>
          </p:nvPr>
        </p:nvGraphicFramePr>
        <p:xfrm>
          <a:off x="2230438" y="2638425"/>
          <a:ext cx="7729730" cy="379722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545946">
                  <a:extLst>
                    <a:ext uri="{9D8B030D-6E8A-4147-A177-3AD203B41FA5}">
                      <a16:colId xmlns:a16="http://schemas.microsoft.com/office/drawing/2014/main" val="3142024594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3446079780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297236096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3232068530"/>
                    </a:ext>
                  </a:extLst>
                </a:gridCol>
                <a:gridCol w="1545946">
                  <a:extLst>
                    <a:ext uri="{9D8B030D-6E8A-4147-A177-3AD203B41FA5}">
                      <a16:colId xmlns:a16="http://schemas.microsoft.com/office/drawing/2014/main" val="3863855212"/>
                    </a:ext>
                  </a:extLst>
                </a:gridCol>
              </a:tblGrid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precision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recall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f1-score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support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1019934"/>
                  </a:ext>
                </a:extLst>
              </a:tr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Down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0.028295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0.694062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0.054374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2762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71657407"/>
                  </a:ext>
                </a:extLst>
              </a:tr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 dirty="0">
                          <a:effectLst/>
                        </a:rPr>
                        <a:t>Stationary</a:t>
                      </a:r>
                      <a:endParaRPr lang="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0.986898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0.451871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0.619906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227711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74127668"/>
                  </a:ext>
                </a:extLst>
              </a:tr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Up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0.029287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0.64186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0.056018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2795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29665277"/>
                  </a:ext>
                </a:extLst>
              </a:tr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accuracy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0.457015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0.457015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0.457015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0.457015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61884397"/>
                  </a:ext>
                </a:extLst>
              </a:tr>
              <a:tr h="4819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macro avg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0.34816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0.595931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0.243432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233268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51699527"/>
                  </a:ext>
                </a:extLst>
              </a:tr>
              <a:tr h="905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weighted avg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0.964074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0.457015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>
                          <a:effectLst/>
                        </a:rPr>
                        <a:t>0.606453</a:t>
                      </a:r>
                      <a:endParaRPr lang="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" sz="2400" b="1" u="none" strike="noStrike" dirty="0">
                          <a:effectLst/>
                        </a:rPr>
                        <a:t>233268</a:t>
                      </a:r>
                      <a:endParaRPr lang="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9568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6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1B56-503C-FB34-C85F-085FE829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&amp; confusion matrix</a:t>
            </a:r>
            <a:endParaRPr lang="LID4096" dirty="0"/>
          </a:p>
        </p:txBody>
      </p:sp>
      <p:pic>
        <p:nvPicPr>
          <p:cNvPr id="5" name="Content Placeholder 4" descr="The image is a confusion matrix showing the performance metrics of a binary classification model, with the number of instances classified correctly and incorrectly in both 'Down' and 'Up' categories, along with their respective accuracies and balanced accuracies.&#10;&#10;AI-generated content may be incorrect.">
            <a:extLst>
              <a:ext uri="{FF2B5EF4-FFF2-40B4-BE49-F238E27FC236}">
                <a16:creationId xmlns:a16="http://schemas.microsoft.com/office/drawing/2014/main" id="{6DB3CB4A-D3A2-3E63-EDE2-D0A180E7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208" y="2364425"/>
            <a:ext cx="5096636" cy="4368546"/>
          </a:xfrm>
        </p:spPr>
      </p:pic>
      <p:pic>
        <p:nvPicPr>
          <p:cNvPr id="7" name="Picture 6" descr="The diagram illustrates a precision-recall curve for a 3-class diagnostic test (Down, Up, No Change) with a focus on the threshold values, showing the relationship between precision, recall, and F1 score for a set of signal counts.&#10;&#10;AI-generated content may be incorrect.">
            <a:extLst>
              <a:ext uri="{FF2B5EF4-FFF2-40B4-BE49-F238E27FC236}">
                <a16:creationId xmlns:a16="http://schemas.microsoft.com/office/drawing/2014/main" id="{80A78B69-E294-F214-BF5F-C06699E8C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13" y="2406637"/>
            <a:ext cx="5604038" cy="43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7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667C-CD4C-EA3B-FE84-79F65624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Back test strategy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408A5-86C9-EDAD-E25D-3A7B23788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614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7832-505C-680B-5B2F-B82AEB70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Regime added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8253B-895A-ED7F-D55F-9CB571CF0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Reason</a:t>
            </a:r>
          </a:p>
          <a:p>
            <a:r>
              <a:rPr lang="en-US" dirty="0"/>
              <a:t>How we did it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72833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4B81-B70D-A287-1C64-D60A0363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New result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32EE-76A6-3760-7008-6E76CE8B7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9102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8AF7-F86E-4804-6CF7-880A717B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Next week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6536-F97B-158D-C037-C25C12F4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87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7852</TotalTime>
  <Words>424</Words>
  <Application>Microsoft Office PowerPoint</Application>
  <PresentationFormat>Widescreen</PresentationFormat>
  <Paragraphs>148</Paragraphs>
  <Slides>11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Narrow</vt:lpstr>
      <vt:lpstr>Arial</vt:lpstr>
      <vt:lpstr>Gill Sans MT</vt:lpstr>
      <vt:lpstr>Parcel</vt:lpstr>
      <vt:lpstr>Meeting 簡報 W13</vt:lpstr>
      <vt:lpstr>1.1 試模型：label * #feature</vt:lpstr>
      <vt:lpstr>1. 試模型：label * #feature</vt:lpstr>
      <vt:lpstr>PowerPoint Presentation</vt:lpstr>
      <vt:lpstr>Classification summary</vt:lpstr>
      <vt:lpstr>Loss &amp; confusion matrix</vt:lpstr>
      <vt:lpstr>3. Back test strategy</vt:lpstr>
      <vt:lpstr>4. Regime added</vt:lpstr>
      <vt:lpstr>5. New result</vt:lpstr>
      <vt:lpstr>6. 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411</cp:revision>
  <dcterms:created xsi:type="dcterms:W3CDTF">2026-03-25T16:51:19Z</dcterms:created>
  <dcterms:modified xsi:type="dcterms:W3CDTF">2026-05-21T03:56:18Z</dcterms:modified>
</cp:coreProperties>
</file>